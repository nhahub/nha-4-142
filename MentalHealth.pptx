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9753600" cy="7315200"/>
  <p:notesSz cx="6858000" cy="9144000"/>
  <p:embeddedFontLst>
    <p:embeddedFont>
      <p:font typeface="Red Hat Display Bold" charset="1" panose="02010803040201060303"/>
      <p:regular r:id="rId16"/>
    </p:embeddedFont>
    <p:embeddedFont>
      <p:font typeface="Lato Italics" charset="1" panose="020F0502020204030203"/>
      <p:regular r:id="rId17"/>
    </p:embeddedFont>
    <p:embeddedFont>
      <p:font typeface="Lato" charset="1" panose="020F0502020204030203"/>
      <p:regular r:id="rId18"/>
    </p:embeddedFont>
    <p:embeddedFont>
      <p:font typeface="Lato Bold" charset="1" panose="020F0502020204030203"/>
      <p:regular r:id="rId19"/>
    </p:embeddedFont>
    <p:embeddedFont>
      <p:font typeface="XM Vahid Bold" charset="1" panose="02000803090000020004"/>
      <p:regular r:id="rId20"/>
    </p:embeddedFont>
    <p:embeddedFont>
      <p:font typeface="Droid Arabic Kufi" charset="1" panose="020B0606030804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2077922" y="5650153"/>
            <a:ext cx="4155845" cy="2077922"/>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4" id="4"/>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5" id="5"/>
          <p:cNvSpPr/>
          <p:nvPr/>
        </p:nvSpPr>
        <p:spPr>
          <a:xfrm flipH="false" flipV="false" rot="-1919596">
            <a:off x="6040783" y="6495803"/>
            <a:ext cx="6227316" cy="2038031"/>
          </a:xfrm>
          <a:custGeom>
            <a:avLst/>
            <a:gdLst/>
            <a:ahLst/>
            <a:cxnLst/>
            <a:rect r="r" b="b" t="t" l="l"/>
            <a:pathLst>
              <a:path h="2038031" w="6227316">
                <a:moveTo>
                  <a:pt x="0" y="0"/>
                </a:moveTo>
                <a:lnTo>
                  <a:pt x="6227315" y="0"/>
                </a:lnTo>
                <a:lnTo>
                  <a:pt x="6227315" y="2038031"/>
                </a:lnTo>
                <a:lnTo>
                  <a:pt x="0" y="20380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descr="Mental Health &amp; Lifestyle Analysis"/>
          <p:cNvSpPr txBox="true"/>
          <p:nvPr/>
        </p:nvSpPr>
        <p:spPr>
          <a:xfrm rot="0">
            <a:off x="258102" y="424950"/>
            <a:ext cx="7849443" cy="1279744"/>
          </a:xfrm>
          <a:prstGeom prst="rect">
            <a:avLst/>
          </a:prstGeom>
        </p:spPr>
        <p:txBody>
          <a:bodyPr anchor="t" rtlCol="false" tIns="0" lIns="0" bIns="0" rIns="0">
            <a:spAutoFit/>
          </a:bodyPr>
          <a:lstStyle/>
          <a:p>
            <a:pPr algn="l">
              <a:lnSpc>
                <a:spcPts val="4945"/>
              </a:lnSpc>
            </a:pPr>
            <a:r>
              <a:rPr lang="en-US" b="true" sz="4945">
                <a:solidFill>
                  <a:srgbClr val="FEFEFE"/>
                </a:solidFill>
                <a:latin typeface="Red Hat Display Bold"/>
                <a:ea typeface="Red Hat Display Bold"/>
                <a:cs typeface="Red Hat Display Bold"/>
                <a:sym typeface="Red Hat Display Bold"/>
              </a:rPr>
              <a:t>M</a:t>
            </a:r>
            <a:r>
              <a:rPr lang="en-US" b="true" sz="4945">
                <a:solidFill>
                  <a:srgbClr val="FEFEFE"/>
                </a:solidFill>
                <a:latin typeface="Red Hat Display Bold"/>
                <a:ea typeface="Red Hat Display Bold"/>
                <a:cs typeface="Red Hat Display Bold"/>
                <a:sym typeface="Red Hat Display Bold"/>
              </a:rPr>
              <a:t>ENTAL HEALTH &amp; LIFESTYLE ANALYSIS</a:t>
            </a:r>
          </a:p>
        </p:txBody>
      </p:sp>
      <p:sp>
        <p:nvSpPr>
          <p:cNvPr name="TextBox 7" id="7"/>
          <p:cNvSpPr txBox="true"/>
          <p:nvPr/>
        </p:nvSpPr>
        <p:spPr>
          <a:xfrm rot="0">
            <a:off x="393091" y="2229881"/>
            <a:ext cx="4898816" cy="361950"/>
          </a:xfrm>
          <a:prstGeom prst="rect">
            <a:avLst/>
          </a:prstGeom>
        </p:spPr>
        <p:txBody>
          <a:bodyPr anchor="t" rtlCol="false" tIns="0" lIns="0" bIns="0" rIns="0">
            <a:spAutoFit/>
          </a:bodyPr>
          <a:lstStyle/>
          <a:p>
            <a:pPr algn="l">
              <a:lnSpc>
                <a:spcPts val="2880"/>
              </a:lnSpc>
            </a:pPr>
            <a:r>
              <a:rPr lang="en-US" sz="2400" i="true">
                <a:solidFill>
                  <a:srgbClr val="CC78FF"/>
                </a:solidFill>
                <a:latin typeface="Lato Italics"/>
                <a:ea typeface="Lato Italics"/>
                <a:cs typeface="Lato Italics"/>
                <a:sym typeface="Lato Italics"/>
              </a:rPr>
              <a:t>Data Analytics Project</a:t>
            </a:r>
          </a:p>
        </p:txBody>
      </p:sp>
      <p:sp>
        <p:nvSpPr>
          <p:cNvPr name="TextBox 8" id="8"/>
          <p:cNvSpPr txBox="true"/>
          <p:nvPr/>
        </p:nvSpPr>
        <p:spPr>
          <a:xfrm rot="0">
            <a:off x="892963" y="3897416"/>
            <a:ext cx="5400842" cy="1887766"/>
          </a:xfrm>
          <a:prstGeom prst="rect">
            <a:avLst/>
          </a:prstGeom>
        </p:spPr>
        <p:txBody>
          <a:bodyPr anchor="t" rtlCol="false" tIns="0" lIns="0" bIns="0" rIns="0">
            <a:spAutoFit/>
          </a:bodyPr>
          <a:lstStyle/>
          <a:p>
            <a:pPr algn="l">
              <a:lnSpc>
                <a:spcPts val="2524"/>
              </a:lnSpc>
              <a:spcBef>
                <a:spcPct val="0"/>
              </a:spcBef>
            </a:pPr>
            <a:r>
              <a:rPr lang="en-US" sz="1803">
                <a:solidFill>
                  <a:srgbClr val="FEFEFE"/>
                </a:solidFill>
                <a:latin typeface="Lato"/>
                <a:ea typeface="Lato"/>
                <a:cs typeface="Lato"/>
                <a:sym typeface="Lato"/>
              </a:rPr>
              <a:t>Maryam Ahmed Mohamed Ibrahim                                                                                   Mayar Abdelrasoul Mahmoud                                                                                                                               Hana Mohamed Mahmoud Elgawish                                                                                                                 Rawan Mousa Alwani Mohamed                                                                                                                Malak Ahmed Helmy Ibrahim                                                                                                                         Malak Ibrahim abdo</a:t>
            </a:r>
          </a:p>
        </p:txBody>
      </p:sp>
      <p:sp>
        <p:nvSpPr>
          <p:cNvPr name="TextBox 9" id="9"/>
          <p:cNvSpPr txBox="true"/>
          <p:nvPr/>
        </p:nvSpPr>
        <p:spPr>
          <a:xfrm rot="0">
            <a:off x="731520" y="3295650"/>
            <a:ext cx="4898816" cy="361950"/>
          </a:xfrm>
          <a:prstGeom prst="rect">
            <a:avLst/>
          </a:prstGeom>
        </p:spPr>
        <p:txBody>
          <a:bodyPr anchor="t" rtlCol="false" tIns="0" lIns="0" bIns="0" rIns="0">
            <a:spAutoFit/>
          </a:bodyPr>
          <a:lstStyle/>
          <a:p>
            <a:pPr algn="l">
              <a:lnSpc>
                <a:spcPts val="2880"/>
              </a:lnSpc>
            </a:pPr>
            <a:r>
              <a:rPr lang="en-US" sz="2400" i="true">
                <a:solidFill>
                  <a:srgbClr val="CC78FF"/>
                </a:solidFill>
                <a:latin typeface="Lato Italics"/>
                <a:ea typeface="Lato Italics"/>
                <a:cs typeface="Lato Italics"/>
                <a:sym typeface="Lato Italics"/>
              </a:rPr>
              <a:t>Prep</a:t>
            </a:r>
            <a:r>
              <a:rPr lang="en-US" sz="2400" i="true">
                <a:solidFill>
                  <a:srgbClr val="CC78FF"/>
                </a:solidFill>
                <a:latin typeface="Lato Italics"/>
                <a:ea typeface="Lato Italics"/>
                <a:cs typeface="Lato Italics"/>
                <a:sym typeface="Lato Italics"/>
              </a:rPr>
              <a:t>ared By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393">
            <a:off x="-6599218" y="-595702"/>
            <a:ext cx="10707604" cy="3504307"/>
          </a:xfrm>
          <a:custGeom>
            <a:avLst/>
            <a:gdLst/>
            <a:ahLst/>
            <a:cxnLst/>
            <a:rect r="r" b="b" t="t" l="l"/>
            <a:pathLst>
              <a:path h="3504307" w="10707604">
                <a:moveTo>
                  <a:pt x="0" y="0"/>
                </a:moveTo>
                <a:lnTo>
                  <a:pt x="10707604" y="0"/>
                </a:lnTo>
                <a:lnTo>
                  <a:pt x="10707604" y="3504306"/>
                </a:lnTo>
                <a:lnTo>
                  <a:pt x="0" y="3504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600720"/>
            <a:ext cx="4061613" cy="975350"/>
            <a:chOff x="0" y="0"/>
            <a:chExt cx="1175235" cy="282219"/>
          </a:xfrm>
        </p:grpSpPr>
        <p:sp>
          <p:nvSpPr>
            <p:cNvPr name="Freeform 4" id="4"/>
            <p:cNvSpPr/>
            <p:nvPr/>
          </p:nvSpPr>
          <p:spPr>
            <a:xfrm flipH="false" flipV="false" rot="0">
              <a:off x="0" y="0"/>
              <a:ext cx="1175235" cy="282219"/>
            </a:xfrm>
            <a:custGeom>
              <a:avLst/>
              <a:gdLst/>
              <a:ahLst/>
              <a:cxnLst/>
              <a:rect r="r" b="b" t="t" l="l"/>
              <a:pathLst>
                <a:path h="282219" w="1175235">
                  <a:moveTo>
                    <a:pt x="0" y="0"/>
                  </a:moveTo>
                  <a:lnTo>
                    <a:pt x="1175235" y="0"/>
                  </a:lnTo>
                  <a:lnTo>
                    <a:pt x="1175235" y="282219"/>
                  </a:lnTo>
                  <a:lnTo>
                    <a:pt x="0" y="282219"/>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5" id="5"/>
            <p:cNvSpPr txBox="true"/>
            <p:nvPr/>
          </p:nvSpPr>
          <p:spPr>
            <a:xfrm>
              <a:off x="0" y="-57150"/>
              <a:ext cx="1175235" cy="339369"/>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6" id="6"/>
          <p:cNvGrpSpPr/>
          <p:nvPr/>
        </p:nvGrpSpPr>
        <p:grpSpPr>
          <a:xfrm rot="5400000">
            <a:off x="-747202" y="6701386"/>
            <a:ext cx="2455256" cy="1227628"/>
            <a:chOff x="0" y="0"/>
            <a:chExt cx="660400" cy="330200"/>
          </a:xfrm>
        </p:grpSpPr>
        <p:sp>
          <p:nvSpPr>
            <p:cNvPr name="Freeform 7" id="7"/>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8" id="8"/>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9" id="9"/>
          <p:cNvSpPr/>
          <p:nvPr/>
        </p:nvSpPr>
        <p:spPr>
          <a:xfrm flipH="false" flipV="false" rot="9431831">
            <a:off x="5610313" y="5614288"/>
            <a:ext cx="8488122" cy="2777931"/>
          </a:xfrm>
          <a:custGeom>
            <a:avLst/>
            <a:gdLst/>
            <a:ahLst/>
            <a:cxnLst/>
            <a:rect r="r" b="b" t="t" l="l"/>
            <a:pathLst>
              <a:path h="2777931" w="8488122">
                <a:moveTo>
                  <a:pt x="0" y="0"/>
                </a:moveTo>
                <a:lnTo>
                  <a:pt x="8488122" y="0"/>
                </a:lnTo>
                <a:lnTo>
                  <a:pt x="8488122" y="2777930"/>
                </a:lnTo>
                <a:lnTo>
                  <a:pt x="0" y="2777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5400000">
            <a:off x="8126751" y="-684991"/>
            <a:ext cx="2455256" cy="1227628"/>
            <a:chOff x="0" y="0"/>
            <a:chExt cx="660400" cy="330200"/>
          </a:xfrm>
        </p:grpSpPr>
        <p:sp>
          <p:nvSpPr>
            <p:cNvPr name="Freeform 11" id="11"/>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12" id="12"/>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aphicFrame>
        <p:nvGraphicFramePr>
          <p:cNvPr name="Table 13" id="13"/>
          <p:cNvGraphicFramePr>
            <a:graphicFrameLocks noGrp="true"/>
          </p:cNvGraphicFramePr>
          <p:nvPr/>
        </p:nvGraphicFramePr>
        <p:xfrm>
          <a:off x="480426" y="1934320"/>
          <a:ext cx="5680619" cy="4533372"/>
        </p:xfrm>
        <a:graphic>
          <a:graphicData uri="http://schemas.openxmlformats.org/drawingml/2006/table">
            <a:tbl>
              <a:tblPr/>
              <a:tblGrid>
                <a:gridCol w="5566319"/>
                <a:gridCol w="114300"/>
              </a:tblGrid>
              <a:tr h="862564">
                <a:tc>
                  <a:txBody>
                    <a:bodyPr anchor="t" rtlCol="false"/>
                    <a:lstStyle/>
                    <a:p>
                      <a:pPr algn="l">
                        <a:lnSpc>
                          <a:spcPts val="2520"/>
                        </a:lnSpc>
                        <a:defRPr/>
                      </a:pPr>
                      <a:r>
                        <a:rPr lang="en-US" sz="2100">
                          <a:solidFill>
                            <a:srgbClr val="FEFEFE"/>
                          </a:solidFill>
                          <a:latin typeface="Lato"/>
                          <a:ea typeface="Lato"/>
                          <a:cs typeface="Lato"/>
                          <a:sym typeface="Lato"/>
                        </a:rPr>
                        <a:t> ●  Analyze mental health and lifestyle data.</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858672">
                <a:tc>
                  <a:txBody>
                    <a:bodyPr anchor="t" rtlCol="false"/>
                    <a:lstStyle/>
                    <a:p>
                      <a:pPr algn="l">
                        <a:lnSpc>
                          <a:spcPts val="2520"/>
                        </a:lnSpc>
                        <a:defRPr/>
                      </a:pPr>
                      <a:r>
                        <a:rPr lang="en-US" sz="2100">
                          <a:solidFill>
                            <a:srgbClr val="FEFEFE"/>
                          </a:solidFill>
                          <a:latin typeface="Lato"/>
                          <a:ea typeface="Lato"/>
                          <a:cs typeface="Lato"/>
                          <a:sym typeface="Lato"/>
                        </a:rPr>
                        <a:t>●  Design and build a Data Warehouse using Star Schema</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588534">
                <a:tc>
                  <a:txBody>
                    <a:bodyPr anchor="t" rtlCol="false"/>
                    <a:lstStyle/>
                    <a:p>
                      <a:pPr algn="l">
                        <a:lnSpc>
                          <a:spcPts val="2520"/>
                        </a:lnSpc>
                        <a:defRPr/>
                      </a:pPr>
                      <a:r>
                        <a:rPr lang="en-US" sz="2100">
                          <a:solidFill>
                            <a:srgbClr val="FEFEFE"/>
                          </a:solidFill>
                          <a:latin typeface="Lato"/>
                          <a:ea typeface="Lato"/>
                          <a:cs typeface="Lato"/>
                          <a:sym typeface="Lato"/>
                        </a:rPr>
                        <a:t>●  Perform the ETL process using SSIS</a:t>
                      </a:r>
                      <a:endParaRPr lang="en-US" sz="1100"/>
                    </a:p>
                    <a:p>
                      <a:pPr algn="l">
                        <a:lnSpc>
                          <a:spcPts val="2520"/>
                        </a:lnSpc>
                      </a:pPr>
                      <a:r>
                        <a:rPr lang="en-US" sz="2100">
                          <a:solidFill>
                            <a:srgbClr val="FEFEFE"/>
                          </a:solidFill>
                          <a:latin typeface="Lato"/>
                          <a:ea typeface="Lato"/>
                          <a:cs typeface="Lato"/>
                          <a:sym typeface="Lato"/>
                        </a:rPr>
                        <a:t>  </a:t>
                      </a:r>
                    </a:p>
                    <a:p>
                      <a:pPr algn="l">
                        <a:lnSpc>
                          <a:spcPts val="2520"/>
                        </a:lnSpc>
                      </a:pPr>
                      <a:r>
                        <a:rPr lang="en-US" sz="2100">
                          <a:solidFill>
                            <a:srgbClr val="FEFEFE"/>
                          </a:solidFill>
                          <a:latin typeface="Lato"/>
                          <a:ea typeface="Lato"/>
                          <a:cs typeface="Lato"/>
                          <a:sym typeface="Lato"/>
                        </a:rPr>
                        <a:t>●  Identify patterns and trends related to mental health and lifestyle</a:t>
                      </a:r>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223603">
                <a:tc>
                  <a:txBody>
                    <a:bodyPr anchor="t" rtlCol="false"/>
                    <a:lstStyle/>
                    <a:p>
                      <a:pPr algn="l">
                        <a:lnSpc>
                          <a:spcPts val="2520"/>
                        </a:lnSpc>
                        <a:defRPr/>
                      </a:pPr>
                      <a:r>
                        <a:rPr lang="en-US" sz="2100">
                          <a:solidFill>
                            <a:srgbClr val="FEFEFE"/>
                          </a:solidFill>
                          <a:latin typeface="Lato"/>
                          <a:ea typeface="Lato"/>
                          <a:cs typeface="Lato"/>
                          <a:sym typeface="Lato"/>
                        </a:rPr>
                        <a:t>●  Support data-driven decision-making through meaningful insights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bl>
          </a:graphicData>
        </a:graphic>
      </p:graphicFrame>
      <p:sp>
        <p:nvSpPr>
          <p:cNvPr name="TextBox 14" id="14"/>
          <p:cNvSpPr txBox="true"/>
          <p:nvPr/>
        </p:nvSpPr>
        <p:spPr>
          <a:xfrm rot="0">
            <a:off x="643242" y="851103"/>
            <a:ext cx="3337615" cy="441050"/>
          </a:xfrm>
          <a:prstGeom prst="rect">
            <a:avLst/>
          </a:prstGeom>
        </p:spPr>
        <p:txBody>
          <a:bodyPr anchor="t" rtlCol="false" tIns="0" lIns="0" bIns="0" rIns="0">
            <a:spAutoFit/>
          </a:bodyPr>
          <a:lstStyle/>
          <a:p>
            <a:pPr algn="l">
              <a:lnSpc>
                <a:spcPts val="3462"/>
              </a:lnSpc>
            </a:pPr>
            <a:r>
              <a:rPr lang="en-US" sz="3148" b="true">
                <a:solidFill>
                  <a:srgbClr val="CC78FF"/>
                </a:solidFill>
                <a:latin typeface="Red Hat Display Bold"/>
                <a:ea typeface="Red Hat Display Bold"/>
                <a:cs typeface="Red Hat Display Bold"/>
                <a:sym typeface="Red Hat Display Bold"/>
              </a:rPr>
              <a:t>Project Objective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393">
            <a:off x="-6599218" y="-595702"/>
            <a:ext cx="10707604" cy="3504307"/>
          </a:xfrm>
          <a:custGeom>
            <a:avLst/>
            <a:gdLst/>
            <a:ahLst/>
            <a:cxnLst/>
            <a:rect r="r" b="b" t="t" l="l"/>
            <a:pathLst>
              <a:path h="3504307" w="10707604">
                <a:moveTo>
                  <a:pt x="0" y="0"/>
                </a:moveTo>
                <a:lnTo>
                  <a:pt x="10707604" y="0"/>
                </a:lnTo>
                <a:lnTo>
                  <a:pt x="10707604" y="3504306"/>
                </a:lnTo>
                <a:lnTo>
                  <a:pt x="0" y="3504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96232" y="181101"/>
            <a:ext cx="3761136" cy="975350"/>
            <a:chOff x="0" y="0"/>
            <a:chExt cx="1088292" cy="282219"/>
          </a:xfrm>
        </p:grpSpPr>
        <p:sp>
          <p:nvSpPr>
            <p:cNvPr name="Freeform 4" id="4"/>
            <p:cNvSpPr/>
            <p:nvPr/>
          </p:nvSpPr>
          <p:spPr>
            <a:xfrm flipH="false" flipV="false" rot="0">
              <a:off x="0" y="0"/>
              <a:ext cx="1088292" cy="282219"/>
            </a:xfrm>
            <a:custGeom>
              <a:avLst/>
              <a:gdLst/>
              <a:ahLst/>
              <a:cxnLst/>
              <a:rect r="r" b="b" t="t" l="l"/>
              <a:pathLst>
                <a:path h="282219" w="1088292">
                  <a:moveTo>
                    <a:pt x="0" y="0"/>
                  </a:moveTo>
                  <a:lnTo>
                    <a:pt x="1088292" y="0"/>
                  </a:lnTo>
                  <a:lnTo>
                    <a:pt x="1088292" y="282219"/>
                  </a:lnTo>
                  <a:lnTo>
                    <a:pt x="0" y="282219"/>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5" id="5"/>
            <p:cNvSpPr txBox="true"/>
            <p:nvPr/>
          </p:nvSpPr>
          <p:spPr>
            <a:xfrm>
              <a:off x="0" y="-57150"/>
              <a:ext cx="1088292" cy="339369"/>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6" id="6"/>
          <p:cNvGrpSpPr/>
          <p:nvPr/>
        </p:nvGrpSpPr>
        <p:grpSpPr>
          <a:xfrm rot="5400000">
            <a:off x="-747202" y="6872975"/>
            <a:ext cx="2455256" cy="1227628"/>
            <a:chOff x="0" y="0"/>
            <a:chExt cx="660400" cy="330200"/>
          </a:xfrm>
        </p:grpSpPr>
        <p:sp>
          <p:nvSpPr>
            <p:cNvPr name="Freeform 7" id="7"/>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8" id="8"/>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9" id="9"/>
          <p:cNvSpPr/>
          <p:nvPr/>
        </p:nvSpPr>
        <p:spPr>
          <a:xfrm flipH="false" flipV="false" rot="-8514879">
            <a:off x="6001811" y="-412759"/>
            <a:ext cx="8488122" cy="2777931"/>
          </a:xfrm>
          <a:custGeom>
            <a:avLst/>
            <a:gdLst/>
            <a:ahLst/>
            <a:cxnLst/>
            <a:rect r="r" b="b" t="t" l="l"/>
            <a:pathLst>
              <a:path h="2777931" w="8488122">
                <a:moveTo>
                  <a:pt x="0" y="0"/>
                </a:moveTo>
                <a:lnTo>
                  <a:pt x="8488122" y="0"/>
                </a:lnTo>
                <a:lnTo>
                  <a:pt x="8488122" y="2777931"/>
                </a:lnTo>
                <a:lnTo>
                  <a:pt x="0" y="27779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5400000">
            <a:off x="8126751" y="6872975"/>
            <a:ext cx="2455256" cy="1227628"/>
            <a:chOff x="0" y="0"/>
            <a:chExt cx="660400" cy="330200"/>
          </a:xfrm>
        </p:grpSpPr>
        <p:sp>
          <p:nvSpPr>
            <p:cNvPr name="Freeform 11" id="11"/>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12" id="12"/>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aphicFrame>
        <p:nvGraphicFramePr>
          <p:cNvPr name="Table 13" id="13"/>
          <p:cNvGraphicFramePr>
            <a:graphicFrameLocks noGrp="true"/>
          </p:cNvGraphicFramePr>
          <p:nvPr/>
        </p:nvGraphicFramePr>
        <p:xfrm>
          <a:off x="514628" y="1318018"/>
          <a:ext cx="8724343" cy="5800725"/>
        </p:xfrm>
        <a:graphic>
          <a:graphicData uri="http://schemas.openxmlformats.org/drawingml/2006/table">
            <a:tbl>
              <a:tblPr/>
              <a:tblGrid>
                <a:gridCol w="2679075"/>
                <a:gridCol w="6045268"/>
              </a:tblGrid>
              <a:tr h="1685925">
                <a:tc>
                  <a:txBody>
                    <a:bodyPr anchor="t" rtlCol="false"/>
                    <a:lstStyle/>
                    <a:p>
                      <a:pPr algn="l">
                        <a:lnSpc>
                          <a:spcPts val="2520"/>
                        </a:lnSpc>
                        <a:defRPr/>
                      </a:pPr>
                      <a:r>
                        <a:rPr lang="en-US" sz="2100">
                          <a:solidFill>
                            <a:srgbClr val="FEFEFE"/>
                          </a:solidFill>
                          <a:latin typeface="Lato"/>
                          <a:ea typeface="Lato"/>
                          <a:cs typeface="Lato"/>
                          <a:sym typeface="Lato"/>
                        </a:rPr>
                        <a:t>Healthcare Professionals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r>
                        <a:rPr lang="en-US" sz="2100">
                          <a:solidFill>
                            <a:srgbClr val="FEFEFE"/>
                          </a:solidFill>
                          <a:latin typeface="Lato"/>
                          <a:ea typeface="Lato"/>
                          <a:cs typeface="Lato"/>
                          <a:sym typeface="Lato"/>
                        </a:rPr>
                        <a:t>:To monitor mental health indicators, analyze stress levels, sleep patterns, and lifestyle habits, helping them better understand the factors associated with mental well-being</a:t>
                      </a:r>
                      <a:endParaRPr lang="en-US" sz="1100"/>
                    </a:p>
                    <a:p>
                      <a:pPr algn="l">
                        <a:lnSpc>
                          <a:spcPts val="2520"/>
                        </a:lnSpc>
                      </a:pPr>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685925">
                <a:tc>
                  <a:txBody>
                    <a:bodyPr anchor="t" rtlCol="false"/>
                    <a:lstStyle/>
                    <a:p>
                      <a:pPr algn="l">
                        <a:lnSpc>
                          <a:spcPts val="2520"/>
                        </a:lnSpc>
                        <a:defRPr/>
                      </a:pPr>
                      <a:r>
                        <a:rPr lang="en-US" sz="2100">
                          <a:solidFill>
                            <a:srgbClr val="FEFEFE"/>
                          </a:solidFill>
                          <a:latin typeface="Lato"/>
                          <a:ea typeface="Lato"/>
                          <a:cs typeface="Lato"/>
                          <a:sym typeface="Lato"/>
                        </a:rPr>
                        <a:t>Res</a:t>
                      </a:r>
                      <a:r>
                        <a:rPr lang="en-US" sz="2100">
                          <a:solidFill>
                            <a:srgbClr val="FEFEFE"/>
                          </a:solidFill>
                          <a:latin typeface="Lato"/>
                          <a:ea typeface="Lato"/>
                          <a:cs typeface="Lato"/>
                          <a:sym typeface="Lato"/>
                        </a:rPr>
                        <a:t>earchers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r>
                        <a:rPr lang="en-US" sz="2100">
                          <a:solidFill>
                            <a:srgbClr val="FEFEFE"/>
                          </a:solidFill>
                          <a:latin typeface="Lato"/>
                          <a:ea typeface="Lato"/>
                          <a:cs typeface="Lato"/>
                          <a:sym typeface="Lato"/>
                        </a:rPr>
                        <a:t>:To explore relationships between demographic characteristics, lifestyle habits, and mental health conditions, supporting statistical analysis and future research</a:t>
                      </a:r>
                      <a:endParaRPr lang="en-US" sz="1100"/>
                    </a:p>
                    <a:p>
                      <a:pPr algn="l">
                        <a:lnSpc>
                          <a:spcPts val="2520"/>
                        </a:lnSpc>
                      </a:pPr>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371600">
                <a:tc>
                  <a:txBody>
                    <a:bodyPr anchor="t" rtlCol="false"/>
                    <a:lstStyle/>
                    <a:p>
                      <a:pPr algn="l">
                        <a:lnSpc>
                          <a:spcPts val="2520"/>
                        </a:lnSpc>
                        <a:defRPr/>
                      </a:pPr>
                      <a:r>
                        <a:rPr lang="en-US" sz="2100">
                          <a:solidFill>
                            <a:srgbClr val="FEFEFE"/>
                          </a:solidFill>
                          <a:latin typeface="Lato"/>
                          <a:ea typeface="Lato"/>
                          <a:cs typeface="Lato"/>
                          <a:sym typeface="Lato"/>
                        </a:rPr>
                        <a:t>HR D</a:t>
                      </a:r>
                      <a:r>
                        <a:rPr lang="en-US" sz="2100">
                          <a:solidFill>
                            <a:srgbClr val="FEFEFE"/>
                          </a:solidFill>
                          <a:latin typeface="Lato"/>
                          <a:ea typeface="Lato"/>
                          <a:cs typeface="Lato"/>
                          <a:sym typeface="Lato"/>
                        </a:rPr>
                        <a:t>epartments &amp; Organizations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r>
                        <a:rPr lang="en-US" sz="2100">
                          <a:solidFill>
                            <a:srgbClr val="FEFEFE"/>
                          </a:solidFill>
                          <a:latin typeface="Lato"/>
                          <a:ea typeface="Lato"/>
                          <a:cs typeface="Lato"/>
                          <a:sym typeface="Lato"/>
                        </a:rPr>
                        <a:t>:To gain insights into work-related factors such as working hours, stress levels, and employee well-being, helping organizations create healthier work environments.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r h="1057275">
                <a:tc>
                  <a:txBody>
                    <a:bodyPr anchor="t" rtlCol="false"/>
                    <a:lstStyle/>
                    <a:p>
                      <a:pPr algn="l">
                        <a:lnSpc>
                          <a:spcPts val="2520"/>
                        </a:lnSpc>
                        <a:defRPr/>
                      </a:pPr>
                      <a:r>
                        <a:rPr lang="en-US" sz="2100">
                          <a:solidFill>
                            <a:srgbClr val="FEFEFE"/>
                          </a:solidFill>
                          <a:latin typeface="Lato"/>
                          <a:ea typeface="Lato"/>
                          <a:cs typeface="Lato"/>
                          <a:sym typeface="Lato"/>
                        </a:rPr>
                        <a:t>Public Healt</a:t>
                      </a:r>
                      <a:r>
                        <a:rPr lang="en-US" sz="2100">
                          <a:solidFill>
                            <a:srgbClr val="FEFEFE"/>
                          </a:solidFill>
                          <a:latin typeface="Lato"/>
                          <a:ea typeface="Lato"/>
                          <a:cs typeface="Lato"/>
                          <a:sym typeface="Lato"/>
                        </a:rPr>
                        <a:t>h Organizations &amp; Decision Makers</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c>
                  <a:txBody>
                    <a:bodyPr anchor="t" rtlCol="false"/>
                    <a:lstStyle/>
                    <a:p>
                      <a:pPr algn="l">
                        <a:lnSpc>
                          <a:spcPts val="2520"/>
                        </a:lnSpc>
                        <a:defRPr/>
                      </a:pPr>
                      <a:r>
                        <a:rPr lang="en-US" sz="2100">
                          <a:solidFill>
                            <a:srgbClr val="FEFEFE"/>
                          </a:solidFill>
                          <a:latin typeface="Lato"/>
                          <a:ea typeface="Lato"/>
                          <a:cs typeface="Lato"/>
                          <a:sym typeface="Lato"/>
                        </a:rPr>
                        <a:t>:To understand population-level trends, identify potential health concerns, and support awareness campaigns and public health planning.</a:t>
                      </a:r>
                      <a:endParaRPr lang="en-US" sz="1100"/>
                    </a:p>
                  </a:txBody>
                  <a:tcPr marL="0" marR="0" marT="0" marB="0"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bl>
          </a:graphicData>
        </a:graphic>
      </p:graphicFrame>
      <p:sp>
        <p:nvSpPr>
          <p:cNvPr name="TextBox 14" id="14"/>
          <p:cNvSpPr txBox="true"/>
          <p:nvPr/>
        </p:nvSpPr>
        <p:spPr>
          <a:xfrm rot="0">
            <a:off x="3193704" y="444843"/>
            <a:ext cx="3366193" cy="476440"/>
          </a:xfrm>
          <a:prstGeom prst="rect">
            <a:avLst/>
          </a:prstGeom>
        </p:spPr>
        <p:txBody>
          <a:bodyPr anchor="t" rtlCol="false" tIns="0" lIns="0" bIns="0" rIns="0">
            <a:spAutoFit/>
          </a:bodyPr>
          <a:lstStyle/>
          <a:p>
            <a:pPr algn="ctr">
              <a:lnSpc>
                <a:spcPts val="3649"/>
              </a:lnSpc>
            </a:pPr>
            <a:r>
              <a:rPr lang="en-US" sz="3318" b="true">
                <a:solidFill>
                  <a:srgbClr val="CC78FF"/>
                </a:solidFill>
                <a:latin typeface="Red Hat Display Bold"/>
                <a:ea typeface="Red Hat Display Bold"/>
                <a:cs typeface="Red Hat Display Bold"/>
                <a:sym typeface="Red Hat Display Bold"/>
              </a:rPr>
              <a:t>Ta</a:t>
            </a:r>
            <a:r>
              <a:rPr lang="en-US" b="true" sz="3318">
                <a:solidFill>
                  <a:srgbClr val="CC78FF"/>
                </a:solidFill>
                <a:latin typeface="Red Hat Display Bold"/>
                <a:ea typeface="Red Hat Display Bold"/>
                <a:cs typeface="Red Hat Display Bold"/>
                <a:sym typeface="Red Hat Display Bold"/>
              </a:rPr>
              <a:t>rget Audience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5963741" y="1000230"/>
            <a:ext cx="3530864" cy="336017"/>
          </a:xfrm>
          <a:prstGeom prst="rect">
            <a:avLst/>
          </a:prstGeom>
        </p:spPr>
        <p:txBody>
          <a:bodyPr anchor="t" rtlCol="false" tIns="0" lIns="0" bIns="0" rIns="0">
            <a:spAutoFit/>
          </a:bodyPr>
          <a:lstStyle/>
          <a:p>
            <a:pPr algn="l" marL="0" indent="0" lvl="0">
              <a:lnSpc>
                <a:spcPts val="2529"/>
              </a:lnSpc>
              <a:spcBef>
                <a:spcPct val="0"/>
              </a:spcBef>
            </a:pPr>
            <a:r>
              <a:rPr lang="en-US" b="true" sz="2299">
                <a:solidFill>
                  <a:srgbClr val="FEFEFE"/>
                </a:solidFill>
                <a:latin typeface="Lato Bold"/>
                <a:ea typeface="Lato Bold"/>
                <a:cs typeface="Lato Bold"/>
                <a:sym typeface="Lato Bold"/>
              </a:rPr>
              <a:t>D</a:t>
            </a:r>
            <a:r>
              <a:rPr lang="en-US" b="true" sz="2299" strike="noStrike" u="none">
                <a:solidFill>
                  <a:srgbClr val="FEFEFE"/>
                </a:solidFill>
                <a:latin typeface="Lato Bold"/>
                <a:ea typeface="Lato Bold"/>
                <a:cs typeface="Lato Bold"/>
                <a:sym typeface="Lato Bold"/>
              </a:rPr>
              <a:t>ata</a:t>
            </a:r>
            <a:r>
              <a:rPr lang="en-US" b="true" sz="2299" strike="noStrike" u="none">
                <a:solidFill>
                  <a:srgbClr val="FEFEFE"/>
                </a:solidFill>
                <a:latin typeface="Lato Bold"/>
                <a:ea typeface="Lato Bold"/>
                <a:cs typeface="Lato Bold"/>
                <a:sym typeface="Lato Bold"/>
              </a:rPr>
              <a:t>se</a:t>
            </a:r>
            <a:r>
              <a:rPr lang="en-US" b="true" sz="2299" strike="noStrike" u="none">
                <a:solidFill>
                  <a:srgbClr val="FEFEFE"/>
                </a:solidFill>
                <a:latin typeface="Lato Bold"/>
                <a:ea typeface="Lato Bold"/>
                <a:cs typeface="Lato Bold"/>
                <a:sym typeface="Lato Bold"/>
              </a:rPr>
              <a:t>t Su</a:t>
            </a:r>
            <a:r>
              <a:rPr lang="en-US" b="true" sz="2299" strike="noStrike" u="none">
                <a:solidFill>
                  <a:srgbClr val="FEFEFE"/>
                </a:solidFill>
                <a:latin typeface="Lato Bold"/>
                <a:ea typeface="Lato Bold"/>
                <a:cs typeface="Lato Bold"/>
                <a:sym typeface="Lato Bold"/>
              </a:rPr>
              <a:t>mmary</a:t>
            </a:r>
          </a:p>
        </p:txBody>
      </p:sp>
      <p:grpSp>
        <p:nvGrpSpPr>
          <p:cNvPr name="Group 3" id="3"/>
          <p:cNvGrpSpPr/>
          <p:nvPr/>
        </p:nvGrpSpPr>
        <p:grpSpPr>
          <a:xfrm rot="0">
            <a:off x="-1338382" y="6185100"/>
            <a:ext cx="2638664" cy="1319332"/>
            <a:chOff x="0" y="0"/>
            <a:chExt cx="660400" cy="330200"/>
          </a:xfrm>
        </p:grpSpPr>
        <p:sp>
          <p:nvSpPr>
            <p:cNvPr name="Freeform 4" id="4"/>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5" id="5"/>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6" id="6"/>
          <p:cNvGrpSpPr/>
          <p:nvPr/>
        </p:nvGrpSpPr>
        <p:grpSpPr>
          <a:xfrm rot="-5400000">
            <a:off x="7093345" y="1151411"/>
            <a:ext cx="3857471" cy="1928735"/>
            <a:chOff x="0" y="0"/>
            <a:chExt cx="660400" cy="330200"/>
          </a:xfrm>
        </p:grpSpPr>
        <p:sp>
          <p:nvSpPr>
            <p:cNvPr name="Freeform 7" id="7"/>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8" id="8"/>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9" id="9"/>
          <p:cNvSpPr/>
          <p:nvPr/>
        </p:nvSpPr>
        <p:spPr>
          <a:xfrm flipH="false" flipV="false" rot="0">
            <a:off x="-6399835" y="-1599927"/>
            <a:ext cx="10707604" cy="3504307"/>
          </a:xfrm>
          <a:custGeom>
            <a:avLst/>
            <a:gdLst/>
            <a:ahLst/>
            <a:cxnLst/>
            <a:rect r="r" b="b" t="t" l="l"/>
            <a:pathLst>
              <a:path h="3504307" w="10707604">
                <a:moveTo>
                  <a:pt x="0" y="0"/>
                </a:moveTo>
                <a:lnTo>
                  <a:pt x="10707604" y="0"/>
                </a:lnTo>
                <a:lnTo>
                  <a:pt x="10707604" y="3504307"/>
                </a:lnTo>
                <a:lnTo>
                  <a:pt x="0" y="350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326001">
            <a:off x="732020" y="6703218"/>
            <a:ext cx="10707604" cy="3504307"/>
          </a:xfrm>
          <a:custGeom>
            <a:avLst/>
            <a:gdLst/>
            <a:ahLst/>
            <a:cxnLst/>
            <a:rect r="r" b="b" t="t" l="l"/>
            <a:pathLst>
              <a:path h="3504307" w="10707604">
                <a:moveTo>
                  <a:pt x="0" y="0"/>
                </a:moveTo>
                <a:lnTo>
                  <a:pt x="10707604" y="0"/>
                </a:lnTo>
                <a:lnTo>
                  <a:pt x="10707604" y="3504306"/>
                </a:lnTo>
                <a:lnTo>
                  <a:pt x="0" y="3504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086251" y="5595003"/>
            <a:ext cx="173905" cy="160625"/>
          </a:xfrm>
          <a:custGeom>
            <a:avLst/>
            <a:gdLst/>
            <a:ahLst/>
            <a:cxnLst/>
            <a:rect r="r" b="b" t="t" l="l"/>
            <a:pathLst>
              <a:path h="160625" w="173905">
                <a:moveTo>
                  <a:pt x="0" y="0"/>
                </a:moveTo>
                <a:lnTo>
                  <a:pt x="173905" y="0"/>
                </a:lnTo>
                <a:lnTo>
                  <a:pt x="173905" y="160625"/>
                </a:lnTo>
                <a:lnTo>
                  <a:pt x="0" y="16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5086251" y="6204150"/>
            <a:ext cx="156415" cy="144470"/>
          </a:xfrm>
          <a:custGeom>
            <a:avLst/>
            <a:gdLst/>
            <a:ahLst/>
            <a:cxnLst/>
            <a:rect r="r" b="b" t="t" l="l"/>
            <a:pathLst>
              <a:path h="144470" w="156415">
                <a:moveTo>
                  <a:pt x="0" y="0"/>
                </a:moveTo>
                <a:lnTo>
                  <a:pt x="156415" y="0"/>
                </a:lnTo>
                <a:lnTo>
                  <a:pt x="156415" y="144471"/>
                </a:lnTo>
                <a:lnTo>
                  <a:pt x="0" y="144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5086251" y="5899577"/>
            <a:ext cx="173905" cy="160625"/>
          </a:xfrm>
          <a:custGeom>
            <a:avLst/>
            <a:gdLst/>
            <a:ahLst/>
            <a:cxnLst/>
            <a:rect r="r" b="b" t="t" l="l"/>
            <a:pathLst>
              <a:path h="160625" w="173905">
                <a:moveTo>
                  <a:pt x="0" y="0"/>
                </a:moveTo>
                <a:lnTo>
                  <a:pt x="173905" y="0"/>
                </a:lnTo>
                <a:lnTo>
                  <a:pt x="173905" y="160625"/>
                </a:lnTo>
                <a:lnTo>
                  <a:pt x="0" y="16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369348" y="1716505"/>
            <a:ext cx="3745128" cy="351156"/>
          </a:xfrm>
          <a:prstGeom prst="rect">
            <a:avLst/>
          </a:prstGeom>
        </p:spPr>
        <p:txBody>
          <a:bodyPr anchor="t" rtlCol="false" tIns="0" lIns="0" bIns="0" rIns="0">
            <a:spAutoFit/>
          </a:bodyPr>
          <a:lstStyle/>
          <a:p>
            <a:pPr algn="l" marL="0" indent="0" lvl="0">
              <a:lnSpc>
                <a:spcPts val="2709"/>
              </a:lnSpc>
              <a:spcBef>
                <a:spcPct val="0"/>
              </a:spcBef>
            </a:pPr>
            <a:r>
              <a:rPr lang="en-US" b="true" sz="2463">
                <a:solidFill>
                  <a:srgbClr val="FEFEFE"/>
                </a:solidFill>
                <a:latin typeface="Lato Bold"/>
                <a:ea typeface="Lato Bold"/>
                <a:cs typeface="Lato Bold"/>
                <a:sym typeface="Lato Bold"/>
              </a:rPr>
              <a:t>Da</a:t>
            </a:r>
            <a:r>
              <a:rPr lang="en-US" b="true" sz="2463" strike="noStrike" u="none">
                <a:solidFill>
                  <a:srgbClr val="FEFEFE"/>
                </a:solidFill>
                <a:latin typeface="Lato Bold"/>
                <a:ea typeface="Lato Bold"/>
                <a:cs typeface="Lato Bold"/>
                <a:sym typeface="Lato Bold"/>
              </a:rPr>
              <a:t>ta</a:t>
            </a:r>
            <a:r>
              <a:rPr lang="en-US" b="true" sz="2463" strike="noStrike" u="none">
                <a:solidFill>
                  <a:srgbClr val="FEFEFE"/>
                </a:solidFill>
                <a:latin typeface="Lato Bold"/>
                <a:ea typeface="Lato Bold"/>
                <a:cs typeface="Lato Bold"/>
                <a:sym typeface="Lato Bold"/>
              </a:rPr>
              <a:t>s</a:t>
            </a:r>
            <a:r>
              <a:rPr lang="en-US" b="true" sz="2463" strike="noStrike" u="none">
                <a:solidFill>
                  <a:srgbClr val="FEFEFE"/>
                </a:solidFill>
                <a:latin typeface="Lato Bold"/>
                <a:ea typeface="Lato Bold"/>
                <a:cs typeface="Lato Bold"/>
                <a:sym typeface="Lato Bold"/>
              </a:rPr>
              <a:t>e</a:t>
            </a:r>
            <a:r>
              <a:rPr lang="en-US" b="true" sz="2463" strike="noStrike" u="none">
                <a:solidFill>
                  <a:srgbClr val="FEFEFE"/>
                </a:solidFill>
                <a:latin typeface="Lato Bold"/>
                <a:ea typeface="Lato Bold"/>
                <a:cs typeface="Lato Bold"/>
                <a:sym typeface="Lato Bold"/>
              </a:rPr>
              <a:t>t</a:t>
            </a:r>
            <a:r>
              <a:rPr lang="en-US" b="true" sz="2463" strike="noStrike" u="none">
                <a:solidFill>
                  <a:srgbClr val="FEFEFE"/>
                </a:solidFill>
                <a:latin typeface="Lato Bold"/>
                <a:ea typeface="Lato Bold"/>
                <a:cs typeface="Lato Bold"/>
                <a:sym typeface="Lato Bold"/>
              </a:rPr>
              <a:t> </a:t>
            </a:r>
            <a:r>
              <a:rPr lang="en-US" b="true" sz="2463" strike="noStrike" u="none">
                <a:solidFill>
                  <a:srgbClr val="FEFEFE"/>
                </a:solidFill>
                <a:latin typeface="Lato Bold"/>
                <a:ea typeface="Lato Bold"/>
                <a:cs typeface="Lato Bold"/>
                <a:sym typeface="Lato Bold"/>
              </a:rPr>
              <a:t>Inf</a:t>
            </a:r>
            <a:r>
              <a:rPr lang="en-US" b="true" sz="2463" strike="noStrike" u="none">
                <a:solidFill>
                  <a:srgbClr val="FEFEFE"/>
                </a:solidFill>
                <a:latin typeface="Lato Bold"/>
                <a:ea typeface="Lato Bold"/>
                <a:cs typeface="Lato Bold"/>
                <a:sym typeface="Lato Bold"/>
              </a:rPr>
              <a:t>o</a:t>
            </a:r>
            <a:r>
              <a:rPr lang="en-US" b="true" sz="2463" strike="noStrike" u="none">
                <a:solidFill>
                  <a:srgbClr val="FEFEFE"/>
                </a:solidFill>
                <a:latin typeface="Lato Bold"/>
                <a:ea typeface="Lato Bold"/>
                <a:cs typeface="Lato Bold"/>
                <a:sym typeface="Lato Bold"/>
              </a:rPr>
              <a:t>rm</a:t>
            </a:r>
            <a:r>
              <a:rPr lang="en-US" b="true" sz="2463" strike="noStrike" u="none">
                <a:solidFill>
                  <a:srgbClr val="FEFEFE"/>
                </a:solidFill>
                <a:latin typeface="Lato Bold"/>
                <a:ea typeface="Lato Bold"/>
                <a:cs typeface="Lato Bold"/>
                <a:sym typeface="Lato Bold"/>
              </a:rPr>
              <a:t>a</a:t>
            </a:r>
            <a:r>
              <a:rPr lang="en-US" b="true" sz="2463" strike="noStrike" u="none">
                <a:solidFill>
                  <a:srgbClr val="FEFEFE"/>
                </a:solidFill>
                <a:latin typeface="Lato Bold"/>
                <a:ea typeface="Lato Bold"/>
                <a:cs typeface="Lato Bold"/>
                <a:sym typeface="Lato Bold"/>
              </a:rPr>
              <a:t>t</a:t>
            </a:r>
            <a:r>
              <a:rPr lang="en-US" b="true" sz="2463" strike="noStrike" u="none">
                <a:solidFill>
                  <a:srgbClr val="FEFEFE"/>
                </a:solidFill>
                <a:latin typeface="Lato Bold"/>
                <a:ea typeface="Lato Bold"/>
                <a:cs typeface="Lato Bold"/>
                <a:sym typeface="Lato Bold"/>
              </a:rPr>
              <a:t>i</a:t>
            </a:r>
            <a:r>
              <a:rPr lang="en-US" b="true" sz="2463" strike="noStrike" u="none">
                <a:solidFill>
                  <a:srgbClr val="FEFEFE"/>
                </a:solidFill>
                <a:latin typeface="Lato Bold"/>
                <a:ea typeface="Lato Bold"/>
                <a:cs typeface="Lato Bold"/>
                <a:sym typeface="Lato Bold"/>
              </a:rPr>
              <a:t>o</a:t>
            </a:r>
            <a:r>
              <a:rPr lang="en-US" b="true" sz="2463" strike="noStrike" u="none">
                <a:solidFill>
                  <a:srgbClr val="FEFEFE"/>
                </a:solidFill>
                <a:latin typeface="Lato Bold"/>
                <a:ea typeface="Lato Bold"/>
                <a:cs typeface="Lato Bold"/>
                <a:sym typeface="Lato Bold"/>
              </a:rPr>
              <a:t>n</a:t>
            </a:r>
          </a:p>
        </p:txBody>
      </p:sp>
      <p:sp>
        <p:nvSpPr>
          <p:cNvPr name="TextBox 15" id="15"/>
          <p:cNvSpPr txBox="true"/>
          <p:nvPr/>
        </p:nvSpPr>
        <p:spPr>
          <a:xfrm rot="0">
            <a:off x="137630" y="2569211"/>
            <a:ext cx="6888166" cy="659764"/>
          </a:xfrm>
          <a:prstGeom prst="rect">
            <a:avLst/>
          </a:prstGeom>
        </p:spPr>
        <p:txBody>
          <a:bodyPr anchor="t" rtlCol="false" tIns="0" lIns="0" bIns="0" rIns="0">
            <a:spAutoFit/>
          </a:bodyPr>
          <a:lstStyle/>
          <a:p>
            <a:pPr algn="l" marL="0" indent="0" lvl="0">
              <a:lnSpc>
                <a:spcPts val="1704"/>
              </a:lnSpc>
              <a:spcBef>
                <a:spcPct val="0"/>
              </a:spcBef>
            </a:pPr>
            <a:r>
              <a:rPr lang="en-US" sz="1549" i="true">
                <a:solidFill>
                  <a:srgbClr val="FEFEFE"/>
                </a:solidFill>
                <a:latin typeface="Lato Italics"/>
                <a:ea typeface="Lato Italics"/>
                <a:cs typeface="Lato Italics"/>
                <a:sym typeface="Lato Italics"/>
              </a:rPr>
              <a:t>Our project is based on the </a:t>
            </a:r>
            <a:r>
              <a:rPr lang="en-US" sz="1549" i="true" strike="noStrike" u="none">
                <a:solidFill>
                  <a:srgbClr val="FEFEFE"/>
                </a:solidFill>
                <a:latin typeface="Lato Italics"/>
                <a:ea typeface="Lato Italics"/>
                <a:cs typeface="Lato Italics"/>
                <a:sym typeface="Lato Italics"/>
              </a:rPr>
              <a:t>M</a:t>
            </a:r>
            <a:r>
              <a:rPr lang="en-US" sz="1549" i="true" strike="noStrike" u="none">
                <a:solidFill>
                  <a:srgbClr val="FEFEFE"/>
                </a:solidFill>
                <a:latin typeface="Lato Italics"/>
                <a:ea typeface="Lato Italics"/>
                <a:cs typeface="Lato Italics"/>
                <a:sym typeface="Lato Italics"/>
              </a:rPr>
              <a:t>ent</a:t>
            </a:r>
            <a:r>
              <a:rPr lang="en-US" sz="1549" i="true" strike="noStrike" u="none">
                <a:solidFill>
                  <a:srgbClr val="FEFEFE"/>
                </a:solidFill>
                <a:latin typeface="Lato Italics"/>
                <a:ea typeface="Lato Italics"/>
                <a:cs typeface="Lato Italics"/>
                <a:sym typeface="Lato Italics"/>
              </a:rPr>
              <a:t>a</a:t>
            </a:r>
            <a:r>
              <a:rPr lang="en-US" sz="1549" i="true" strike="noStrike" u="none">
                <a:solidFill>
                  <a:srgbClr val="FEFEFE"/>
                </a:solidFill>
                <a:latin typeface="Lato Italics"/>
                <a:ea typeface="Lato Italics"/>
                <a:cs typeface="Lato Italics"/>
                <a:sym typeface="Lato Italics"/>
              </a:rPr>
              <a:t>l Health &amp; Lifestyle Dataset, whi</a:t>
            </a:r>
            <a:r>
              <a:rPr lang="en-US" sz="1549" i="true" strike="noStrike" u="none">
                <a:solidFill>
                  <a:srgbClr val="FEFEFE"/>
                </a:solidFill>
                <a:latin typeface="Lato Italics"/>
                <a:ea typeface="Lato Italics"/>
                <a:cs typeface="Lato Italics"/>
                <a:sym typeface="Lato Italics"/>
              </a:rPr>
              <a:t>ch </a:t>
            </a:r>
            <a:r>
              <a:rPr lang="en-US" sz="1549" i="true" strike="noStrike" u="none">
                <a:solidFill>
                  <a:srgbClr val="FEFEFE"/>
                </a:solidFill>
                <a:latin typeface="Lato Italics"/>
                <a:ea typeface="Lato Italics"/>
                <a:cs typeface="Lato Italics"/>
                <a:sym typeface="Lato Italics"/>
              </a:rPr>
              <a:t>contains information about individuals'</a:t>
            </a:r>
            <a:r>
              <a:rPr lang="en-US" sz="1549" i="true" strike="noStrike" u="none">
                <a:solidFill>
                  <a:srgbClr val="FEFEFE"/>
                </a:solidFill>
                <a:latin typeface="Lato Italics"/>
                <a:ea typeface="Lato Italics"/>
                <a:cs typeface="Lato Italics"/>
                <a:sym typeface="Lato Italics"/>
              </a:rPr>
              <a:t> </a:t>
            </a:r>
            <a:r>
              <a:rPr lang="en-US" sz="1549" i="true" strike="noStrike" u="none">
                <a:solidFill>
                  <a:srgbClr val="FEFEFE"/>
                </a:solidFill>
                <a:latin typeface="Lato Italics"/>
                <a:ea typeface="Lato Italics"/>
                <a:cs typeface="Lato Italics"/>
                <a:sym typeface="Lato Italics"/>
              </a:rPr>
              <a:t>demographic</a:t>
            </a:r>
            <a:r>
              <a:rPr lang="en-US" sz="1549" i="true" strike="noStrike" u="none">
                <a:solidFill>
                  <a:srgbClr val="FEFEFE"/>
                </a:solidFill>
                <a:latin typeface="Lato Italics"/>
                <a:ea typeface="Lato Italics"/>
                <a:cs typeface="Lato Italics"/>
                <a:sym typeface="Lato Italics"/>
              </a:rPr>
              <a:t> </a:t>
            </a:r>
            <a:r>
              <a:rPr lang="en-US" sz="1549" i="true" strike="noStrike" u="none">
                <a:solidFill>
                  <a:srgbClr val="FEFEFE"/>
                </a:solidFill>
                <a:latin typeface="Lato Italics"/>
                <a:ea typeface="Lato Italics"/>
                <a:cs typeface="Lato Italics"/>
                <a:sym typeface="Lato Italics"/>
              </a:rPr>
              <a:t>cha</a:t>
            </a:r>
            <a:r>
              <a:rPr lang="en-US" sz="1549" i="true" strike="noStrike" u="none">
                <a:solidFill>
                  <a:srgbClr val="FEFEFE"/>
                </a:solidFill>
                <a:latin typeface="Lato Italics"/>
                <a:ea typeface="Lato Italics"/>
                <a:cs typeface="Lato Italics"/>
                <a:sym typeface="Lato Italics"/>
              </a:rPr>
              <a:t>r</a:t>
            </a:r>
            <a:r>
              <a:rPr lang="en-US" sz="1549" i="true" strike="noStrike" u="none">
                <a:solidFill>
                  <a:srgbClr val="FEFEFE"/>
                </a:solidFill>
                <a:latin typeface="Lato Italics"/>
                <a:ea typeface="Lato Italics"/>
                <a:cs typeface="Lato Italics"/>
                <a:sym typeface="Lato Italics"/>
              </a:rPr>
              <a:t>act</a:t>
            </a:r>
            <a:r>
              <a:rPr lang="en-US" sz="1549" i="true" strike="noStrike" u="none">
                <a:solidFill>
                  <a:srgbClr val="FEFEFE"/>
                </a:solidFill>
                <a:latin typeface="Lato Italics"/>
                <a:ea typeface="Lato Italics"/>
                <a:cs typeface="Lato Italics"/>
                <a:sym typeface="Lato Italics"/>
              </a:rPr>
              <a:t>e</a:t>
            </a:r>
            <a:r>
              <a:rPr lang="en-US" sz="1549" i="true" strike="noStrike" u="none">
                <a:solidFill>
                  <a:srgbClr val="FEFEFE"/>
                </a:solidFill>
                <a:latin typeface="Lato Italics"/>
                <a:ea typeface="Lato Italics"/>
                <a:cs typeface="Lato Italics"/>
                <a:sym typeface="Lato Italics"/>
              </a:rPr>
              <a:t>ri</a:t>
            </a:r>
            <a:r>
              <a:rPr lang="en-US" sz="1549" i="true" strike="noStrike" u="none">
                <a:solidFill>
                  <a:srgbClr val="FEFEFE"/>
                </a:solidFill>
                <a:latin typeface="Lato Italics"/>
                <a:ea typeface="Lato Italics"/>
                <a:cs typeface="Lato Italics"/>
                <a:sym typeface="Lato Italics"/>
              </a:rPr>
              <a:t>s</a:t>
            </a:r>
            <a:r>
              <a:rPr lang="en-US" sz="1549" i="true" strike="noStrike" u="none">
                <a:solidFill>
                  <a:srgbClr val="FEFEFE"/>
                </a:solidFill>
                <a:latin typeface="Lato Italics"/>
                <a:ea typeface="Lato Italics"/>
                <a:cs typeface="Lato Italics"/>
                <a:sym typeface="Lato Italics"/>
              </a:rPr>
              <a:t>tics, lifestyle habits, and m</a:t>
            </a:r>
            <a:r>
              <a:rPr lang="en-US" sz="1549" i="true" strike="noStrike" u="none">
                <a:solidFill>
                  <a:srgbClr val="FEFEFE"/>
                </a:solidFill>
                <a:latin typeface="Lato Italics"/>
                <a:ea typeface="Lato Italics"/>
                <a:cs typeface="Lato Italics"/>
                <a:sym typeface="Lato Italics"/>
              </a:rPr>
              <a:t>ent</a:t>
            </a:r>
            <a:r>
              <a:rPr lang="en-US" sz="1549" i="true" strike="noStrike" u="none">
                <a:solidFill>
                  <a:srgbClr val="FEFEFE"/>
                </a:solidFill>
                <a:latin typeface="Lato Italics"/>
                <a:ea typeface="Lato Italics"/>
                <a:cs typeface="Lato Italics"/>
                <a:sym typeface="Lato Italics"/>
              </a:rPr>
              <a:t>al health indicators.</a:t>
            </a:r>
          </a:p>
        </p:txBody>
      </p:sp>
      <p:sp>
        <p:nvSpPr>
          <p:cNvPr name="TextBox 16" id="16"/>
          <p:cNvSpPr txBox="true"/>
          <p:nvPr/>
        </p:nvSpPr>
        <p:spPr>
          <a:xfrm rot="0">
            <a:off x="6085822" y="1469597"/>
            <a:ext cx="4498093" cy="1205654"/>
          </a:xfrm>
          <a:prstGeom prst="rect">
            <a:avLst/>
          </a:prstGeom>
        </p:spPr>
        <p:txBody>
          <a:bodyPr anchor="t" rtlCol="false" tIns="0" lIns="0" bIns="0" rIns="0">
            <a:spAutoFit/>
          </a:bodyPr>
          <a:lstStyle/>
          <a:p>
            <a:pPr algn="l" marL="459068" indent="-229534" lvl="1">
              <a:lnSpc>
                <a:spcPts val="2338"/>
              </a:lnSpc>
              <a:spcBef>
                <a:spcPct val="0"/>
              </a:spcBef>
              <a:buFont typeface="Arial"/>
              <a:buChar char="•"/>
            </a:pPr>
            <a:r>
              <a:rPr lang="en-US" sz="2126" i="true">
                <a:solidFill>
                  <a:srgbClr val="FEFEFE"/>
                </a:solidFill>
                <a:latin typeface="Lato Italics"/>
                <a:ea typeface="Lato Italics"/>
                <a:cs typeface="Lato Italics"/>
                <a:sym typeface="Lato Italics"/>
              </a:rPr>
              <a:t>Source: K</a:t>
            </a:r>
            <a:r>
              <a:rPr lang="en-US" sz="2126" i="true" strike="noStrike" u="none">
                <a:solidFill>
                  <a:srgbClr val="FEFEFE"/>
                </a:solidFill>
                <a:latin typeface="Lato Italics"/>
                <a:ea typeface="Lato Italics"/>
                <a:cs typeface="Lato Italics"/>
                <a:sym typeface="Lato Italics"/>
              </a:rPr>
              <a:t>a</a:t>
            </a:r>
            <a:r>
              <a:rPr lang="en-US" sz="2126" i="true" strike="noStrike" u="none">
                <a:solidFill>
                  <a:srgbClr val="FEFEFE"/>
                </a:solidFill>
                <a:latin typeface="Lato Italics"/>
                <a:ea typeface="Lato Italics"/>
                <a:cs typeface="Lato Italics"/>
                <a:sym typeface="Lato Italics"/>
              </a:rPr>
              <a:t>ggle</a:t>
            </a:r>
          </a:p>
          <a:p>
            <a:pPr algn="l" marL="459068" indent="-229534" lvl="1">
              <a:lnSpc>
                <a:spcPts val="2338"/>
              </a:lnSpc>
              <a:spcBef>
                <a:spcPct val="0"/>
              </a:spcBef>
              <a:buFont typeface="Arial"/>
              <a:buChar char="•"/>
            </a:pPr>
            <a:r>
              <a:rPr lang="en-US" sz="2126" i="true" strike="noStrike" u="none">
                <a:solidFill>
                  <a:srgbClr val="FEFEFE"/>
                </a:solidFill>
                <a:latin typeface="Lato Italics"/>
                <a:ea typeface="Lato Italics"/>
                <a:cs typeface="Lato Italics"/>
                <a:sym typeface="Lato Italics"/>
              </a:rPr>
              <a:t>N</a:t>
            </a:r>
            <a:r>
              <a:rPr lang="en-US" sz="2126" i="true" strike="noStrike" u="none">
                <a:solidFill>
                  <a:srgbClr val="FEFEFE"/>
                </a:solidFill>
                <a:latin typeface="Lato Italics"/>
                <a:ea typeface="Lato Italics"/>
                <a:cs typeface="Lato Italics"/>
                <a:sym typeface="Lato Italics"/>
              </a:rPr>
              <a:t>u</a:t>
            </a:r>
            <a:r>
              <a:rPr lang="en-US" sz="2126" i="true" strike="noStrike" u="none">
                <a:solidFill>
                  <a:srgbClr val="FEFEFE"/>
                </a:solidFill>
                <a:latin typeface="Lato Italics"/>
                <a:ea typeface="Lato Italics"/>
                <a:cs typeface="Lato Italics"/>
                <a:sym typeface="Lato Italics"/>
              </a:rPr>
              <a:t>mbe</a:t>
            </a:r>
            <a:r>
              <a:rPr lang="en-US" sz="2126" i="true" strike="noStrike" u="none">
                <a:solidFill>
                  <a:srgbClr val="FEFEFE"/>
                </a:solidFill>
                <a:latin typeface="Lato Italics"/>
                <a:ea typeface="Lato Italics"/>
                <a:cs typeface="Lato Italics"/>
                <a:sym typeface="Lato Italics"/>
              </a:rPr>
              <a:t>r </a:t>
            </a:r>
            <a:r>
              <a:rPr lang="en-US" sz="2126" i="true" strike="noStrike" u="none">
                <a:solidFill>
                  <a:srgbClr val="FEFEFE"/>
                </a:solidFill>
                <a:latin typeface="Lato Italics"/>
                <a:ea typeface="Lato Italics"/>
                <a:cs typeface="Lato Italics"/>
                <a:sym typeface="Lato Italics"/>
              </a:rPr>
              <a:t>of Records: 5</a:t>
            </a:r>
            <a:r>
              <a:rPr lang="en-US" sz="2126" i="true" strike="noStrike" u="none">
                <a:solidFill>
                  <a:srgbClr val="FEFEFE"/>
                </a:solidFill>
                <a:latin typeface="Lato Italics"/>
                <a:ea typeface="Lato Italics"/>
                <a:cs typeface="Lato Italics"/>
                <a:sym typeface="Lato Italics"/>
              </a:rPr>
              <a:t>0</a:t>
            </a:r>
            <a:r>
              <a:rPr lang="en-US" sz="2126" i="true" strike="noStrike" u="none">
                <a:solidFill>
                  <a:srgbClr val="FEFEFE"/>
                </a:solidFill>
                <a:latin typeface="Lato Italics"/>
                <a:ea typeface="Lato Italics"/>
                <a:cs typeface="Lato Italics"/>
                <a:sym typeface="Lato Italics"/>
              </a:rPr>
              <a:t>,000</a:t>
            </a:r>
          </a:p>
          <a:p>
            <a:pPr algn="l" marL="459068" indent="-229534" lvl="1">
              <a:lnSpc>
                <a:spcPts val="2338"/>
              </a:lnSpc>
              <a:spcBef>
                <a:spcPct val="0"/>
              </a:spcBef>
              <a:buFont typeface="Arial"/>
              <a:buChar char="•"/>
            </a:pPr>
            <a:r>
              <a:rPr lang="en-US" sz="2126" i="true" strike="noStrike" u="none">
                <a:solidFill>
                  <a:srgbClr val="FEFEFE"/>
                </a:solidFill>
                <a:latin typeface="Lato Italics"/>
                <a:ea typeface="Lato Italics"/>
                <a:cs typeface="Lato Italics"/>
                <a:sym typeface="Lato Italics"/>
              </a:rPr>
              <a:t>Number</a:t>
            </a:r>
            <a:r>
              <a:rPr lang="en-US" sz="2126" i="true" strike="noStrike" u="none">
                <a:solidFill>
                  <a:srgbClr val="FEFEFE"/>
                </a:solidFill>
                <a:latin typeface="Lato Italics"/>
                <a:ea typeface="Lato Italics"/>
                <a:cs typeface="Lato Italics"/>
                <a:sym typeface="Lato Italics"/>
              </a:rPr>
              <a:t> </a:t>
            </a:r>
            <a:r>
              <a:rPr lang="en-US" sz="2126" i="true" strike="noStrike" u="none">
                <a:solidFill>
                  <a:srgbClr val="FEFEFE"/>
                </a:solidFill>
                <a:latin typeface="Lato Italics"/>
                <a:ea typeface="Lato Italics"/>
                <a:cs typeface="Lato Italics"/>
                <a:sym typeface="Lato Italics"/>
              </a:rPr>
              <a:t>of</a:t>
            </a:r>
            <a:r>
              <a:rPr lang="en-US" sz="2126" i="true" strike="noStrike" u="none">
                <a:solidFill>
                  <a:srgbClr val="FEFEFE"/>
                </a:solidFill>
                <a:latin typeface="Lato Italics"/>
                <a:ea typeface="Lato Italics"/>
                <a:cs typeface="Lato Italics"/>
                <a:sym typeface="Lato Italics"/>
              </a:rPr>
              <a:t> Fea</a:t>
            </a:r>
            <a:r>
              <a:rPr lang="en-US" sz="2126" i="true" strike="noStrike" u="none">
                <a:solidFill>
                  <a:srgbClr val="FEFEFE"/>
                </a:solidFill>
                <a:latin typeface="Lato Italics"/>
                <a:ea typeface="Lato Italics"/>
                <a:cs typeface="Lato Italics"/>
                <a:sym typeface="Lato Italics"/>
              </a:rPr>
              <a:t>tu</a:t>
            </a:r>
            <a:r>
              <a:rPr lang="en-US" sz="2126" i="true" strike="noStrike" u="none">
                <a:solidFill>
                  <a:srgbClr val="FEFEFE"/>
                </a:solidFill>
                <a:latin typeface="Lato Italics"/>
                <a:ea typeface="Lato Italics"/>
                <a:cs typeface="Lato Italics"/>
                <a:sym typeface="Lato Italics"/>
              </a:rPr>
              <a:t>r</a:t>
            </a:r>
            <a:r>
              <a:rPr lang="en-US" sz="2126" i="true" strike="noStrike" u="none">
                <a:solidFill>
                  <a:srgbClr val="FEFEFE"/>
                </a:solidFill>
                <a:latin typeface="Lato Italics"/>
                <a:ea typeface="Lato Italics"/>
                <a:cs typeface="Lato Italics"/>
                <a:sym typeface="Lato Italics"/>
              </a:rPr>
              <a:t>es:</a:t>
            </a:r>
            <a:r>
              <a:rPr lang="en-US" sz="2126" i="true" strike="noStrike" u="none">
                <a:solidFill>
                  <a:srgbClr val="FEFEFE"/>
                </a:solidFill>
                <a:latin typeface="Lato Italics"/>
                <a:ea typeface="Lato Italics"/>
                <a:cs typeface="Lato Italics"/>
                <a:sym typeface="Lato Italics"/>
              </a:rPr>
              <a:t> 1</a:t>
            </a:r>
            <a:r>
              <a:rPr lang="en-US" sz="2126" i="true" strike="noStrike" u="none">
                <a:solidFill>
                  <a:srgbClr val="FEFEFE"/>
                </a:solidFill>
                <a:latin typeface="Lato Italics"/>
                <a:ea typeface="Lato Italics"/>
                <a:cs typeface="Lato Italics"/>
                <a:sym typeface="Lato Italics"/>
              </a:rPr>
              <a:t>6</a:t>
            </a:r>
          </a:p>
          <a:p>
            <a:pPr algn="l" marL="0" indent="0" lvl="0">
              <a:lnSpc>
                <a:spcPts val="2338"/>
              </a:lnSpc>
              <a:spcBef>
                <a:spcPct val="0"/>
              </a:spcBef>
            </a:pPr>
          </a:p>
        </p:txBody>
      </p:sp>
      <p:sp>
        <p:nvSpPr>
          <p:cNvPr name="TextBox 17" id="17"/>
          <p:cNvSpPr txBox="true"/>
          <p:nvPr/>
        </p:nvSpPr>
        <p:spPr>
          <a:xfrm rot="0">
            <a:off x="5165378" y="4713905"/>
            <a:ext cx="6038826" cy="1365884"/>
          </a:xfrm>
          <a:prstGeom prst="rect">
            <a:avLst/>
          </a:prstGeom>
        </p:spPr>
        <p:txBody>
          <a:bodyPr anchor="t" rtlCol="false" tIns="0" lIns="0" bIns="0" rIns="0">
            <a:spAutoFit/>
          </a:bodyPr>
          <a:lstStyle/>
          <a:p>
            <a:pPr algn="l" marL="523197" indent="-261599" lvl="1">
              <a:lnSpc>
                <a:spcPts val="2665"/>
              </a:lnSpc>
              <a:spcBef>
                <a:spcPct val="0"/>
              </a:spcBef>
              <a:buFont typeface="Arial"/>
              <a:buChar char="•"/>
            </a:pPr>
            <a:r>
              <a:rPr lang="en-US" sz="2423">
                <a:solidFill>
                  <a:srgbClr val="FEFEFE"/>
                </a:solidFill>
                <a:latin typeface="Lato"/>
                <a:ea typeface="Lato"/>
                <a:cs typeface="Lato"/>
                <a:sym typeface="Lato"/>
              </a:rPr>
              <a:t>D</a:t>
            </a:r>
            <a:r>
              <a:rPr lang="en-US" sz="2423" strike="noStrike" u="none">
                <a:solidFill>
                  <a:srgbClr val="FEFEFE"/>
                </a:solidFill>
                <a:latin typeface="Lato"/>
                <a:ea typeface="Lato"/>
                <a:cs typeface="Lato"/>
                <a:sym typeface="Lato"/>
              </a:rPr>
              <a:t>emo</a:t>
            </a:r>
            <a:r>
              <a:rPr lang="en-US" sz="2423" strike="noStrike" u="none">
                <a:solidFill>
                  <a:srgbClr val="FEFEFE"/>
                </a:solidFill>
                <a:latin typeface="Lato"/>
                <a:ea typeface="Lato"/>
                <a:cs typeface="Lato"/>
                <a:sym typeface="Lato"/>
              </a:rPr>
              <a:t>g</a:t>
            </a:r>
            <a:r>
              <a:rPr lang="en-US" sz="2423" strike="noStrike" u="none">
                <a:solidFill>
                  <a:srgbClr val="FEFEFE"/>
                </a:solidFill>
                <a:latin typeface="Lato"/>
                <a:ea typeface="Lato"/>
                <a:cs typeface="Lato"/>
                <a:sym typeface="Lato"/>
              </a:rPr>
              <a:t>ra</a:t>
            </a:r>
            <a:r>
              <a:rPr lang="en-US" sz="2423" strike="noStrike" u="none">
                <a:solidFill>
                  <a:srgbClr val="FEFEFE"/>
                </a:solidFill>
                <a:latin typeface="Lato"/>
                <a:ea typeface="Lato"/>
                <a:cs typeface="Lato"/>
                <a:sym typeface="Lato"/>
              </a:rPr>
              <a:t>phic</a:t>
            </a:r>
            <a:r>
              <a:rPr lang="en-US" sz="2423" strike="noStrike" u="none">
                <a:solidFill>
                  <a:srgbClr val="FEFEFE"/>
                </a:solidFill>
                <a:latin typeface="Lato"/>
                <a:ea typeface="Lato"/>
                <a:cs typeface="Lato"/>
                <a:sym typeface="Lato"/>
              </a:rPr>
              <a:t> </a:t>
            </a:r>
            <a:r>
              <a:rPr lang="en-US" sz="2423" strike="noStrike" u="none">
                <a:solidFill>
                  <a:srgbClr val="FEFEFE"/>
                </a:solidFill>
                <a:latin typeface="Lato"/>
                <a:ea typeface="Lato"/>
                <a:cs typeface="Lato"/>
                <a:sym typeface="Lato"/>
              </a:rPr>
              <a:t>I</a:t>
            </a:r>
            <a:r>
              <a:rPr lang="en-US" sz="2423" strike="noStrike" u="none">
                <a:solidFill>
                  <a:srgbClr val="FEFEFE"/>
                </a:solidFill>
                <a:latin typeface="Lato"/>
                <a:ea typeface="Lato"/>
                <a:cs typeface="Lato"/>
                <a:sym typeface="Lato"/>
              </a:rPr>
              <a:t>n</a:t>
            </a:r>
            <a:r>
              <a:rPr lang="en-US" sz="2423" strike="noStrike" u="none">
                <a:solidFill>
                  <a:srgbClr val="FEFEFE"/>
                </a:solidFill>
                <a:latin typeface="Lato"/>
                <a:ea typeface="Lato"/>
                <a:cs typeface="Lato"/>
                <a:sym typeface="Lato"/>
              </a:rPr>
              <a:t>fo</a:t>
            </a:r>
            <a:r>
              <a:rPr lang="en-US" sz="2423" strike="noStrike" u="none">
                <a:solidFill>
                  <a:srgbClr val="FEFEFE"/>
                </a:solidFill>
                <a:latin typeface="Lato"/>
                <a:ea typeface="Lato"/>
                <a:cs typeface="Lato"/>
                <a:sym typeface="Lato"/>
              </a:rPr>
              <a:t>r</a:t>
            </a:r>
            <a:r>
              <a:rPr lang="en-US" sz="2423" strike="noStrike" u="none">
                <a:solidFill>
                  <a:srgbClr val="FEFEFE"/>
                </a:solidFill>
                <a:latin typeface="Lato"/>
                <a:ea typeface="Lato"/>
                <a:cs typeface="Lato"/>
                <a:sym typeface="Lato"/>
              </a:rPr>
              <a:t>ma</a:t>
            </a:r>
            <a:r>
              <a:rPr lang="en-US" sz="2423" strike="noStrike" u="none">
                <a:solidFill>
                  <a:srgbClr val="FEFEFE"/>
                </a:solidFill>
                <a:latin typeface="Lato"/>
                <a:ea typeface="Lato"/>
                <a:cs typeface="Lato"/>
                <a:sym typeface="Lato"/>
              </a:rPr>
              <a:t>t</a:t>
            </a:r>
            <a:r>
              <a:rPr lang="en-US" sz="2423" strike="noStrike" u="none">
                <a:solidFill>
                  <a:srgbClr val="FEFEFE"/>
                </a:solidFill>
                <a:latin typeface="Lato"/>
                <a:ea typeface="Lato"/>
                <a:cs typeface="Lato"/>
                <a:sym typeface="Lato"/>
              </a:rPr>
              <a:t>i</a:t>
            </a:r>
            <a:r>
              <a:rPr lang="en-US" sz="2423" strike="noStrike" u="none">
                <a:solidFill>
                  <a:srgbClr val="FEFEFE"/>
                </a:solidFill>
                <a:latin typeface="Lato"/>
                <a:ea typeface="Lato"/>
                <a:cs typeface="Lato"/>
                <a:sym typeface="Lato"/>
              </a:rPr>
              <a:t>on</a:t>
            </a:r>
          </a:p>
          <a:p>
            <a:pPr algn="l" marL="523197" indent="-261599" lvl="1">
              <a:lnSpc>
                <a:spcPts val="2665"/>
              </a:lnSpc>
              <a:spcBef>
                <a:spcPct val="0"/>
              </a:spcBef>
              <a:buFont typeface="Arial"/>
              <a:buChar char="•"/>
            </a:pPr>
            <a:r>
              <a:rPr lang="en-US" sz="2423" strike="noStrike" u="none">
                <a:solidFill>
                  <a:srgbClr val="FEFEFE"/>
                </a:solidFill>
                <a:latin typeface="Lato"/>
                <a:ea typeface="Lato"/>
                <a:cs typeface="Lato"/>
                <a:sym typeface="Lato"/>
              </a:rPr>
              <a:t>Li</a:t>
            </a:r>
            <a:r>
              <a:rPr lang="en-US" sz="2423" strike="noStrike" u="none">
                <a:solidFill>
                  <a:srgbClr val="FEFEFE"/>
                </a:solidFill>
                <a:latin typeface="Lato"/>
                <a:ea typeface="Lato"/>
                <a:cs typeface="Lato"/>
                <a:sym typeface="Lato"/>
              </a:rPr>
              <a:t>f</a:t>
            </a:r>
            <a:r>
              <a:rPr lang="en-US" sz="2423" strike="noStrike" u="none">
                <a:solidFill>
                  <a:srgbClr val="FEFEFE"/>
                </a:solidFill>
                <a:latin typeface="Lato"/>
                <a:ea typeface="Lato"/>
                <a:cs typeface="Lato"/>
                <a:sym typeface="Lato"/>
              </a:rPr>
              <a:t>e</a:t>
            </a:r>
            <a:r>
              <a:rPr lang="en-US" sz="2423" strike="noStrike" u="none">
                <a:solidFill>
                  <a:srgbClr val="FEFEFE"/>
                </a:solidFill>
                <a:latin typeface="Lato"/>
                <a:ea typeface="Lato"/>
                <a:cs typeface="Lato"/>
                <a:sym typeface="Lato"/>
              </a:rPr>
              <a:t>s</a:t>
            </a:r>
            <a:r>
              <a:rPr lang="en-US" sz="2423" strike="noStrike" u="none">
                <a:solidFill>
                  <a:srgbClr val="FEFEFE"/>
                </a:solidFill>
                <a:latin typeface="Lato"/>
                <a:ea typeface="Lato"/>
                <a:cs typeface="Lato"/>
                <a:sym typeface="Lato"/>
              </a:rPr>
              <a:t>ty</a:t>
            </a:r>
            <a:r>
              <a:rPr lang="en-US" sz="2423" strike="noStrike" u="none">
                <a:solidFill>
                  <a:srgbClr val="FEFEFE"/>
                </a:solidFill>
                <a:latin typeface="Lato"/>
                <a:ea typeface="Lato"/>
                <a:cs typeface="Lato"/>
                <a:sym typeface="Lato"/>
              </a:rPr>
              <a:t>le </a:t>
            </a:r>
            <a:r>
              <a:rPr lang="en-US" sz="2423" strike="noStrike" u="none">
                <a:solidFill>
                  <a:srgbClr val="FEFEFE"/>
                </a:solidFill>
                <a:latin typeface="Lato"/>
                <a:ea typeface="Lato"/>
                <a:cs typeface="Lato"/>
                <a:sym typeface="Lato"/>
              </a:rPr>
              <a:t>H</a:t>
            </a:r>
            <a:r>
              <a:rPr lang="en-US" sz="2423" strike="noStrike" u="none">
                <a:solidFill>
                  <a:srgbClr val="FEFEFE"/>
                </a:solidFill>
                <a:latin typeface="Lato"/>
                <a:ea typeface="Lato"/>
                <a:cs typeface="Lato"/>
                <a:sym typeface="Lato"/>
              </a:rPr>
              <a:t>a</a:t>
            </a:r>
            <a:r>
              <a:rPr lang="en-US" sz="2423" strike="noStrike" u="none">
                <a:solidFill>
                  <a:srgbClr val="FEFEFE"/>
                </a:solidFill>
                <a:latin typeface="Lato"/>
                <a:ea typeface="Lato"/>
                <a:cs typeface="Lato"/>
                <a:sym typeface="Lato"/>
              </a:rPr>
              <a:t>b</a:t>
            </a:r>
            <a:r>
              <a:rPr lang="en-US" sz="2423" strike="noStrike" u="none">
                <a:solidFill>
                  <a:srgbClr val="FEFEFE"/>
                </a:solidFill>
                <a:latin typeface="Lato"/>
                <a:ea typeface="Lato"/>
                <a:cs typeface="Lato"/>
                <a:sym typeface="Lato"/>
              </a:rPr>
              <a:t>its</a:t>
            </a:r>
          </a:p>
          <a:p>
            <a:pPr algn="l" marL="523197" indent="-261599" lvl="1">
              <a:lnSpc>
                <a:spcPts val="2665"/>
              </a:lnSpc>
              <a:spcBef>
                <a:spcPct val="0"/>
              </a:spcBef>
              <a:buFont typeface="Arial"/>
              <a:buChar char="•"/>
            </a:pPr>
            <a:r>
              <a:rPr lang="en-US" sz="2423" strike="noStrike" u="none">
                <a:solidFill>
                  <a:srgbClr val="FEFEFE"/>
                </a:solidFill>
                <a:latin typeface="Lato"/>
                <a:ea typeface="Lato"/>
                <a:cs typeface="Lato"/>
                <a:sym typeface="Lato"/>
              </a:rPr>
              <a:t>M</a:t>
            </a:r>
            <a:r>
              <a:rPr lang="en-US" sz="2423" strike="noStrike" u="none">
                <a:solidFill>
                  <a:srgbClr val="FEFEFE"/>
                </a:solidFill>
                <a:latin typeface="Lato"/>
                <a:ea typeface="Lato"/>
                <a:cs typeface="Lato"/>
                <a:sym typeface="Lato"/>
              </a:rPr>
              <a:t>ental </a:t>
            </a:r>
            <a:r>
              <a:rPr lang="en-US" sz="2423" strike="noStrike" u="none">
                <a:solidFill>
                  <a:srgbClr val="FEFEFE"/>
                </a:solidFill>
                <a:latin typeface="Lato"/>
                <a:ea typeface="Lato"/>
                <a:cs typeface="Lato"/>
                <a:sym typeface="Lato"/>
              </a:rPr>
              <a:t>H</a:t>
            </a:r>
            <a:r>
              <a:rPr lang="en-US" sz="2423" strike="noStrike" u="none">
                <a:solidFill>
                  <a:srgbClr val="FEFEFE"/>
                </a:solidFill>
                <a:latin typeface="Lato"/>
                <a:ea typeface="Lato"/>
                <a:cs typeface="Lato"/>
                <a:sym typeface="Lato"/>
              </a:rPr>
              <a:t>ea</a:t>
            </a:r>
            <a:r>
              <a:rPr lang="en-US" sz="2423" strike="noStrike" u="none">
                <a:solidFill>
                  <a:srgbClr val="FEFEFE"/>
                </a:solidFill>
                <a:latin typeface="Lato"/>
                <a:ea typeface="Lato"/>
                <a:cs typeface="Lato"/>
                <a:sym typeface="Lato"/>
              </a:rPr>
              <a:t>l</a:t>
            </a:r>
            <a:r>
              <a:rPr lang="en-US" sz="2423" strike="noStrike" u="none">
                <a:solidFill>
                  <a:srgbClr val="FEFEFE"/>
                </a:solidFill>
                <a:latin typeface="Lato"/>
                <a:ea typeface="Lato"/>
                <a:cs typeface="Lato"/>
                <a:sym typeface="Lato"/>
              </a:rPr>
              <a:t>th </a:t>
            </a:r>
            <a:r>
              <a:rPr lang="en-US" sz="2423" strike="noStrike" u="none">
                <a:solidFill>
                  <a:srgbClr val="FEFEFE"/>
                </a:solidFill>
                <a:latin typeface="Lato"/>
                <a:ea typeface="Lato"/>
                <a:cs typeface="Lato"/>
                <a:sym typeface="Lato"/>
              </a:rPr>
              <a:t>I</a:t>
            </a:r>
            <a:r>
              <a:rPr lang="en-US" sz="2423" strike="noStrike" u="none">
                <a:solidFill>
                  <a:srgbClr val="FEFEFE"/>
                </a:solidFill>
                <a:latin typeface="Lato"/>
                <a:ea typeface="Lato"/>
                <a:cs typeface="Lato"/>
                <a:sym typeface="Lato"/>
              </a:rPr>
              <a:t>nd</a:t>
            </a:r>
            <a:r>
              <a:rPr lang="en-US" sz="2423" strike="noStrike" u="none">
                <a:solidFill>
                  <a:srgbClr val="FEFEFE"/>
                </a:solidFill>
                <a:latin typeface="Lato"/>
                <a:ea typeface="Lato"/>
                <a:cs typeface="Lato"/>
                <a:sym typeface="Lato"/>
              </a:rPr>
              <a:t>i</a:t>
            </a:r>
            <a:r>
              <a:rPr lang="en-US" sz="2423" strike="noStrike" u="none">
                <a:solidFill>
                  <a:srgbClr val="FEFEFE"/>
                </a:solidFill>
                <a:latin typeface="Lato"/>
                <a:ea typeface="Lato"/>
                <a:cs typeface="Lato"/>
                <a:sym typeface="Lato"/>
              </a:rPr>
              <a:t>cato</a:t>
            </a:r>
            <a:r>
              <a:rPr lang="en-US" sz="2423" strike="noStrike" u="none">
                <a:solidFill>
                  <a:srgbClr val="FEFEFE"/>
                </a:solidFill>
                <a:latin typeface="Lato"/>
                <a:ea typeface="Lato"/>
                <a:cs typeface="Lato"/>
                <a:sym typeface="Lato"/>
              </a:rPr>
              <a:t>r</a:t>
            </a:r>
            <a:r>
              <a:rPr lang="en-US" sz="2423" strike="noStrike" u="none">
                <a:solidFill>
                  <a:srgbClr val="FEFEFE"/>
                </a:solidFill>
                <a:latin typeface="Lato"/>
                <a:ea typeface="Lato"/>
                <a:cs typeface="Lato"/>
                <a:sym typeface="Lato"/>
              </a:rPr>
              <a:t>s</a:t>
            </a:r>
          </a:p>
          <a:p>
            <a:pPr algn="l" marL="0" indent="0" lvl="0">
              <a:lnSpc>
                <a:spcPts val="2665"/>
              </a:lnSpc>
              <a:spcBef>
                <a:spcPct val="0"/>
              </a:spcBef>
            </a:pPr>
          </a:p>
        </p:txBody>
      </p:sp>
      <p:sp>
        <p:nvSpPr>
          <p:cNvPr name="TextBox 18" id="18"/>
          <p:cNvSpPr txBox="true"/>
          <p:nvPr/>
        </p:nvSpPr>
        <p:spPr>
          <a:xfrm rot="0">
            <a:off x="-19050" y="4281495"/>
            <a:ext cx="5027701" cy="3033705"/>
          </a:xfrm>
          <a:prstGeom prst="rect">
            <a:avLst/>
          </a:prstGeom>
        </p:spPr>
        <p:txBody>
          <a:bodyPr anchor="t" rtlCol="false" tIns="0" lIns="0" bIns="0" rIns="0">
            <a:spAutoFit/>
          </a:bodyPr>
          <a:lstStyle/>
          <a:p>
            <a:pPr algn="l" marL="333774" indent="-166887" lvl="1">
              <a:lnSpc>
                <a:spcPts val="1700"/>
              </a:lnSpc>
              <a:buFont typeface="Arial"/>
              <a:buChar char="•"/>
            </a:pPr>
            <a:r>
              <a:rPr lang="en-US" sz="1545">
                <a:solidFill>
                  <a:srgbClr val="FEFEFE"/>
                </a:solidFill>
                <a:latin typeface="Lato"/>
                <a:ea typeface="Lato"/>
                <a:cs typeface="Lato"/>
                <a:sym typeface="Lato"/>
              </a:rPr>
              <a:t>Age</a:t>
            </a:r>
          </a:p>
          <a:p>
            <a:pPr algn="l" marL="333774" indent="-166887" lvl="1">
              <a:lnSpc>
                <a:spcPts val="1700"/>
              </a:lnSpc>
              <a:buFont typeface="Arial"/>
              <a:buChar char="•"/>
            </a:pPr>
            <a:r>
              <a:rPr lang="en-US" sz="1545">
                <a:solidFill>
                  <a:srgbClr val="FEFEFE"/>
                </a:solidFill>
                <a:latin typeface="Lato"/>
                <a:ea typeface="Lato"/>
                <a:cs typeface="Lato"/>
                <a:sym typeface="Lato"/>
              </a:rPr>
              <a:t>Gender</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Co</a:t>
            </a:r>
            <a:r>
              <a:rPr lang="en-US" sz="1545" strike="noStrike" u="none">
                <a:solidFill>
                  <a:srgbClr val="FEFEFE"/>
                </a:solidFill>
                <a:latin typeface="Lato"/>
                <a:ea typeface="Lato"/>
                <a:cs typeface="Lato"/>
                <a:sym typeface="Lato"/>
              </a:rPr>
              <a:t>u</a:t>
            </a:r>
            <a:r>
              <a:rPr lang="en-US" sz="1545" strike="noStrike" u="none">
                <a:solidFill>
                  <a:srgbClr val="FEFEFE"/>
                </a:solidFill>
                <a:latin typeface="Lato"/>
                <a:ea typeface="Lato"/>
                <a:cs typeface="Lato"/>
                <a:sym typeface="Lato"/>
              </a:rPr>
              <a:t>nt</a:t>
            </a:r>
            <a:r>
              <a:rPr lang="en-US" sz="1545" strike="noStrike" u="none">
                <a:solidFill>
                  <a:srgbClr val="FEFEFE"/>
                </a:solidFill>
                <a:latin typeface="Lato"/>
                <a:ea typeface="Lato"/>
                <a:cs typeface="Lato"/>
                <a:sym typeface="Lato"/>
              </a:rPr>
              <a:t>ry</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O</a:t>
            </a:r>
            <a:r>
              <a:rPr lang="en-US" sz="1545" strike="noStrike" u="none">
                <a:solidFill>
                  <a:srgbClr val="FEFEFE"/>
                </a:solidFill>
                <a:latin typeface="Lato"/>
                <a:ea typeface="Lato"/>
                <a:cs typeface="Lato"/>
                <a:sym typeface="Lato"/>
              </a:rPr>
              <a:t>c</a:t>
            </a:r>
            <a:r>
              <a:rPr lang="en-US" sz="1545" strike="noStrike" u="none">
                <a:solidFill>
                  <a:srgbClr val="FEFEFE"/>
                </a:solidFill>
                <a:latin typeface="Lato"/>
                <a:ea typeface="Lato"/>
                <a:cs typeface="Lato"/>
                <a:sym typeface="Lato"/>
              </a:rPr>
              <a:t>c</a:t>
            </a:r>
            <a:r>
              <a:rPr lang="en-US" sz="1545" strike="noStrike" u="none">
                <a:solidFill>
                  <a:srgbClr val="FEFEFE"/>
                </a:solidFill>
                <a:latin typeface="Lato"/>
                <a:ea typeface="Lato"/>
                <a:cs typeface="Lato"/>
                <a:sym typeface="Lato"/>
              </a:rPr>
              <a:t>u</a:t>
            </a:r>
            <a:r>
              <a:rPr lang="en-US" sz="1545" strike="noStrike" u="none">
                <a:solidFill>
                  <a:srgbClr val="FEFEFE"/>
                </a:solidFill>
                <a:latin typeface="Lato"/>
                <a:ea typeface="Lato"/>
                <a:cs typeface="Lato"/>
                <a:sym typeface="Lato"/>
              </a:rPr>
              <a:t>pation</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S</a:t>
            </a:r>
            <a:r>
              <a:rPr lang="en-US" sz="1545" strike="noStrike" u="none">
                <a:solidFill>
                  <a:srgbClr val="FEFEFE"/>
                </a:solidFill>
                <a:latin typeface="Lato"/>
                <a:ea typeface="Lato"/>
                <a:cs typeface="Lato"/>
                <a:sym typeface="Lato"/>
              </a:rPr>
              <a:t>lee</a:t>
            </a:r>
            <a:r>
              <a:rPr lang="en-US" sz="1545" strike="noStrike" u="none">
                <a:solidFill>
                  <a:srgbClr val="FEFEFE"/>
                </a:solidFill>
                <a:latin typeface="Lato"/>
                <a:ea typeface="Lato"/>
                <a:cs typeface="Lato"/>
                <a:sym typeface="Lato"/>
              </a:rPr>
              <a:t>p H</a:t>
            </a:r>
            <a:r>
              <a:rPr lang="en-US" sz="1545" strike="noStrike" u="none">
                <a:solidFill>
                  <a:srgbClr val="FEFEFE"/>
                </a:solidFill>
                <a:latin typeface="Lato"/>
                <a:ea typeface="Lato"/>
                <a:cs typeface="Lato"/>
                <a:sym typeface="Lato"/>
              </a:rPr>
              <a:t>ours</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W</a:t>
            </a:r>
            <a:r>
              <a:rPr lang="en-US" sz="1545" strike="noStrike" u="none">
                <a:solidFill>
                  <a:srgbClr val="FEFEFE"/>
                </a:solidFill>
                <a:latin typeface="Lato"/>
                <a:ea typeface="Lato"/>
                <a:cs typeface="Lato"/>
                <a:sym typeface="Lato"/>
              </a:rPr>
              <a:t>or</a:t>
            </a:r>
            <a:r>
              <a:rPr lang="en-US" sz="1545" strike="noStrike" u="none">
                <a:solidFill>
                  <a:srgbClr val="FEFEFE"/>
                </a:solidFill>
                <a:latin typeface="Lato"/>
                <a:ea typeface="Lato"/>
                <a:cs typeface="Lato"/>
                <a:sym typeface="Lato"/>
              </a:rPr>
              <a:t>k</a:t>
            </a:r>
            <a:r>
              <a:rPr lang="en-US" sz="1545" strike="noStrike" u="none">
                <a:solidFill>
                  <a:srgbClr val="FEFEFE"/>
                </a:solidFill>
                <a:latin typeface="Lato"/>
                <a:ea typeface="Lato"/>
                <a:cs typeface="Lato"/>
                <a:sym typeface="Lato"/>
              </a:rPr>
              <a:t> </a:t>
            </a:r>
            <a:r>
              <a:rPr lang="en-US" sz="1545" strike="noStrike" u="none">
                <a:solidFill>
                  <a:srgbClr val="FEFEFE"/>
                </a:solidFill>
                <a:latin typeface="Lato"/>
                <a:ea typeface="Lato"/>
                <a:cs typeface="Lato"/>
                <a:sym typeface="Lato"/>
              </a:rPr>
              <a:t>H</a:t>
            </a:r>
            <a:r>
              <a:rPr lang="en-US" sz="1545" strike="noStrike" u="none">
                <a:solidFill>
                  <a:srgbClr val="FEFEFE"/>
                </a:solidFill>
                <a:latin typeface="Lato"/>
                <a:ea typeface="Lato"/>
                <a:cs typeface="Lato"/>
                <a:sym typeface="Lato"/>
              </a:rPr>
              <a:t>our</a:t>
            </a:r>
            <a:r>
              <a:rPr lang="en-US" sz="1545" strike="noStrike" u="none">
                <a:solidFill>
                  <a:srgbClr val="FEFEFE"/>
                </a:solidFill>
                <a:latin typeface="Lato"/>
                <a:ea typeface="Lato"/>
                <a:cs typeface="Lato"/>
                <a:sym typeface="Lato"/>
              </a:rPr>
              <a:t>s</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Physi</a:t>
            </a:r>
            <a:r>
              <a:rPr lang="en-US" sz="1545" strike="noStrike" u="none">
                <a:solidFill>
                  <a:srgbClr val="FEFEFE"/>
                </a:solidFill>
                <a:latin typeface="Lato"/>
                <a:ea typeface="Lato"/>
                <a:cs typeface="Lato"/>
                <a:sym typeface="Lato"/>
              </a:rPr>
              <a:t>ca</a:t>
            </a:r>
            <a:r>
              <a:rPr lang="en-US" sz="1545" strike="noStrike" u="none">
                <a:solidFill>
                  <a:srgbClr val="FEFEFE"/>
                </a:solidFill>
                <a:latin typeface="Lato"/>
                <a:ea typeface="Lato"/>
                <a:cs typeface="Lato"/>
                <a:sym typeface="Lato"/>
              </a:rPr>
              <a:t>l Ac</a:t>
            </a:r>
            <a:r>
              <a:rPr lang="en-US" sz="1545" strike="noStrike" u="none">
                <a:solidFill>
                  <a:srgbClr val="FEFEFE"/>
                </a:solidFill>
                <a:latin typeface="Lato"/>
                <a:ea typeface="Lato"/>
                <a:cs typeface="Lato"/>
                <a:sym typeface="Lato"/>
              </a:rPr>
              <a:t>tiv</a:t>
            </a:r>
            <a:r>
              <a:rPr lang="en-US" sz="1545" strike="noStrike" u="none">
                <a:solidFill>
                  <a:srgbClr val="FEFEFE"/>
                </a:solidFill>
                <a:latin typeface="Lato"/>
                <a:ea typeface="Lato"/>
                <a:cs typeface="Lato"/>
                <a:sym typeface="Lato"/>
              </a:rPr>
              <a:t>i</a:t>
            </a:r>
            <a:r>
              <a:rPr lang="en-US" sz="1545" strike="noStrike" u="none">
                <a:solidFill>
                  <a:srgbClr val="FEFEFE"/>
                </a:solidFill>
                <a:latin typeface="Lato"/>
                <a:ea typeface="Lato"/>
                <a:cs typeface="Lato"/>
                <a:sym typeface="Lato"/>
              </a:rPr>
              <a:t>t</a:t>
            </a:r>
            <a:r>
              <a:rPr lang="en-US" sz="1545" strike="noStrike" u="none">
                <a:solidFill>
                  <a:srgbClr val="FEFEFE"/>
                </a:solidFill>
                <a:latin typeface="Lato"/>
                <a:ea typeface="Lato"/>
                <a:cs typeface="Lato"/>
                <a:sym typeface="Lato"/>
              </a:rPr>
              <a:t>y</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S</a:t>
            </a:r>
            <a:r>
              <a:rPr lang="en-US" sz="1545" strike="noStrike" u="none">
                <a:solidFill>
                  <a:srgbClr val="FEFEFE"/>
                </a:solidFill>
                <a:latin typeface="Lato"/>
                <a:ea typeface="Lato"/>
                <a:cs typeface="Lato"/>
                <a:sym typeface="Lato"/>
              </a:rPr>
              <a:t>m</a:t>
            </a:r>
            <a:r>
              <a:rPr lang="en-US" sz="1545" strike="noStrike" u="none">
                <a:solidFill>
                  <a:srgbClr val="FEFEFE"/>
                </a:solidFill>
                <a:latin typeface="Lato"/>
                <a:ea typeface="Lato"/>
                <a:cs typeface="Lato"/>
                <a:sym typeface="Lato"/>
              </a:rPr>
              <a:t>o</a:t>
            </a:r>
            <a:r>
              <a:rPr lang="en-US" sz="1545" strike="noStrike" u="none">
                <a:solidFill>
                  <a:srgbClr val="FEFEFE"/>
                </a:solidFill>
                <a:latin typeface="Lato"/>
                <a:ea typeface="Lato"/>
                <a:cs typeface="Lato"/>
                <a:sym typeface="Lato"/>
              </a:rPr>
              <a:t>k</a:t>
            </a:r>
            <a:r>
              <a:rPr lang="en-US" sz="1545" strike="noStrike" u="none">
                <a:solidFill>
                  <a:srgbClr val="FEFEFE"/>
                </a:solidFill>
                <a:latin typeface="Lato"/>
                <a:ea typeface="Lato"/>
                <a:cs typeface="Lato"/>
                <a:sym typeface="Lato"/>
              </a:rPr>
              <a:t>ing </a:t>
            </a:r>
            <a:r>
              <a:rPr lang="en-US" sz="1545" strike="noStrike" u="none">
                <a:solidFill>
                  <a:srgbClr val="FEFEFE"/>
                </a:solidFill>
                <a:latin typeface="Lato"/>
                <a:ea typeface="Lato"/>
                <a:cs typeface="Lato"/>
                <a:sym typeface="Lato"/>
              </a:rPr>
              <a:t>H</a:t>
            </a:r>
            <a:r>
              <a:rPr lang="en-US" sz="1545" strike="noStrike" u="none">
                <a:solidFill>
                  <a:srgbClr val="FEFEFE"/>
                </a:solidFill>
                <a:latin typeface="Lato"/>
                <a:ea typeface="Lato"/>
                <a:cs typeface="Lato"/>
                <a:sym typeface="Lato"/>
              </a:rPr>
              <a:t>a</a:t>
            </a:r>
            <a:r>
              <a:rPr lang="en-US" sz="1545" strike="noStrike" u="none">
                <a:solidFill>
                  <a:srgbClr val="FEFEFE"/>
                </a:solidFill>
                <a:latin typeface="Lato"/>
                <a:ea typeface="Lato"/>
                <a:cs typeface="Lato"/>
                <a:sym typeface="Lato"/>
              </a:rPr>
              <a:t>bi</a:t>
            </a:r>
            <a:r>
              <a:rPr lang="en-US" sz="1545" strike="noStrike" u="none">
                <a:solidFill>
                  <a:srgbClr val="FEFEFE"/>
                </a:solidFill>
                <a:latin typeface="Lato"/>
                <a:ea typeface="Lato"/>
                <a:cs typeface="Lato"/>
                <a:sym typeface="Lato"/>
              </a:rPr>
              <a:t>t</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Alcoh</a:t>
            </a:r>
            <a:r>
              <a:rPr lang="en-US" sz="1545" strike="noStrike" u="none">
                <a:solidFill>
                  <a:srgbClr val="FEFEFE"/>
                </a:solidFill>
                <a:latin typeface="Lato"/>
                <a:ea typeface="Lato"/>
                <a:cs typeface="Lato"/>
                <a:sym typeface="Lato"/>
              </a:rPr>
              <a:t>o</a:t>
            </a:r>
            <a:r>
              <a:rPr lang="en-US" sz="1545" strike="noStrike" u="none">
                <a:solidFill>
                  <a:srgbClr val="FEFEFE"/>
                </a:solidFill>
                <a:latin typeface="Lato"/>
                <a:ea typeface="Lato"/>
                <a:cs typeface="Lato"/>
                <a:sym typeface="Lato"/>
              </a:rPr>
              <a:t>l</a:t>
            </a:r>
            <a:r>
              <a:rPr lang="en-US" sz="1545" strike="noStrike" u="none">
                <a:solidFill>
                  <a:srgbClr val="FEFEFE"/>
                </a:solidFill>
                <a:latin typeface="Lato"/>
                <a:ea typeface="Lato"/>
                <a:cs typeface="Lato"/>
                <a:sym typeface="Lato"/>
              </a:rPr>
              <a:t> </a:t>
            </a:r>
            <a:r>
              <a:rPr lang="en-US" sz="1545" strike="noStrike" u="none">
                <a:solidFill>
                  <a:srgbClr val="FEFEFE"/>
                </a:solidFill>
                <a:latin typeface="Lato"/>
                <a:ea typeface="Lato"/>
                <a:cs typeface="Lato"/>
                <a:sym typeface="Lato"/>
              </a:rPr>
              <a:t>C</a:t>
            </a:r>
            <a:r>
              <a:rPr lang="en-US" sz="1545" strike="noStrike" u="none">
                <a:solidFill>
                  <a:srgbClr val="FEFEFE"/>
                </a:solidFill>
                <a:latin typeface="Lato"/>
                <a:ea typeface="Lato"/>
                <a:cs typeface="Lato"/>
                <a:sym typeface="Lato"/>
              </a:rPr>
              <a:t>on</a:t>
            </a:r>
            <a:r>
              <a:rPr lang="en-US" sz="1545" strike="noStrike" u="none">
                <a:solidFill>
                  <a:srgbClr val="FEFEFE"/>
                </a:solidFill>
                <a:latin typeface="Lato"/>
                <a:ea typeface="Lato"/>
                <a:cs typeface="Lato"/>
                <a:sym typeface="Lato"/>
              </a:rPr>
              <a:t>sump</a:t>
            </a:r>
            <a:r>
              <a:rPr lang="en-US" sz="1545" strike="noStrike" u="none">
                <a:solidFill>
                  <a:srgbClr val="FEFEFE"/>
                </a:solidFill>
                <a:latin typeface="Lato"/>
                <a:ea typeface="Lato"/>
                <a:cs typeface="Lato"/>
                <a:sym typeface="Lato"/>
              </a:rPr>
              <a:t>tion</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S</a:t>
            </a:r>
            <a:r>
              <a:rPr lang="en-US" sz="1545" strike="noStrike" u="none">
                <a:solidFill>
                  <a:srgbClr val="FEFEFE"/>
                </a:solidFill>
                <a:latin typeface="Lato"/>
                <a:ea typeface="Lato"/>
                <a:cs typeface="Lato"/>
                <a:sym typeface="Lato"/>
              </a:rPr>
              <a:t>t</a:t>
            </a:r>
            <a:r>
              <a:rPr lang="en-US" sz="1545" strike="noStrike" u="none">
                <a:solidFill>
                  <a:srgbClr val="FEFEFE"/>
                </a:solidFill>
                <a:latin typeface="Lato"/>
                <a:ea typeface="Lato"/>
                <a:cs typeface="Lato"/>
                <a:sym typeface="Lato"/>
              </a:rPr>
              <a:t>ress</a:t>
            </a:r>
            <a:r>
              <a:rPr lang="en-US" sz="1545" strike="noStrike" u="none">
                <a:solidFill>
                  <a:srgbClr val="FEFEFE"/>
                </a:solidFill>
                <a:latin typeface="Lato"/>
                <a:ea typeface="Lato"/>
                <a:cs typeface="Lato"/>
                <a:sym typeface="Lato"/>
              </a:rPr>
              <a:t> </a:t>
            </a:r>
            <a:r>
              <a:rPr lang="en-US" sz="1545" strike="noStrike" u="none">
                <a:solidFill>
                  <a:srgbClr val="FEFEFE"/>
                </a:solidFill>
                <a:latin typeface="Lato"/>
                <a:ea typeface="Lato"/>
                <a:cs typeface="Lato"/>
                <a:sym typeface="Lato"/>
              </a:rPr>
              <a:t>L</a:t>
            </a:r>
            <a:r>
              <a:rPr lang="en-US" sz="1545" strike="noStrike" u="none">
                <a:solidFill>
                  <a:srgbClr val="FEFEFE"/>
                </a:solidFill>
                <a:latin typeface="Lato"/>
                <a:ea typeface="Lato"/>
                <a:cs typeface="Lato"/>
                <a:sym typeface="Lato"/>
              </a:rPr>
              <a:t>e</a:t>
            </a:r>
            <a:r>
              <a:rPr lang="en-US" sz="1545" strike="noStrike" u="none">
                <a:solidFill>
                  <a:srgbClr val="FEFEFE"/>
                </a:solidFill>
                <a:latin typeface="Lato"/>
                <a:ea typeface="Lato"/>
                <a:cs typeface="Lato"/>
                <a:sym typeface="Lato"/>
              </a:rPr>
              <a:t>v</a:t>
            </a:r>
            <a:r>
              <a:rPr lang="en-US" sz="1545" strike="noStrike" u="none">
                <a:solidFill>
                  <a:srgbClr val="FEFEFE"/>
                </a:solidFill>
                <a:latin typeface="Lato"/>
                <a:ea typeface="Lato"/>
                <a:cs typeface="Lato"/>
                <a:sym typeface="Lato"/>
              </a:rPr>
              <a:t>e</a:t>
            </a:r>
            <a:r>
              <a:rPr lang="en-US" sz="1545" strike="noStrike" u="none">
                <a:solidFill>
                  <a:srgbClr val="FEFEFE"/>
                </a:solidFill>
                <a:latin typeface="Lato"/>
                <a:ea typeface="Lato"/>
                <a:cs typeface="Lato"/>
                <a:sym typeface="Lato"/>
              </a:rPr>
              <a:t>l</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M</a:t>
            </a:r>
            <a:r>
              <a:rPr lang="en-US" sz="1545" strike="noStrike" u="none">
                <a:solidFill>
                  <a:srgbClr val="FEFEFE"/>
                </a:solidFill>
                <a:latin typeface="Lato"/>
                <a:ea typeface="Lato"/>
                <a:cs typeface="Lato"/>
                <a:sym typeface="Lato"/>
              </a:rPr>
              <a:t>ental </a:t>
            </a:r>
            <a:r>
              <a:rPr lang="en-US" sz="1545" strike="noStrike" u="none">
                <a:solidFill>
                  <a:srgbClr val="FEFEFE"/>
                </a:solidFill>
                <a:latin typeface="Lato"/>
                <a:ea typeface="Lato"/>
                <a:cs typeface="Lato"/>
                <a:sym typeface="Lato"/>
              </a:rPr>
              <a:t>H</a:t>
            </a:r>
            <a:r>
              <a:rPr lang="en-US" sz="1545" strike="noStrike" u="none">
                <a:solidFill>
                  <a:srgbClr val="FEFEFE"/>
                </a:solidFill>
                <a:latin typeface="Lato"/>
                <a:ea typeface="Lato"/>
                <a:cs typeface="Lato"/>
                <a:sym typeface="Lato"/>
              </a:rPr>
              <a:t>e</a:t>
            </a:r>
            <a:r>
              <a:rPr lang="en-US" sz="1545" strike="noStrike" u="none">
                <a:solidFill>
                  <a:srgbClr val="FEFEFE"/>
                </a:solidFill>
                <a:latin typeface="Lato"/>
                <a:ea typeface="Lato"/>
                <a:cs typeface="Lato"/>
                <a:sym typeface="Lato"/>
              </a:rPr>
              <a:t>a</a:t>
            </a:r>
            <a:r>
              <a:rPr lang="en-US" sz="1545" strike="noStrike" u="none">
                <a:solidFill>
                  <a:srgbClr val="FEFEFE"/>
                </a:solidFill>
                <a:latin typeface="Lato"/>
                <a:ea typeface="Lato"/>
                <a:cs typeface="Lato"/>
                <a:sym typeface="Lato"/>
              </a:rPr>
              <a:t>lth</a:t>
            </a:r>
            <a:r>
              <a:rPr lang="en-US" sz="1545" strike="noStrike" u="none">
                <a:solidFill>
                  <a:srgbClr val="FEFEFE"/>
                </a:solidFill>
                <a:latin typeface="Lato"/>
                <a:ea typeface="Lato"/>
                <a:cs typeface="Lato"/>
                <a:sym typeface="Lato"/>
              </a:rPr>
              <a:t> C</a:t>
            </a:r>
            <a:r>
              <a:rPr lang="en-US" sz="1545" strike="noStrike" u="none">
                <a:solidFill>
                  <a:srgbClr val="FEFEFE"/>
                </a:solidFill>
                <a:latin typeface="Lato"/>
                <a:ea typeface="Lato"/>
                <a:cs typeface="Lato"/>
                <a:sym typeface="Lato"/>
              </a:rPr>
              <a:t>o</a:t>
            </a:r>
            <a:r>
              <a:rPr lang="en-US" sz="1545" strike="noStrike" u="none">
                <a:solidFill>
                  <a:srgbClr val="FEFEFE"/>
                </a:solidFill>
                <a:latin typeface="Lato"/>
                <a:ea typeface="Lato"/>
                <a:cs typeface="Lato"/>
                <a:sym typeface="Lato"/>
              </a:rPr>
              <a:t>n</a:t>
            </a:r>
            <a:r>
              <a:rPr lang="en-US" sz="1545" strike="noStrike" u="none">
                <a:solidFill>
                  <a:srgbClr val="FEFEFE"/>
                </a:solidFill>
                <a:latin typeface="Lato"/>
                <a:ea typeface="Lato"/>
                <a:cs typeface="Lato"/>
                <a:sym typeface="Lato"/>
              </a:rPr>
              <a:t>d</a:t>
            </a:r>
            <a:r>
              <a:rPr lang="en-US" sz="1545" strike="noStrike" u="none">
                <a:solidFill>
                  <a:srgbClr val="FEFEFE"/>
                </a:solidFill>
                <a:latin typeface="Lato"/>
                <a:ea typeface="Lato"/>
                <a:cs typeface="Lato"/>
                <a:sym typeface="Lato"/>
              </a:rPr>
              <a:t>i</a:t>
            </a:r>
            <a:r>
              <a:rPr lang="en-US" sz="1545" strike="noStrike" u="none">
                <a:solidFill>
                  <a:srgbClr val="FEFEFE"/>
                </a:solidFill>
                <a:latin typeface="Lato"/>
                <a:ea typeface="Lato"/>
                <a:cs typeface="Lato"/>
                <a:sym typeface="Lato"/>
              </a:rPr>
              <a:t>ti</a:t>
            </a:r>
            <a:r>
              <a:rPr lang="en-US" sz="1545" strike="noStrike" u="none">
                <a:solidFill>
                  <a:srgbClr val="FEFEFE"/>
                </a:solidFill>
                <a:latin typeface="Lato"/>
                <a:ea typeface="Lato"/>
                <a:cs typeface="Lato"/>
                <a:sym typeface="Lato"/>
              </a:rPr>
              <a:t>o</a:t>
            </a:r>
            <a:r>
              <a:rPr lang="en-US" sz="1545" strike="noStrike" u="none">
                <a:solidFill>
                  <a:srgbClr val="FEFEFE"/>
                </a:solidFill>
                <a:latin typeface="Lato"/>
                <a:ea typeface="Lato"/>
                <a:cs typeface="Lato"/>
                <a:sym typeface="Lato"/>
              </a:rPr>
              <a:t>n</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Con</a:t>
            </a:r>
            <a:r>
              <a:rPr lang="en-US" sz="1545" strike="noStrike" u="none">
                <a:solidFill>
                  <a:srgbClr val="FEFEFE"/>
                </a:solidFill>
                <a:latin typeface="Lato"/>
                <a:ea typeface="Lato"/>
                <a:cs typeface="Lato"/>
                <a:sym typeface="Lato"/>
              </a:rPr>
              <a:t>s</a:t>
            </a:r>
            <a:r>
              <a:rPr lang="en-US" sz="1545" strike="noStrike" u="none">
                <a:solidFill>
                  <a:srgbClr val="FEFEFE"/>
                </a:solidFill>
                <a:latin typeface="Lato"/>
                <a:ea typeface="Lato"/>
                <a:cs typeface="Lato"/>
                <a:sym typeface="Lato"/>
              </a:rPr>
              <a:t>ulta</a:t>
            </a:r>
            <a:r>
              <a:rPr lang="en-US" sz="1545" strike="noStrike" u="none">
                <a:solidFill>
                  <a:srgbClr val="FEFEFE"/>
                </a:solidFill>
                <a:latin typeface="Lato"/>
                <a:ea typeface="Lato"/>
                <a:cs typeface="Lato"/>
                <a:sym typeface="Lato"/>
              </a:rPr>
              <a:t>t</a:t>
            </a:r>
            <a:r>
              <a:rPr lang="en-US" sz="1545" strike="noStrike" u="none">
                <a:solidFill>
                  <a:srgbClr val="FEFEFE"/>
                </a:solidFill>
                <a:latin typeface="Lato"/>
                <a:ea typeface="Lato"/>
                <a:cs typeface="Lato"/>
                <a:sym typeface="Lato"/>
              </a:rPr>
              <a:t>i</a:t>
            </a:r>
            <a:r>
              <a:rPr lang="en-US" sz="1545" strike="noStrike" u="none">
                <a:solidFill>
                  <a:srgbClr val="FEFEFE"/>
                </a:solidFill>
                <a:latin typeface="Lato"/>
                <a:ea typeface="Lato"/>
                <a:cs typeface="Lato"/>
                <a:sym typeface="Lato"/>
              </a:rPr>
              <a:t>o</a:t>
            </a:r>
            <a:r>
              <a:rPr lang="en-US" sz="1545" strike="noStrike" u="none">
                <a:solidFill>
                  <a:srgbClr val="FEFEFE"/>
                </a:solidFill>
                <a:latin typeface="Lato"/>
                <a:ea typeface="Lato"/>
                <a:cs typeface="Lato"/>
                <a:sym typeface="Lato"/>
              </a:rPr>
              <a:t>n</a:t>
            </a:r>
            <a:r>
              <a:rPr lang="en-US" sz="1545" strike="noStrike" u="none">
                <a:solidFill>
                  <a:srgbClr val="FEFEFE"/>
                </a:solidFill>
                <a:latin typeface="Lato"/>
                <a:ea typeface="Lato"/>
                <a:cs typeface="Lato"/>
                <a:sym typeface="Lato"/>
              </a:rPr>
              <a:t> </a:t>
            </a:r>
            <a:r>
              <a:rPr lang="en-US" sz="1545" strike="noStrike" u="none">
                <a:solidFill>
                  <a:srgbClr val="FEFEFE"/>
                </a:solidFill>
                <a:latin typeface="Lato"/>
                <a:ea typeface="Lato"/>
                <a:cs typeface="Lato"/>
                <a:sym typeface="Lato"/>
              </a:rPr>
              <a:t>Hi</a:t>
            </a:r>
            <a:r>
              <a:rPr lang="en-US" sz="1545" strike="noStrike" u="none">
                <a:solidFill>
                  <a:srgbClr val="FEFEFE"/>
                </a:solidFill>
                <a:latin typeface="Lato"/>
                <a:ea typeface="Lato"/>
                <a:cs typeface="Lato"/>
                <a:sym typeface="Lato"/>
              </a:rPr>
              <a:t>s</a:t>
            </a:r>
            <a:r>
              <a:rPr lang="en-US" sz="1545" strike="noStrike" u="none">
                <a:solidFill>
                  <a:srgbClr val="FEFEFE"/>
                </a:solidFill>
                <a:latin typeface="Lato"/>
                <a:ea typeface="Lato"/>
                <a:cs typeface="Lato"/>
                <a:sym typeface="Lato"/>
              </a:rPr>
              <a:t>to</a:t>
            </a:r>
            <a:r>
              <a:rPr lang="en-US" sz="1545" strike="noStrike" u="none">
                <a:solidFill>
                  <a:srgbClr val="FEFEFE"/>
                </a:solidFill>
                <a:latin typeface="Lato"/>
                <a:ea typeface="Lato"/>
                <a:cs typeface="Lato"/>
                <a:sym typeface="Lato"/>
              </a:rPr>
              <a:t>r</a:t>
            </a:r>
            <a:r>
              <a:rPr lang="en-US" sz="1545" strike="noStrike" u="none">
                <a:solidFill>
                  <a:srgbClr val="FEFEFE"/>
                </a:solidFill>
                <a:latin typeface="Lato"/>
                <a:ea typeface="Lato"/>
                <a:cs typeface="Lato"/>
                <a:sym typeface="Lato"/>
              </a:rPr>
              <a:t>y</a:t>
            </a:r>
          </a:p>
          <a:p>
            <a:pPr algn="l" marL="333774" indent="-166887" lvl="1">
              <a:lnSpc>
                <a:spcPts val="1700"/>
              </a:lnSpc>
              <a:spcBef>
                <a:spcPct val="0"/>
              </a:spcBef>
              <a:buFont typeface="Arial"/>
              <a:buChar char="•"/>
            </a:pPr>
            <a:r>
              <a:rPr lang="en-US" sz="1545" strike="noStrike" u="none">
                <a:solidFill>
                  <a:srgbClr val="FEFEFE"/>
                </a:solidFill>
                <a:latin typeface="Lato"/>
                <a:ea typeface="Lato"/>
                <a:cs typeface="Lato"/>
                <a:sym typeface="Lato"/>
              </a:rPr>
              <a:t>M</a:t>
            </a:r>
            <a:r>
              <a:rPr lang="en-US" sz="1545" strike="noStrike" u="none">
                <a:solidFill>
                  <a:srgbClr val="FEFEFE"/>
                </a:solidFill>
                <a:latin typeface="Lato"/>
                <a:ea typeface="Lato"/>
                <a:cs typeface="Lato"/>
                <a:sym typeface="Lato"/>
              </a:rPr>
              <a:t>e</a:t>
            </a:r>
            <a:r>
              <a:rPr lang="en-US" sz="1545" strike="noStrike" u="none">
                <a:solidFill>
                  <a:srgbClr val="FEFEFE"/>
                </a:solidFill>
                <a:latin typeface="Lato"/>
                <a:ea typeface="Lato"/>
                <a:cs typeface="Lato"/>
                <a:sym typeface="Lato"/>
              </a:rPr>
              <a:t>d</a:t>
            </a:r>
            <a:r>
              <a:rPr lang="en-US" sz="1545" strike="noStrike" u="none">
                <a:solidFill>
                  <a:srgbClr val="FEFEFE"/>
                </a:solidFill>
                <a:latin typeface="Lato"/>
                <a:ea typeface="Lato"/>
                <a:cs typeface="Lato"/>
                <a:sym typeface="Lato"/>
              </a:rPr>
              <a:t>i</a:t>
            </a:r>
            <a:r>
              <a:rPr lang="en-US" sz="1545" strike="noStrike" u="none">
                <a:solidFill>
                  <a:srgbClr val="FEFEFE"/>
                </a:solidFill>
                <a:latin typeface="Lato"/>
                <a:ea typeface="Lato"/>
                <a:cs typeface="Lato"/>
                <a:sym typeface="Lato"/>
              </a:rPr>
              <a:t>ca</a:t>
            </a:r>
            <a:r>
              <a:rPr lang="en-US" sz="1545" strike="noStrike" u="none">
                <a:solidFill>
                  <a:srgbClr val="FEFEFE"/>
                </a:solidFill>
                <a:latin typeface="Lato"/>
                <a:ea typeface="Lato"/>
                <a:cs typeface="Lato"/>
                <a:sym typeface="Lato"/>
              </a:rPr>
              <a:t>t</a:t>
            </a:r>
            <a:r>
              <a:rPr lang="en-US" sz="1545" strike="noStrike" u="none">
                <a:solidFill>
                  <a:srgbClr val="FEFEFE"/>
                </a:solidFill>
                <a:latin typeface="Lato"/>
                <a:ea typeface="Lato"/>
                <a:cs typeface="Lato"/>
                <a:sym typeface="Lato"/>
              </a:rPr>
              <a:t>i</a:t>
            </a:r>
            <a:r>
              <a:rPr lang="en-US" sz="1545" strike="noStrike" u="none">
                <a:solidFill>
                  <a:srgbClr val="FEFEFE"/>
                </a:solidFill>
                <a:latin typeface="Lato"/>
                <a:ea typeface="Lato"/>
                <a:cs typeface="Lato"/>
                <a:sym typeface="Lato"/>
              </a:rPr>
              <a:t>on </a:t>
            </a:r>
            <a:r>
              <a:rPr lang="en-US" sz="1545" strike="noStrike" u="none">
                <a:solidFill>
                  <a:srgbClr val="FEFEFE"/>
                </a:solidFill>
                <a:latin typeface="Lato"/>
                <a:ea typeface="Lato"/>
                <a:cs typeface="Lato"/>
                <a:sym typeface="Lato"/>
              </a:rPr>
              <a:t>U</a:t>
            </a:r>
            <a:r>
              <a:rPr lang="en-US" sz="1545" strike="noStrike" u="none">
                <a:solidFill>
                  <a:srgbClr val="FEFEFE"/>
                </a:solidFill>
                <a:latin typeface="Lato"/>
                <a:ea typeface="Lato"/>
                <a:cs typeface="Lato"/>
                <a:sym typeface="Lato"/>
              </a:rPr>
              <a:t>sa</a:t>
            </a:r>
            <a:r>
              <a:rPr lang="en-US" sz="1545" strike="noStrike" u="none">
                <a:solidFill>
                  <a:srgbClr val="FEFEFE"/>
                </a:solidFill>
                <a:latin typeface="Lato"/>
                <a:ea typeface="Lato"/>
                <a:cs typeface="Lato"/>
                <a:sym typeface="Lato"/>
              </a:rPr>
              <a:t>g</a:t>
            </a:r>
            <a:r>
              <a:rPr lang="en-US" sz="1545" strike="noStrike" u="none">
                <a:solidFill>
                  <a:srgbClr val="FEFEFE"/>
                </a:solidFill>
                <a:latin typeface="Lato"/>
                <a:ea typeface="Lato"/>
                <a:cs typeface="Lato"/>
                <a:sym typeface="Lato"/>
              </a:rPr>
              <a:t>e</a:t>
            </a:r>
          </a:p>
          <a:p>
            <a:pPr algn="l" marL="0" indent="0" lvl="0">
              <a:lnSpc>
                <a:spcPts val="1700"/>
              </a:lnSpc>
              <a:spcBef>
                <a:spcPct val="0"/>
              </a:spcBef>
            </a:pPr>
          </a:p>
        </p:txBody>
      </p:sp>
      <p:sp>
        <p:nvSpPr>
          <p:cNvPr name="TextBox 19" id="19"/>
          <p:cNvSpPr txBox="true"/>
          <p:nvPr/>
        </p:nvSpPr>
        <p:spPr>
          <a:xfrm rot="0">
            <a:off x="255476" y="521297"/>
            <a:ext cx="5473131" cy="512684"/>
          </a:xfrm>
          <a:prstGeom prst="rect">
            <a:avLst/>
          </a:prstGeom>
        </p:spPr>
        <p:txBody>
          <a:bodyPr anchor="t" rtlCol="false" tIns="0" lIns="0" bIns="0" rIns="0">
            <a:spAutoFit/>
          </a:bodyPr>
          <a:lstStyle/>
          <a:p>
            <a:pPr algn="l">
              <a:lnSpc>
                <a:spcPts val="3980"/>
              </a:lnSpc>
            </a:pPr>
            <a:r>
              <a:rPr lang="en-US" sz="3618" b="true">
                <a:solidFill>
                  <a:srgbClr val="CC78FF"/>
                </a:solidFill>
                <a:latin typeface="Red Hat Display Bold"/>
                <a:ea typeface="Red Hat Display Bold"/>
                <a:cs typeface="Red Hat Display Bold"/>
                <a:sym typeface="Red Hat Display Bold"/>
              </a:rPr>
              <a:t>Data</a:t>
            </a:r>
            <a:r>
              <a:rPr lang="en-US" sz="3618" b="true">
                <a:solidFill>
                  <a:srgbClr val="CC78FF"/>
                </a:solidFill>
                <a:latin typeface="Red Hat Display Bold"/>
                <a:ea typeface="Red Hat Display Bold"/>
                <a:cs typeface="Red Hat Display Bold"/>
                <a:sym typeface="Red Hat Display Bold"/>
              </a:rPr>
              <a:t>set Overview</a:t>
            </a:r>
          </a:p>
        </p:txBody>
      </p:sp>
      <p:sp>
        <p:nvSpPr>
          <p:cNvPr name="TextBox 20" id="20"/>
          <p:cNvSpPr txBox="true"/>
          <p:nvPr/>
        </p:nvSpPr>
        <p:spPr>
          <a:xfrm rot="0">
            <a:off x="5283177" y="3855414"/>
            <a:ext cx="4211428" cy="397250"/>
          </a:xfrm>
          <a:prstGeom prst="rect">
            <a:avLst/>
          </a:prstGeom>
        </p:spPr>
        <p:txBody>
          <a:bodyPr anchor="t" rtlCol="false" tIns="0" lIns="0" bIns="0" rIns="0">
            <a:spAutoFit/>
          </a:bodyPr>
          <a:lstStyle/>
          <a:p>
            <a:pPr algn="l" marL="0" indent="0" lvl="0">
              <a:lnSpc>
                <a:spcPts val="3047"/>
              </a:lnSpc>
              <a:spcBef>
                <a:spcPct val="0"/>
              </a:spcBef>
            </a:pPr>
            <a:r>
              <a:rPr lang="en-US" b="true" sz="2770">
                <a:solidFill>
                  <a:srgbClr val="FEFEFE"/>
                </a:solidFill>
                <a:latin typeface="Lato Bold"/>
                <a:ea typeface="Lato Bold"/>
                <a:cs typeface="Lato Bold"/>
                <a:sym typeface="Lato Bold"/>
              </a:rPr>
              <a:t>Da</a:t>
            </a:r>
            <a:r>
              <a:rPr lang="en-US" b="true" sz="2770" strike="noStrike" u="none">
                <a:solidFill>
                  <a:srgbClr val="FEFEFE"/>
                </a:solidFill>
                <a:latin typeface="Lato Bold"/>
                <a:ea typeface="Lato Bold"/>
                <a:cs typeface="Lato Bold"/>
                <a:sym typeface="Lato Bold"/>
              </a:rPr>
              <a:t>taset Categories</a:t>
            </a:r>
          </a:p>
        </p:txBody>
      </p:sp>
      <p:sp>
        <p:nvSpPr>
          <p:cNvPr name="TextBox 21" id="21"/>
          <p:cNvSpPr txBox="true"/>
          <p:nvPr/>
        </p:nvSpPr>
        <p:spPr>
          <a:xfrm rot="0">
            <a:off x="137630" y="3676650"/>
            <a:ext cx="4208563" cy="337934"/>
          </a:xfrm>
          <a:prstGeom prst="rect">
            <a:avLst/>
          </a:prstGeom>
        </p:spPr>
        <p:txBody>
          <a:bodyPr anchor="t" rtlCol="false" tIns="0" lIns="0" bIns="0" rIns="0">
            <a:spAutoFit/>
          </a:bodyPr>
          <a:lstStyle/>
          <a:p>
            <a:pPr algn="l" marL="0" indent="0" lvl="0">
              <a:lnSpc>
                <a:spcPts val="2612"/>
              </a:lnSpc>
              <a:spcBef>
                <a:spcPct val="0"/>
              </a:spcBef>
            </a:pPr>
            <a:r>
              <a:rPr lang="en-US" b="true" sz="2375">
                <a:solidFill>
                  <a:srgbClr val="FEFEFE"/>
                </a:solidFill>
                <a:latin typeface="Lato Bold"/>
                <a:ea typeface="Lato Bold"/>
                <a:cs typeface="Lato Bold"/>
                <a:sym typeface="Lato Bold"/>
              </a:rPr>
              <a:t>M</a:t>
            </a:r>
            <a:r>
              <a:rPr lang="en-US" b="true" sz="2375" strike="noStrike" u="none">
                <a:solidFill>
                  <a:srgbClr val="FEFEFE"/>
                </a:solidFill>
                <a:latin typeface="Lato Bold"/>
                <a:ea typeface="Lato Bold"/>
                <a:cs typeface="Lato Bold"/>
                <a:sym typeface="Lato Bold"/>
              </a:rPr>
              <a:t>ain Attributes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10800000">
            <a:off x="7675678" y="6088184"/>
            <a:ext cx="4155845" cy="2077922"/>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4" id="4"/>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5" id="5"/>
          <p:cNvGrpSpPr/>
          <p:nvPr/>
        </p:nvGrpSpPr>
        <p:grpSpPr>
          <a:xfrm rot="0">
            <a:off x="-2219507" y="-1318380"/>
            <a:ext cx="4155845" cy="2077922"/>
            <a:chOff x="0" y="0"/>
            <a:chExt cx="660400" cy="330200"/>
          </a:xfrm>
        </p:grpSpPr>
        <p:sp>
          <p:nvSpPr>
            <p:cNvPr name="Freeform 6" id="6"/>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7" id="7"/>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8" id="8"/>
          <p:cNvSpPr/>
          <p:nvPr/>
        </p:nvSpPr>
        <p:spPr>
          <a:xfrm flipH="false" flipV="false" rot="2476658">
            <a:off x="-2531588" y="5818978"/>
            <a:ext cx="6227316" cy="2038031"/>
          </a:xfrm>
          <a:custGeom>
            <a:avLst/>
            <a:gdLst/>
            <a:ahLst/>
            <a:cxnLst/>
            <a:rect r="r" b="b" t="t" l="l"/>
            <a:pathLst>
              <a:path h="2038031" w="6227316">
                <a:moveTo>
                  <a:pt x="0" y="0"/>
                </a:moveTo>
                <a:lnTo>
                  <a:pt x="6227316" y="0"/>
                </a:lnTo>
                <a:lnTo>
                  <a:pt x="6227316" y="2038031"/>
                </a:lnTo>
                <a:lnTo>
                  <a:pt x="0" y="20380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017317" y="2388281"/>
            <a:ext cx="3781596" cy="2762209"/>
          </a:xfrm>
          <a:custGeom>
            <a:avLst/>
            <a:gdLst/>
            <a:ahLst/>
            <a:cxnLst/>
            <a:rect r="r" b="b" t="t" l="l"/>
            <a:pathLst>
              <a:path h="2762209" w="3781596">
                <a:moveTo>
                  <a:pt x="0" y="0"/>
                </a:moveTo>
                <a:lnTo>
                  <a:pt x="3781597" y="0"/>
                </a:lnTo>
                <a:lnTo>
                  <a:pt x="3781597" y="2762209"/>
                </a:lnTo>
                <a:lnTo>
                  <a:pt x="0" y="2762209"/>
                </a:lnTo>
                <a:lnTo>
                  <a:pt x="0" y="0"/>
                </a:lnTo>
                <a:close/>
              </a:path>
            </a:pathLst>
          </a:custGeom>
          <a:blipFill>
            <a:blip r:embed="rId4"/>
            <a:stretch>
              <a:fillRect l="0" t="0" r="0" b="0"/>
            </a:stretch>
          </a:blipFill>
        </p:spPr>
      </p:sp>
      <p:sp>
        <p:nvSpPr>
          <p:cNvPr name="Freeform 10" id="10"/>
          <p:cNvSpPr/>
          <p:nvPr/>
        </p:nvSpPr>
        <p:spPr>
          <a:xfrm flipH="false" flipV="false" rot="0">
            <a:off x="5050493" y="5243672"/>
            <a:ext cx="4457083" cy="2049854"/>
          </a:xfrm>
          <a:custGeom>
            <a:avLst/>
            <a:gdLst/>
            <a:ahLst/>
            <a:cxnLst/>
            <a:rect r="r" b="b" t="t" l="l"/>
            <a:pathLst>
              <a:path h="2049854" w="4457083">
                <a:moveTo>
                  <a:pt x="0" y="0"/>
                </a:moveTo>
                <a:lnTo>
                  <a:pt x="4457083" y="0"/>
                </a:lnTo>
                <a:lnTo>
                  <a:pt x="4457083" y="2049854"/>
                </a:lnTo>
                <a:lnTo>
                  <a:pt x="0" y="2049854"/>
                </a:lnTo>
                <a:lnTo>
                  <a:pt x="0" y="0"/>
                </a:lnTo>
                <a:close/>
              </a:path>
            </a:pathLst>
          </a:custGeom>
          <a:blipFill>
            <a:blip r:embed="rId5"/>
            <a:stretch>
              <a:fillRect l="0" t="0" r="0" b="0"/>
            </a:stretch>
          </a:blipFill>
        </p:spPr>
      </p:sp>
      <p:sp>
        <p:nvSpPr>
          <p:cNvPr name="TextBox 11" id="11"/>
          <p:cNvSpPr txBox="true"/>
          <p:nvPr/>
        </p:nvSpPr>
        <p:spPr>
          <a:xfrm rot="0">
            <a:off x="2091275" y="202467"/>
            <a:ext cx="3926042" cy="1248120"/>
          </a:xfrm>
          <a:prstGeom prst="rect">
            <a:avLst/>
          </a:prstGeom>
        </p:spPr>
        <p:txBody>
          <a:bodyPr anchor="t" rtlCol="false" tIns="0" lIns="0" bIns="0" rIns="0">
            <a:spAutoFit/>
          </a:bodyPr>
          <a:lstStyle/>
          <a:p>
            <a:pPr algn="l">
              <a:lnSpc>
                <a:spcPts val="4974"/>
              </a:lnSpc>
            </a:pPr>
            <a:r>
              <a:rPr lang="en-US" sz="4521" b="true">
                <a:solidFill>
                  <a:srgbClr val="CC78FF"/>
                </a:solidFill>
                <a:latin typeface="Red Hat Display Bold"/>
                <a:ea typeface="Red Hat Display Bold"/>
                <a:cs typeface="Red Hat Display Bold"/>
                <a:sym typeface="Red Hat Display Bold"/>
              </a:rPr>
              <a:t>DA</a:t>
            </a:r>
            <a:r>
              <a:rPr lang="en-US" b="true" sz="4521">
                <a:solidFill>
                  <a:srgbClr val="CC78FF"/>
                </a:solidFill>
                <a:latin typeface="Red Hat Display Bold"/>
                <a:ea typeface="Red Hat Display Bold"/>
                <a:cs typeface="Red Hat Display Bold"/>
                <a:sym typeface="Red Hat Display Bold"/>
              </a:rPr>
              <a:t>SHBOARD OVERVIEW</a:t>
            </a:r>
          </a:p>
        </p:txBody>
      </p:sp>
      <p:sp>
        <p:nvSpPr>
          <p:cNvPr name="TextBox 12" id="12"/>
          <p:cNvSpPr txBox="true"/>
          <p:nvPr/>
        </p:nvSpPr>
        <p:spPr>
          <a:xfrm rot="0">
            <a:off x="199622" y="1430016"/>
            <a:ext cx="4677178" cy="2227584"/>
          </a:xfrm>
          <a:prstGeom prst="rect">
            <a:avLst/>
          </a:prstGeom>
        </p:spPr>
        <p:txBody>
          <a:bodyPr anchor="t" rtlCol="false" tIns="0" lIns="0" bIns="0" rIns="0">
            <a:spAutoFit/>
          </a:bodyPr>
          <a:lstStyle/>
          <a:p>
            <a:pPr algn="l">
              <a:lnSpc>
                <a:spcPts val="1937"/>
              </a:lnSpc>
            </a:pPr>
            <a:r>
              <a:rPr lang="en-US" sz="1761">
                <a:solidFill>
                  <a:srgbClr val="FEFEFE"/>
                </a:solidFill>
                <a:latin typeface="Lato"/>
                <a:ea typeface="Lato"/>
                <a:cs typeface="Lato"/>
                <a:sym typeface="Lato"/>
              </a:rPr>
              <a:t>The Overview</a:t>
            </a:r>
            <a:r>
              <a:rPr lang="en-US" sz="1761">
                <a:solidFill>
                  <a:srgbClr val="FEFEFE"/>
                </a:solidFill>
                <a:latin typeface="Lato"/>
                <a:ea typeface="Lato"/>
                <a:cs typeface="Lato"/>
                <a:sym typeface="Lato"/>
              </a:rPr>
              <a:t> Dashboard provides a high-level summary of the dataset through key performance indicators (KPIs) and interactive visualizations. It helps users quickly understand the overall distribution of respondents, demographic characteristics, and mental health indicators before exploring the data in more detail.</a:t>
            </a:r>
          </a:p>
          <a:p>
            <a:pPr algn="l">
              <a:lnSpc>
                <a:spcPts val="1937"/>
              </a:lnSpc>
            </a:pPr>
          </a:p>
        </p:txBody>
      </p:sp>
      <p:sp>
        <p:nvSpPr>
          <p:cNvPr name="TextBox 13" id="13"/>
          <p:cNvSpPr txBox="true"/>
          <p:nvPr/>
        </p:nvSpPr>
        <p:spPr>
          <a:xfrm rot="0">
            <a:off x="199622" y="4478655"/>
            <a:ext cx="2872563" cy="2105025"/>
          </a:xfrm>
          <a:prstGeom prst="rect">
            <a:avLst/>
          </a:prstGeom>
        </p:spPr>
        <p:txBody>
          <a:bodyPr anchor="t" rtlCol="false" tIns="0" lIns="0" bIns="0" rIns="0">
            <a:spAutoFit/>
          </a:bodyPr>
          <a:lstStyle/>
          <a:p>
            <a:pPr algn="l" marL="323852" indent="-161926" lvl="1">
              <a:lnSpc>
                <a:spcPts val="1650"/>
              </a:lnSpc>
              <a:buFont typeface="Arial"/>
              <a:buChar char="•"/>
            </a:pPr>
            <a:r>
              <a:rPr lang="en-US" sz="1500" i="true">
                <a:solidFill>
                  <a:srgbClr val="FEFEFE"/>
                </a:solidFill>
                <a:latin typeface="Lato Italics"/>
                <a:ea typeface="Lato Italics"/>
                <a:cs typeface="Lato Italics"/>
                <a:sym typeface="Lato Italics"/>
              </a:rPr>
              <a:t>KPI Cards summar</a:t>
            </a:r>
            <a:r>
              <a:rPr lang="en-US" sz="1500" i="true">
                <a:solidFill>
                  <a:srgbClr val="FEFEFE"/>
                </a:solidFill>
                <a:latin typeface="Lato Italics"/>
                <a:ea typeface="Lato Italics"/>
                <a:cs typeface="Lato Italics"/>
                <a:sym typeface="Lato Italics"/>
              </a:rPr>
              <a:t>izing the most important metrics.</a:t>
            </a:r>
          </a:p>
          <a:p>
            <a:pPr algn="l" marL="323852" indent="-161926" lvl="1">
              <a:lnSpc>
                <a:spcPts val="1650"/>
              </a:lnSpc>
              <a:buFont typeface="Arial"/>
              <a:buChar char="•"/>
            </a:pPr>
            <a:r>
              <a:rPr lang="en-US" sz="1500" i="true">
                <a:solidFill>
                  <a:srgbClr val="FEFEFE"/>
                </a:solidFill>
                <a:latin typeface="Lato Italics"/>
                <a:ea typeface="Lato Italics"/>
                <a:cs typeface="Lato Italics"/>
                <a:sym typeface="Lato Italics"/>
              </a:rPr>
              <a:t>Demographic distribution of respondents.</a:t>
            </a:r>
          </a:p>
          <a:p>
            <a:pPr algn="l" marL="323852" indent="-161926" lvl="1">
              <a:lnSpc>
                <a:spcPts val="1650"/>
              </a:lnSpc>
              <a:buFont typeface="Arial"/>
              <a:buChar char="•"/>
            </a:pPr>
            <a:r>
              <a:rPr lang="en-US" sz="1500" i="true">
                <a:solidFill>
                  <a:srgbClr val="FEFEFE"/>
                </a:solidFill>
                <a:latin typeface="Lato Italics"/>
                <a:ea typeface="Lato Italics"/>
                <a:cs typeface="Lato Italics"/>
                <a:sym typeface="Lato Italics"/>
              </a:rPr>
              <a:t>Mental health condition overview.</a:t>
            </a:r>
          </a:p>
          <a:p>
            <a:pPr algn="l" marL="323852" indent="-161926" lvl="1">
              <a:lnSpc>
                <a:spcPts val="1650"/>
              </a:lnSpc>
              <a:buFont typeface="Arial"/>
              <a:buChar char="•"/>
            </a:pPr>
            <a:r>
              <a:rPr lang="en-US" sz="1500" i="true">
                <a:solidFill>
                  <a:srgbClr val="FEFEFE"/>
                </a:solidFill>
                <a:latin typeface="Lato Italics"/>
                <a:ea typeface="Lato Italics"/>
                <a:cs typeface="Lato Italics"/>
                <a:sym typeface="Lato Italics"/>
              </a:rPr>
              <a:t>Country-wise analysis.</a:t>
            </a:r>
          </a:p>
          <a:p>
            <a:pPr algn="l" marL="323852" indent="-161926" lvl="1">
              <a:lnSpc>
                <a:spcPts val="1650"/>
              </a:lnSpc>
              <a:buFont typeface="Arial"/>
              <a:buChar char="•"/>
            </a:pPr>
            <a:r>
              <a:rPr lang="en-US" sz="1500" i="true">
                <a:solidFill>
                  <a:srgbClr val="FEFEFE"/>
                </a:solidFill>
                <a:latin typeface="Lato Italics"/>
                <a:ea typeface="Lato Italics"/>
                <a:cs typeface="Lato Italics"/>
                <a:sym typeface="Lato Italics"/>
              </a:rPr>
              <a:t>Interactive filters for dynamic exploration.</a:t>
            </a:r>
          </a:p>
          <a:p>
            <a:pPr algn="l">
              <a:lnSpc>
                <a:spcPts val="1650"/>
              </a:lnSpc>
            </a:pPr>
          </a:p>
        </p:txBody>
      </p:sp>
      <p:sp>
        <p:nvSpPr>
          <p:cNvPr name="TextBox 14" id="14"/>
          <p:cNvSpPr txBox="true"/>
          <p:nvPr/>
        </p:nvSpPr>
        <p:spPr>
          <a:xfrm rot="0">
            <a:off x="437199" y="3704067"/>
            <a:ext cx="3308152" cy="570865"/>
          </a:xfrm>
          <a:prstGeom prst="rect">
            <a:avLst/>
          </a:prstGeom>
        </p:spPr>
        <p:txBody>
          <a:bodyPr anchor="t" rtlCol="false" tIns="0" lIns="0" bIns="0" rIns="0">
            <a:spAutoFit/>
          </a:bodyPr>
          <a:lstStyle/>
          <a:p>
            <a:pPr algn="ctr" rtl="true">
              <a:lnSpc>
                <a:spcPts val="4759"/>
              </a:lnSpc>
            </a:pPr>
            <a:r>
              <a:rPr lang="en-US" b="true" sz="3399">
                <a:solidFill>
                  <a:srgbClr val="FFFFFF"/>
                </a:solidFill>
                <a:latin typeface="XM Vahid Bold"/>
                <a:ea typeface="XM Vahid Bold"/>
                <a:cs typeface="XM Vahid Bold"/>
                <a:sym typeface="XM Vahid Bold"/>
              </a:rPr>
              <a:t>Key</a:t>
            </a:r>
            <a:r>
              <a:rPr lang="en-US" b="true" sz="3399">
                <a:solidFill>
                  <a:srgbClr val="FFFFFF"/>
                </a:solidFill>
                <a:latin typeface="XM Vahid Bold"/>
                <a:ea typeface="XM Vahid Bold"/>
                <a:cs typeface="XM Vahid Bold"/>
                <a:sym typeface="XM Vahid Bold"/>
              </a:rPr>
              <a:t> Components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7999445" y="5610836"/>
            <a:ext cx="3891378" cy="1945689"/>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4" id="4"/>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5" id="5"/>
          <p:cNvSpPr/>
          <p:nvPr/>
        </p:nvSpPr>
        <p:spPr>
          <a:xfrm flipH="false" flipV="false" rot="0">
            <a:off x="-3806161" y="-1571352"/>
            <a:ext cx="10707604" cy="3504307"/>
          </a:xfrm>
          <a:custGeom>
            <a:avLst/>
            <a:gdLst/>
            <a:ahLst/>
            <a:cxnLst/>
            <a:rect r="r" b="b" t="t" l="l"/>
            <a:pathLst>
              <a:path h="3504307" w="10707604">
                <a:moveTo>
                  <a:pt x="0" y="0"/>
                </a:moveTo>
                <a:lnTo>
                  <a:pt x="10707604" y="0"/>
                </a:lnTo>
                <a:lnTo>
                  <a:pt x="10707604" y="3504307"/>
                </a:lnTo>
                <a:lnTo>
                  <a:pt x="0" y="350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676369" y="4321533"/>
            <a:ext cx="5495658" cy="2790103"/>
          </a:xfrm>
          <a:custGeom>
            <a:avLst/>
            <a:gdLst/>
            <a:ahLst/>
            <a:cxnLst/>
            <a:rect r="r" b="b" t="t" l="l"/>
            <a:pathLst>
              <a:path h="2790103" w="5495658">
                <a:moveTo>
                  <a:pt x="0" y="0"/>
                </a:moveTo>
                <a:lnTo>
                  <a:pt x="5495658" y="0"/>
                </a:lnTo>
                <a:lnTo>
                  <a:pt x="5495658" y="2790104"/>
                </a:lnTo>
                <a:lnTo>
                  <a:pt x="0" y="2790104"/>
                </a:lnTo>
                <a:lnTo>
                  <a:pt x="0" y="0"/>
                </a:lnTo>
                <a:close/>
              </a:path>
            </a:pathLst>
          </a:custGeom>
          <a:blipFill>
            <a:blip r:embed="rId4"/>
            <a:stretch>
              <a:fillRect l="0" t="0" r="0" b="0"/>
            </a:stretch>
          </a:blipFill>
        </p:spPr>
      </p:sp>
      <p:sp>
        <p:nvSpPr>
          <p:cNvPr name="TextBox 7" id="7"/>
          <p:cNvSpPr txBox="true"/>
          <p:nvPr/>
        </p:nvSpPr>
        <p:spPr>
          <a:xfrm rot="0">
            <a:off x="2436410" y="416433"/>
            <a:ext cx="6811788" cy="409575"/>
          </a:xfrm>
          <a:prstGeom prst="rect">
            <a:avLst/>
          </a:prstGeom>
        </p:spPr>
        <p:txBody>
          <a:bodyPr anchor="t" rtlCol="false" tIns="0" lIns="0" bIns="0" rIns="0">
            <a:spAutoFit/>
          </a:bodyPr>
          <a:lstStyle/>
          <a:p>
            <a:pPr algn="l">
              <a:lnSpc>
                <a:spcPts val="3299"/>
              </a:lnSpc>
            </a:pPr>
            <a:r>
              <a:rPr lang="en-US" sz="2999" b="true">
                <a:solidFill>
                  <a:srgbClr val="CC78FF"/>
                </a:solidFill>
                <a:latin typeface="Red Hat Display Bold"/>
                <a:ea typeface="Red Hat Display Bold"/>
                <a:cs typeface="Red Hat Display Bold"/>
                <a:sym typeface="Red Hat Display Bold"/>
              </a:rPr>
              <a:t>L</a:t>
            </a:r>
            <a:r>
              <a:rPr lang="en-US" sz="2999" b="true">
                <a:solidFill>
                  <a:srgbClr val="CC78FF"/>
                </a:solidFill>
                <a:latin typeface="Red Hat Display Bold"/>
                <a:ea typeface="Red Hat Display Bold"/>
                <a:cs typeface="Red Hat Display Bold"/>
                <a:sym typeface="Red Hat Display Bold"/>
              </a:rPr>
              <a:t>ifestyle Analysis Dashboard</a:t>
            </a:r>
          </a:p>
        </p:txBody>
      </p:sp>
      <p:sp>
        <p:nvSpPr>
          <p:cNvPr name="TextBox 8" id="8"/>
          <p:cNvSpPr txBox="true"/>
          <p:nvPr/>
        </p:nvSpPr>
        <p:spPr>
          <a:xfrm rot="0">
            <a:off x="243767" y="5101526"/>
            <a:ext cx="1517708" cy="509310"/>
          </a:xfrm>
          <a:prstGeom prst="rect">
            <a:avLst/>
          </a:prstGeom>
        </p:spPr>
        <p:txBody>
          <a:bodyPr anchor="t" rtlCol="false" tIns="0" lIns="0" bIns="0" rIns="0">
            <a:spAutoFit/>
          </a:bodyPr>
          <a:lstStyle/>
          <a:p>
            <a:pPr algn="ctr">
              <a:lnSpc>
                <a:spcPts val="4189"/>
              </a:lnSpc>
            </a:pPr>
            <a:r>
              <a:rPr lang="en-US" b="true" sz="2992">
                <a:solidFill>
                  <a:srgbClr val="FFFFFF"/>
                </a:solidFill>
                <a:latin typeface="XM Vahid Bold"/>
                <a:ea typeface="XM Vahid Bold"/>
                <a:cs typeface="XM Vahid Bold"/>
                <a:sym typeface="XM Vahid Bold"/>
              </a:rPr>
              <a:t>Purpose </a:t>
            </a:r>
          </a:p>
        </p:txBody>
      </p:sp>
      <p:sp>
        <p:nvSpPr>
          <p:cNvPr name="TextBox 9" id="9"/>
          <p:cNvSpPr txBox="true"/>
          <p:nvPr/>
        </p:nvSpPr>
        <p:spPr>
          <a:xfrm rot="0">
            <a:off x="88349" y="5678485"/>
            <a:ext cx="4454892" cy="973488"/>
          </a:xfrm>
          <a:prstGeom prst="rect">
            <a:avLst/>
          </a:prstGeom>
        </p:spPr>
        <p:txBody>
          <a:bodyPr anchor="t" rtlCol="false" tIns="0" lIns="0" bIns="0" rIns="0">
            <a:spAutoFit/>
          </a:bodyPr>
          <a:lstStyle/>
          <a:p>
            <a:pPr algn="ctr" rtl="true">
              <a:lnSpc>
                <a:spcPts val="2582"/>
              </a:lnSpc>
            </a:pPr>
            <a:r>
              <a:rPr lang="en-US" sz="1844">
                <a:solidFill>
                  <a:srgbClr val="FFFFFF"/>
                </a:solidFill>
                <a:latin typeface="Droid Arabic Kufi"/>
                <a:ea typeface="Droid Arabic Kufi"/>
                <a:cs typeface="Droid Arabic Kufi"/>
                <a:sym typeface="Droid Arabic Kufi"/>
              </a:rPr>
              <a:t>This</a:t>
            </a:r>
            <a:r>
              <a:rPr lang="en-US" sz="1844">
                <a:solidFill>
                  <a:srgbClr val="FFFFFF"/>
                </a:solidFill>
                <a:latin typeface="Droid Arabic Kufi"/>
                <a:ea typeface="Droid Arabic Kufi"/>
                <a:cs typeface="Droid Arabic Kufi"/>
                <a:sym typeface="Droid Arabic Kufi"/>
              </a:rPr>
              <a:t> dashboard analyzes lifestyle habits and their relationship with mental health</a:t>
            </a:r>
          </a:p>
        </p:txBody>
      </p:sp>
      <p:sp>
        <p:nvSpPr>
          <p:cNvPr name="TextBox 10" id="10"/>
          <p:cNvSpPr txBox="true"/>
          <p:nvPr/>
        </p:nvSpPr>
        <p:spPr>
          <a:xfrm rot="0">
            <a:off x="88349" y="1163464"/>
            <a:ext cx="2348061" cy="570865"/>
          </a:xfrm>
          <a:prstGeom prst="rect">
            <a:avLst/>
          </a:prstGeom>
        </p:spPr>
        <p:txBody>
          <a:bodyPr anchor="t" rtlCol="false" tIns="0" lIns="0" bIns="0" rIns="0">
            <a:spAutoFit/>
          </a:bodyPr>
          <a:lstStyle/>
          <a:p>
            <a:pPr algn="ctr" rtl="true">
              <a:lnSpc>
                <a:spcPts val="4759"/>
              </a:lnSpc>
            </a:pPr>
            <a:r>
              <a:rPr lang="en-US" b="true" sz="3399">
                <a:solidFill>
                  <a:srgbClr val="FFFFFF"/>
                </a:solidFill>
                <a:latin typeface="XM Vahid Bold"/>
                <a:ea typeface="XM Vahid Bold"/>
                <a:cs typeface="XM Vahid Bold"/>
                <a:sym typeface="XM Vahid Bold"/>
              </a:rPr>
              <a:t>Key</a:t>
            </a:r>
            <a:r>
              <a:rPr lang="en-US" b="true" sz="3399">
                <a:solidFill>
                  <a:srgbClr val="FFFFFF"/>
                </a:solidFill>
                <a:latin typeface="XM Vahid Bold"/>
                <a:ea typeface="XM Vahid Bold"/>
                <a:cs typeface="XM Vahid Bold"/>
                <a:sym typeface="XM Vahid Bold"/>
              </a:rPr>
              <a:t> Insights</a:t>
            </a:r>
          </a:p>
        </p:txBody>
      </p:sp>
      <p:sp>
        <p:nvSpPr>
          <p:cNvPr name="TextBox 11" id="11"/>
          <p:cNvSpPr txBox="true"/>
          <p:nvPr/>
        </p:nvSpPr>
        <p:spPr>
          <a:xfrm rot="0">
            <a:off x="-2268414" y="1782614"/>
            <a:ext cx="8953178" cy="2310319"/>
          </a:xfrm>
          <a:prstGeom prst="rect">
            <a:avLst/>
          </a:prstGeom>
        </p:spPr>
        <p:txBody>
          <a:bodyPr anchor="t" rtlCol="false" tIns="0" lIns="0" bIns="0" rIns="0">
            <a:spAutoFit/>
          </a:bodyPr>
          <a:lstStyle/>
          <a:p>
            <a:pPr algn="ctr">
              <a:lnSpc>
                <a:spcPts val="2299"/>
              </a:lnSpc>
            </a:pPr>
            <a:r>
              <a:rPr lang="en-US" sz="1642">
                <a:solidFill>
                  <a:srgbClr val="FFFFFF"/>
                </a:solidFill>
                <a:latin typeface="Droid Arabic Kufi"/>
                <a:ea typeface="Droid Arabic Kufi"/>
                <a:cs typeface="Droid Arabic Kufi"/>
                <a:sym typeface="Droid Arabic Kufi"/>
              </a:rPr>
              <a:t>       The average sleep duration is 7.01 hours.</a:t>
            </a:r>
          </a:p>
          <a:p>
            <a:pPr algn="ctr">
              <a:lnSpc>
                <a:spcPts val="2299"/>
              </a:lnSpc>
            </a:pPr>
            <a:r>
              <a:rPr lang="en-US" sz="1642">
                <a:solidFill>
                  <a:srgbClr val="FFFFFF"/>
                </a:solidFill>
                <a:latin typeface="Droid Arabic Kufi"/>
                <a:ea typeface="Droid Arabic Kufi"/>
                <a:cs typeface="Droid Arabic Kufi"/>
                <a:sym typeface="Droid Arabic Kufi"/>
              </a:rPr>
              <a:t>                          </a:t>
            </a:r>
            <a:r>
              <a:rPr lang="en-US" sz="1642">
                <a:solidFill>
                  <a:srgbClr val="FFFFFF"/>
                </a:solidFill>
                <a:latin typeface="Droid Arabic Kufi"/>
                <a:ea typeface="Droid Arabic Kufi"/>
                <a:cs typeface="Droid Arabic Kufi"/>
                <a:sym typeface="Droid Arabic Kufi"/>
              </a:rPr>
              <a:t>33.41% of participants experience high levels of stress.                     </a:t>
            </a:r>
            <a:r>
              <a:rPr lang="en-US" sz="1642">
                <a:solidFill>
                  <a:srgbClr val="FFFFFF"/>
                </a:solidFill>
                <a:latin typeface="Droid Arabic Kufi"/>
                <a:ea typeface="Droid Arabic Kufi"/>
                <a:cs typeface="Droid Arabic Kufi"/>
                <a:sym typeface="Droid Arabic Kufi"/>
              </a:rPr>
              <a:t> </a:t>
            </a:r>
            <a:r>
              <a:rPr lang="en-US" sz="1642">
                <a:solidFill>
                  <a:srgbClr val="FFFFFF"/>
                </a:solidFill>
                <a:latin typeface="Droid Arabic Kufi"/>
                <a:ea typeface="Droid Arabic Kufi"/>
                <a:cs typeface="Droid Arabic Kufi"/>
                <a:sym typeface="Droid Arabic Kufi"/>
              </a:rPr>
              <a:t>The risk of b</a:t>
            </a:r>
            <a:r>
              <a:rPr lang="en-US" sz="1642">
                <a:solidFill>
                  <a:srgbClr val="FFFFFF"/>
                </a:solidFill>
                <a:latin typeface="Droid Arabic Kufi"/>
                <a:ea typeface="Droid Arabic Kufi"/>
                <a:cs typeface="Droid Arabic Kufi"/>
                <a:sym typeface="Droid Arabic Kufi"/>
              </a:rPr>
              <a:t>urnout stand</a:t>
            </a:r>
            <a:r>
              <a:rPr lang="en-US" sz="1642">
                <a:solidFill>
                  <a:srgbClr val="FFFFFF"/>
                </a:solidFill>
                <a:latin typeface="Droid Arabic Kufi"/>
                <a:ea typeface="Droid Arabic Kufi"/>
                <a:cs typeface="Droid Arabic Kufi"/>
                <a:sym typeface="Droid Arabic Kufi"/>
              </a:rPr>
              <a:t>s at 7.85%</a:t>
            </a:r>
          </a:p>
          <a:p>
            <a:pPr algn="ctr">
              <a:lnSpc>
                <a:spcPts val="2299"/>
              </a:lnSpc>
            </a:pPr>
            <a:r>
              <a:rPr lang="en-US" sz="1642">
                <a:solidFill>
                  <a:srgbClr val="FFFFFF"/>
                </a:solidFill>
                <a:latin typeface="Droid Arabic Kufi"/>
                <a:ea typeface="Droid Arabic Kufi"/>
                <a:cs typeface="Droid Arabic Kufi"/>
                <a:sym typeface="Droid Arabic Kufi"/>
              </a:rPr>
              <a:t>                    </a:t>
            </a:r>
            <a:r>
              <a:rPr lang="en-US" sz="1642">
                <a:solidFill>
                  <a:srgbClr val="FFFFFF"/>
                </a:solidFill>
                <a:latin typeface="Droid Arabic Kufi"/>
                <a:ea typeface="Droid Arabic Kufi"/>
                <a:cs typeface="Droid Arabic Kufi"/>
                <a:sym typeface="Droid Arabic Kufi"/>
              </a:rPr>
              <a:t>Average social media usage is 3.27 hours per day.</a:t>
            </a:r>
          </a:p>
          <a:p>
            <a:pPr algn="ctr">
              <a:lnSpc>
                <a:spcPts val="2299"/>
              </a:lnSpc>
            </a:pPr>
            <a:r>
              <a:rPr lang="en-US" sz="1642">
                <a:solidFill>
                  <a:srgbClr val="FFFFFF"/>
                </a:solidFill>
                <a:latin typeface="Droid Arabic Kufi"/>
                <a:ea typeface="Droid Arabic Kufi"/>
                <a:cs typeface="Droid Arabic Kufi"/>
                <a:sym typeface="Droid Arabic Kufi"/>
              </a:rPr>
              <a:t>                </a:t>
            </a:r>
            <a:r>
              <a:rPr lang="en-US" sz="1642">
                <a:solidFill>
                  <a:srgbClr val="FFFFFF"/>
                </a:solidFill>
                <a:latin typeface="Droid Arabic Kufi"/>
                <a:ea typeface="Droid Arabic Kufi"/>
                <a:cs typeface="Droid Arabic Kufi"/>
                <a:sym typeface="Droid Arabic Kufi"/>
              </a:rPr>
              <a:t>The maj</a:t>
            </a:r>
            <a:r>
              <a:rPr lang="en-US" sz="1642">
                <a:solidFill>
                  <a:srgbClr val="FFFFFF"/>
                </a:solidFill>
                <a:latin typeface="Droid Arabic Kufi"/>
                <a:ea typeface="Droid Arabic Kufi"/>
                <a:cs typeface="Droid Arabic Kufi"/>
                <a:sym typeface="Droid Arabic Kufi"/>
              </a:rPr>
              <a:t>ority of patients sleep 8 hours or more.</a:t>
            </a:r>
          </a:p>
          <a:p>
            <a:pPr algn="ctr">
              <a:lnSpc>
                <a:spcPts val="2299"/>
              </a:lnSpc>
            </a:pPr>
            <a:r>
              <a:rPr lang="en-US" sz="1642">
                <a:solidFill>
                  <a:srgbClr val="FFFFFF"/>
                </a:solidFill>
                <a:latin typeface="Droid Arabic Kufi"/>
                <a:ea typeface="Droid Arabic Kufi"/>
                <a:cs typeface="Droid Arabic Kufi"/>
                <a:sym typeface="Droid Arabic Kufi"/>
              </a:rPr>
              <a:t>                        </a:t>
            </a:r>
            <a:r>
              <a:rPr lang="en-US" sz="1642">
                <a:solidFill>
                  <a:srgbClr val="FFFFFF"/>
                </a:solidFill>
                <a:latin typeface="Droid Arabic Kufi"/>
                <a:ea typeface="Droid Arabic Kufi"/>
                <a:cs typeface="Droid Arabic Kufi"/>
                <a:sym typeface="Droid Arabic Kufi"/>
              </a:rPr>
              <a:t>Dietary quality is distributed relatively evenly across   </a:t>
            </a:r>
          </a:p>
          <a:p>
            <a:pPr algn="ctr">
              <a:lnSpc>
                <a:spcPts val="2299"/>
              </a:lnSpc>
            </a:pPr>
            <a:r>
              <a:rPr lang="en-US" sz="1642">
                <a:solidFill>
                  <a:srgbClr val="FFFFFF"/>
                </a:solidFill>
                <a:latin typeface="Droid Arabic Kufi"/>
                <a:ea typeface="Droid Arabic Kufi"/>
                <a:cs typeface="Droid Arabic Kufi"/>
                <a:sym typeface="Droid Arabic Kufi"/>
              </a:rPr>
              <a:t>              healthy,average, and unhealthy categories.</a:t>
            </a:r>
          </a:p>
          <a:p>
            <a:pPr algn="ctr" rtl="true">
              <a:lnSpc>
                <a:spcPts val="2299"/>
              </a:lnSpc>
            </a:pPr>
            <a:r>
              <a:rPr lang="en-US" sz="1642">
                <a:solidFill>
                  <a:srgbClr val="FFFFFF"/>
                </a:solidFill>
                <a:latin typeface="Droid Arabic Kufi"/>
                <a:ea typeface="Droid Arabic Kufi"/>
                <a:cs typeface="Droid Arabic Kufi"/>
                <a:sym typeface="Droid Arabic Kufi"/>
              </a:rPr>
              <a:t>Smoking rates are higher among the 40–59 age group</a:t>
            </a:r>
            <a:r>
              <a:rPr lang="ar-EG" sz="1642">
                <a:solidFill>
                  <a:srgbClr val="FFFFFF"/>
                </a:solidFill>
                <a:latin typeface="Droid Arabic Kufi"/>
                <a:ea typeface="Droid Arabic Kufi"/>
                <a:cs typeface="Droid Arabic Kufi"/>
                <a:sym typeface="Droid Arabic Kufi"/>
                <a:rtl val="true"/>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393">
            <a:off x="-5802224" y="-286323"/>
            <a:ext cx="10707604" cy="3504307"/>
          </a:xfrm>
          <a:custGeom>
            <a:avLst/>
            <a:gdLst/>
            <a:ahLst/>
            <a:cxnLst/>
            <a:rect r="r" b="b" t="t" l="l"/>
            <a:pathLst>
              <a:path h="3504307" w="10707604">
                <a:moveTo>
                  <a:pt x="0" y="0"/>
                </a:moveTo>
                <a:lnTo>
                  <a:pt x="10707604" y="0"/>
                </a:lnTo>
                <a:lnTo>
                  <a:pt x="10707604" y="3504307"/>
                </a:lnTo>
                <a:lnTo>
                  <a:pt x="0" y="350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7380032" y="192083"/>
            <a:ext cx="3857471" cy="1928735"/>
            <a:chOff x="0" y="0"/>
            <a:chExt cx="660400" cy="330200"/>
          </a:xfrm>
        </p:grpSpPr>
        <p:sp>
          <p:nvSpPr>
            <p:cNvPr name="Freeform 4" id="4"/>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5" id="5"/>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6" id="6"/>
          <p:cNvGrpSpPr/>
          <p:nvPr/>
        </p:nvGrpSpPr>
        <p:grpSpPr>
          <a:xfrm rot="0">
            <a:off x="4182518" y="1156451"/>
            <a:ext cx="5958651" cy="1952570"/>
            <a:chOff x="0" y="0"/>
            <a:chExt cx="1395059" cy="457142"/>
          </a:xfrm>
        </p:grpSpPr>
        <p:sp>
          <p:nvSpPr>
            <p:cNvPr name="Freeform 7" id="7"/>
            <p:cNvSpPr/>
            <p:nvPr/>
          </p:nvSpPr>
          <p:spPr>
            <a:xfrm flipH="false" flipV="false" rot="0">
              <a:off x="0" y="0"/>
              <a:ext cx="1395059" cy="457142"/>
            </a:xfrm>
            <a:custGeom>
              <a:avLst/>
              <a:gdLst/>
              <a:ahLst/>
              <a:cxnLst/>
              <a:rect r="r" b="b" t="t" l="l"/>
              <a:pathLst>
                <a:path h="457142" w="1395059">
                  <a:moveTo>
                    <a:pt x="0" y="0"/>
                  </a:moveTo>
                  <a:lnTo>
                    <a:pt x="1395059" y="0"/>
                  </a:lnTo>
                  <a:lnTo>
                    <a:pt x="1395059" y="457142"/>
                  </a:lnTo>
                  <a:lnTo>
                    <a:pt x="0" y="457142"/>
                  </a:lnTo>
                  <a:close/>
                </a:path>
              </a:pathLst>
            </a:custGeom>
            <a:blipFill>
              <a:blip r:embed="rId4"/>
              <a:stretch>
                <a:fillRect l="-1466" t="0" r="-1466" b="0"/>
              </a:stretch>
            </a:blipFill>
          </p:spPr>
        </p:sp>
      </p:grpSp>
      <p:grpSp>
        <p:nvGrpSpPr>
          <p:cNvPr name="Group 8" id="8"/>
          <p:cNvGrpSpPr/>
          <p:nvPr/>
        </p:nvGrpSpPr>
        <p:grpSpPr>
          <a:xfrm rot="3048779">
            <a:off x="-831454" y="6232193"/>
            <a:ext cx="3857471" cy="1928735"/>
            <a:chOff x="0" y="0"/>
            <a:chExt cx="660400" cy="330200"/>
          </a:xfrm>
        </p:grpSpPr>
        <p:sp>
          <p:nvSpPr>
            <p:cNvPr name="Freeform 9" id="9"/>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10" id="10"/>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11" id="11"/>
          <p:cNvSpPr/>
          <p:nvPr/>
        </p:nvSpPr>
        <p:spPr>
          <a:xfrm flipH="false" flipV="false" rot="-326001">
            <a:off x="748332" y="6480370"/>
            <a:ext cx="10707604" cy="3504307"/>
          </a:xfrm>
          <a:custGeom>
            <a:avLst/>
            <a:gdLst/>
            <a:ahLst/>
            <a:cxnLst/>
            <a:rect r="r" b="b" t="t" l="l"/>
            <a:pathLst>
              <a:path h="3504307" w="10707604">
                <a:moveTo>
                  <a:pt x="0" y="0"/>
                </a:moveTo>
                <a:lnTo>
                  <a:pt x="10707604" y="0"/>
                </a:lnTo>
                <a:lnTo>
                  <a:pt x="10707604" y="3504307"/>
                </a:lnTo>
                <a:lnTo>
                  <a:pt x="0" y="350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38901" y="4309918"/>
            <a:ext cx="173905" cy="160625"/>
          </a:xfrm>
          <a:custGeom>
            <a:avLst/>
            <a:gdLst/>
            <a:ahLst/>
            <a:cxnLst/>
            <a:rect r="r" b="b" t="t" l="l"/>
            <a:pathLst>
              <a:path h="160625" w="173905">
                <a:moveTo>
                  <a:pt x="0" y="0"/>
                </a:moveTo>
                <a:lnTo>
                  <a:pt x="173906" y="0"/>
                </a:lnTo>
                <a:lnTo>
                  <a:pt x="173906" y="160625"/>
                </a:lnTo>
                <a:lnTo>
                  <a:pt x="0" y="160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5586278" y="4831602"/>
            <a:ext cx="173905" cy="160625"/>
          </a:xfrm>
          <a:custGeom>
            <a:avLst/>
            <a:gdLst/>
            <a:ahLst/>
            <a:cxnLst/>
            <a:rect r="r" b="b" t="t" l="l"/>
            <a:pathLst>
              <a:path h="160625" w="173905">
                <a:moveTo>
                  <a:pt x="0" y="0"/>
                </a:moveTo>
                <a:lnTo>
                  <a:pt x="173906" y="0"/>
                </a:lnTo>
                <a:lnTo>
                  <a:pt x="173906" y="160625"/>
                </a:lnTo>
                <a:lnTo>
                  <a:pt x="0" y="160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5586278" y="5137454"/>
            <a:ext cx="173905" cy="160625"/>
          </a:xfrm>
          <a:custGeom>
            <a:avLst/>
            <a:gdLst/>
            <a:ahLst/>
            <a:cxnLst/>
            <a:rect r="r" b="b" t="t" l="l"/>
            <a:pathLst>
              <a:path h="160625" w="173905">
                <a:moveTo>
                  <a:pt x="0" y="0"/>
                </a:moveTo>
                <a:lnTo>
                  <a:pt x="173906" y="0"/>
                </a:lnTo>
                <a:lnTo>
                  <a:pt x="173906" y="160625"/>
                </a:lnTo>
                <a:lnTo>
                  <a:pt x="0" y="160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5586278" y="5443305"/>
            <a:ext cx="173905" cy="160625"/>
          </a:xfrm>
          <a:custGeom>
            <a:avLst/>
            <a:gdLst/>
            <a:ahLst/>
            <a:cxnLst/>
            <a:rect r="r" b="b" t="t" l="l"/>
            <a:pathLst>
              <a:path h="160625" w="173905">
                <a:moveTo>
                  <a:pt x="0" y="0"/>
                </a:moveTo>
                <a:lnTo>
                  <a:pt x="173906" y="0"/>
                </a:lnTo>
                <a:lnTo>
                  <a:pt x="173906" y="160626"/>
                </a:lnTo>
                <a:lnTo>
                  <a:pt x="0" y="1606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5586278" y="5749157"/>
            <a:ext cx="173905" cy="160625"/>
          </a:xfrm>
          <a:custGeom>
            <a:avLst/>
            <a:gdLst/>
            <a:ahLst/>
            <a:cxnLst/>
            <a:rect r="r" b="b" t="t" l="l"/>
            <a:pathLst>
              <a:path h="160625" w="173905">
                <a:moveTo>
                  <a:pt x="0" y="0"/>
                </a:moveTo>
                <a:lnTo>
                  <a:pt x="173906" y="0"/>
                </a:lnTo>
                <a:lnTo>
                  <a:pt x="173906" y="160625"/>
                </a:lnTo>
                <a:lnTo>
                  <a:pt x="0" y="160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24911" y="1006912"/>
            <a:ext cx="3970176" cy="3111132"/>
          </a:xfrm>
          <a:custGeom>
            <a:avLst/>
            <a:gdLst/>
            <a:ahLst/>
            <a:cxnLst/>
            <a:rect r="r" b="b" t="t" l="l"/>
            <a:pathLst>
              <a:path h="3111132" w="3970176">
                <a:moveTo>
                  <a:pt x="0" y="0"/>
                </a:moveTo>
                <a:lnTo>
                  <a:pt x="3970176" y="0"/>
                </a:lnTo>
                <a:lnTo>
                  <a:pt x="3970176" y="3111132"/>
                </a:lnTo>
                <a:lnTo>
                  <a:pt x="0" y="3111132"/>
                </a:lnTo>
                <a:lnTo>
                  <a:pt x="0" y="0"/>
                </a:lnTo>
                <a:close/>
              </a:path>
            </a:pathLst>
          </a:custGeom>
          <a:blipFill>
            <a:blip r:embed="rId7"/>
            <a:stretch>
              <a:fillRect l="0" t="0" r="0" b="0"/>
            </a:stretch>
          </a:blipFill>
        </p:spPr>
      </p:sp>
      <p:sp>
        <p:nvSpPr>
          <p:cNvPr name="TextBox 18" id="18"/>
          <p:cNvSpPr txBox="true"/>
          <p:nvPr/>
        </p:nvSpPr>
        <p:spPr>
          <a:xfrm rot="0">
            <a:off x="1444342" y="284678"/>
            <a:ext cx="6864916" cy="512684"/>
          </a:xfrm>
          <a:prstGeom prst="rect">
            <a:avLst/>
          </a:prstGeom>
        </p:spPr>
        <p:txBody>
          <a:bodyPr anchor="t" rtlCol="false" tIns="0" lIns="0" bIns="0" rIns="0">
            <a:spAutoFit/>
          </a:bodyPr>
          <a:lstStyle/>
          <a:p>
            <a:pPr algn="l">
              <a:lnSpc>
                <a:spcPts val="3980"/>
              </a:lnSpc>
            </a:pPr>
            <a:r>
              <a:rPr lang="en-US" sz="3618" b="true">
                <a:solidFill>
                  <a:srgbClr val="CC78FF"/>
                </a:solidFill>
                <a:latin typeface="Red Hat Display Bold"/>
                <a:ea typeface="Red Hat Display Bold"/>
                <a:cs typeface="Red Hat Display Bold"/>
                <a:sym typeface="Red Hat Display Bold"/>
              </a:rPr>
              <a:t>L</a:t>
            </a:r>
            <a:r>
              <a:rPr lang="en-US" sz="3618" b="true">
                <a:solidFill>
                  <a:srgbClr val="CC78FF"/>
                </a:solidFill>
                <a:latin typeface="Red Hat Display Bold"/>
                <a:ea typeface="Red Hat Display Bold"/>
                <a:cs typeface="Red Hat Display Bold"/>
                <a:sym typeface="Red Hat Display Bold"/>
              </a:rPr>
              <a:t>ifestyle Details Dashboard</a:t>
            </a:r>
          </a:p>
        </p:txBody>
      </p:sp>
      <p:sp>
        <p:nvSpPr>
          <p:cNvPr name="TextBox 19" id="19"/>
          <p:cNvSpPr txBox="true"/>
          <p:nvPr/>
        </p:nvSpPr>
        <p:spPr>
          <a:xfrm rot="0">
            <a:off x="629010" y="4233386"/>
            <a:ext cx="2276444" cy="323215"/>
          </a:xfrm>
          <a:prstGeom prst="rect">
            <a:avLst/>
          </a:prstGeom>
        </p:spPr>
        <p:txBody>
          <a:bodyPr anchor="t" rtlCol="false" tIns="0" lIns="0" bIns="0" rIns="0">
            <a:spAutoFit/>
          </a:bodyPr>
          <a:lstStyle/>
          <a:p>
            <a:pPr algn="l">
              <a:lnSpc>
                <a:spcPts val="2420"/>
              </a:lnSpc>
            </a:pPr>
            <a:r>
              <a:rPr lang="en-US" sz="2200" b="true">
                <a:solidFill>
                  <a:srgbClr val="FEFEFE"/>
                </a:solidFill>
                <a:latin typeface="Lato Bold"/>
                <a:ea typeface="Lato Bold"/>
                <a:cs typeface="Lato Bold"/>
                <a:sym typeface="Lato Bold"/>
              </a:rPr>
              <a:t>K</a:t>
            </a:r>
            <a:r>
              <a:rPr lang="en-US" sz="2200" b="true">
                <a:solidFill>
                  <a:srgbClr val="FEFEFE"/>
                </a:solidFill>
                <a:latin typeface="Lato Bold"/>
                <a:ea typeface="Lato Bold"/>
                <a:cs typeface="Lato Bold"/>
                <a:sym typeface="Lato Bold"/>
              </a:rPr>
              <a:t>ey Insights</a:t>
            </a:r>
          </a:p>
        </p:txBody>
      </p:sp>
      <p:sp>
        <p:nvSpPr>
          <p:cNvPr name="TextBox 20" id="20"/>
          <p:cNvSpPr txBox="true"/>
          <p:nvPr/>
        </p:nvSpPr>
        <p:spPr>
          <a:xfrm rot="0">
            <a:off x="6102134" y="3667125"/>
            <a:ext cx="2586476" cy="323215"/>
          </a:xfrm>
          <a:prstGeom prst="rect">
            <a:avLst/>
          </a:prstGeom>
        </p:spPr>
        <p:txBody>
          <a:bodyPr anchor="t" rtlCol="false" tIns="0" lIns="0" bIns="0" rIns="0">
            <a:spAutoFit/>
          </a:bodyPr>
          <a:lstStyle/>
          <a:p>
            <a:pPr algn="l">
              <a:lnSpc>
                <a:spcPts val="2420"/>
              </a:lnSpc>
            </a:pPr>
            <a:r>
              <a:rPr lang="en-US" sz="2200" b="true">
                <a:solidFill>
                  <a:srgbClr val="FEFEFE"/>
                </a:solidFill>
                <a:latin typeface="Lato Bold"/>
                <a:ea typeface="Lato Bold"/>
                <a:cs typeface="Lato Bold"/>
                <a:sym typeface="Lato Bold"/>
              </a:rPr>
              <a:t>Co</a:t>
            </a:r>
            <a:r>
              <a:rPr lang="en-US" sz="2200" b="true">
                <a:solidFill>
                  <a:srgbClr val="FEFEFE"/>
                </a:solidFill>
                <a:latin typeface="Lato Bold"/>
                <a:ea typeface="Lato Bold"/>
                <a:cs typeface="Lato Bold"/>
                <a:sym typeface="Lato Bold"/>
              </a:rPr>
              <a:t>nclusion</a:t>
            </a:r>
          </a:p>
        </p:txBody>
      </p:sp>
      <p:sp>
        <p:nvSpPr>
          <p:cNvPr name="TextBox 21" id="21"/>
          <p:cNvSpPr txBox="true"/>
          <p:nvPr/>
        </p:nvSpPr>
        <p:spPr>
          <a:xfrm rot="0">
            <a:off x="137676" y="4743019"/>
            <a:ext cx="5535555" cy="2351198"/>
          </a:xfrm>
          <a:prstGeom prst="rect">
            <a:avLst/>
          </a:prstGeom>
        </p:spPr>
        <p:txBody>
          <a:bodyPr anchor="t" rtlCol="false" tIns="0" lIns="0" bIns="0" rIns="0">
            <a:spAutoFit/>
          </a:bodyPr>
          <a:lstStyle/>
          <a:p>
            <a:pPr algn="l" marL="321829" indent="-160915" lvl="1">
              <a:lnSpc>
                <a:spcPts val="2325"/>
              </a:lnSpc>
              <a:buFont typeface="Arial"/>
              <a:buChar char="•"/>
            </a:pPr>
            <a:r>
              <a:rPr lang="en-US" sz="1490">
                <a:solidFill>
                  <a:srgbClr val="FEFEFE"/>
                </a:solidFill>
                <a:latin typeface="Lato"/>
                <a:ea typeface="Lato"/>
                <a:cs typeface="Lato"/>
                <a:sym typeface="Lato"/>
              </a:rPr>
              <a:t>Sleep duration is very similar across </a:t>
            </a:r>
            <a:r>
              <a:rPr lang="en-US" sz="1490">
                <a:solidFill>
                  <a:srgbClr val="FEFEFE"/>
                </a:solidFill>
                <a:latin typeface="Lato"/>
                <a:ea typeface="Lato"/>
                <a:cs typeface="Lato"/>
                <a:sym typeface="Lato"/>
              </a:rPr>
              <a:t>genders (around 7 hours).</a:t>
            </a:r>
          </a:p>
          <a:p>
            <a:pPr algn="l" marL="321829" indent="-160915" lvl="1">
              <a:lnSpc>
                <a:spcPts val="2325"/>
              </a:lnSpc>
              <a:buFont typeface="Arial"/>
              <a:buChar char="•"/>
            </a:pPr>
            <a:r>
              <a:rPr lang="en-US" sz="1490">
                <a:solidFill>
                  <a:srgbClr val="FEFEFE"/>
                </a:solidFill>
                <a:latin typeface="Lato"/>
                <a:ea typeface="Lato"/>
                <a:cs typeface="Lato"/>
                <a:sym typeface="Lato"/>
              </a:rPr>
              <a:t>Females have slightly higher average work hours than males.</a:t>
            </a:r>
          </a:p>
          <a:p>
            <a:pPr algn="l" marL="321829" indent="-160915" lvl="1">
              <a:lnSpc>
                <a:spcPts val="2325"/>
              </a:lnSpc>
              <a:buFont typeface="Arial"/>
              <a:buChar char="•"/>
            </a:pPr>
            <a:r>
              <a:rPr lang="en-US" sz="1490">
                <a:solidFill>
                  <a:srgbClr val="FEFEFE"/>
                </a:solidFill>
                <a:latin typeface="Lato"/>
                <a:ea typeface="Lato"/>
                <a:cs typeface="Lato"/>
                <a:sym typeface="Lato"/>
              </a:rPr>
              <a:t>Mental health conditions are distributed fairly evenly across occupations.</a:t>
            </a:r>
          </a:p>
          <a:p>
            <a:pPr algn="l" marL="321829" indent="-160915" lvl="1">
              <a:lnSpc>
                <a:spcPts val="2325"/>
              </a:lnSpc>
              <a:buFont typeface="Arial"/>
              <a:buChar char="•"/>
            </a:pPr>
            <a:r>
              <a:rPr lang="en-US" sz="1490">
                <a:solidFill>
                  <a:srgbClr val="FEFEFE"/>
                </a:solidFill>
                <a:latin typeface="Lato"/>
                <a:ea typeface="Lato"/>
                <a:cs typeface="Lato"/>
                <a:sym typeface="Lato"/>
              </a:rPr>
              <a:t>The 40–59 age group records the highest stress levels.</a:t>
            </a:r>
          </a:p>
          <a:p>
            <a:pPr algn="l" marL="321829" indent="-160915" lvl="1">
              <a:lnSpc>
                <a:spcPts val="2325"/>
              </a:lnSpc>
              <a:buFont typeface="Arial"/>
              <a:buChar char="•"/>
            </a:pPr>
            <a:r>
              <a:rPr lang="en-US" sz="1490">
                <a:solidFill>
                  <a:srgbClr val="FEFEFE"/>
                </a:solidFill>
                <a:latin typeface="Lato"/>
                <a:ea typeface="Lato"/>
                <a:cs typeface="Lato"/>
                <a:sym typeface="Lato"/>
              </a:rPr>
              <a:t>Sleep duration remains relatively stable across different age groups</a:t>
            </a:r>
          </a:p>
          <a:p>
            <a:pPr algn="l">
              <a:lnSpc>
                <a:spcPts val="2325"/>
              </a:lnSpc>
            </a:pPr>
          </a:p>
        </p:txBody>
      </p:sp>
      <p:sp>
        <p:nvSpPr>
          <p:cNvPr name="TextBox 22" id="22"/>
          <p:cNvSpPr txBox="true"/>
          <p:nvPr/>
        </p:nvSpPr>
        <p:spPr>
          <a:xfrm rot="0">
            <a:off x="6302379" y="4251985"/>
            <a:ext cx="3267411" cy="2467066"/>
          </a:xfrm>
          <a:prstGeom prst="rect">
            <a:avLst/>
          </a:prstGeom>
        </p:spPr>
        <p:txBody>
          <a:bodyPr anchor="t" rtlCol="false" tIns="0" lIns="0" bIns="0" rIns="0">
            <a:spAutoFit/>
          </a:bodyPr>
          <a:lstStyle/>
          <a:p>
            <a:pPr algn="l">
              <a:lnSpc>
                <a:spcPts val="3263"/>
              </a:lnSpc>
            </a:pPr>
            <a:r>
              <a:rPr lang="en-US" sz="2092">
                <a:solidFill>
                  <a:srgbClr val="FEFEFE"/>
                </a:solidFill>
                <a:latin typeface="Lato"/>
                <a:ea typeface="Lato"/>
                <a:cs typeface="Lato"/>
                <a:sym typeface="Lato"/>
              </a:rPr>
              <a:t>A</a:t>
            </a:r>
            <a:r>
              <a:rPr lang="en-US" sz="2092">
                <a:solidFill>
                  <a:srgbClr val="FEFEFE"/>
                </a:solidFill>
                <a:latin typeface="Lato"/>
                <a:ea typeface="Lato"/>
                <a:cs typeface="Lato"/>
                <a:sym typeface="Lato"/>
              </a:rPr>
              <a:t>ge appears to have a stronger relationship with stress than gender, while occupation shows only small differences in mental health distribution.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393">
            <a:off x="-6599218" y="-595702"/>
            <a:ext cx="10707604" cy="3504307"/>
          </a:xfrm>
          <a:custGeom>
            <a:avLst/>
            <a:gdLst/>
            <a:ahLst/>
            <a:cxnLst/>
            <a:rect r="r" b="b" t="t" l="l"/>
            <a:pathLst>
              <a:path h="3504307" w="10707604">
                <a:moveTo>
                  <a:pt x="0" y="0"/>
                </a:moveTo>
                <a:lnTo>
                  <a:pt x="10707604" y="0"/>
                </a:lnTo>
                <a:lnTo>
                  <a:pt x="10707604" y="3504306"/>
                </a:lnTo>
                <a:lnTo>
                  <a:pt x="0" y="3504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7783623" y="-937913"/>
            <a:ext cx="2989650" cy="1494825"/>
            <a:chOff x="0" y="0"/>
            <a:chExt cx="660400" cy="330200"/>
          </a:xfrm>
        </p:grpSpPr>
        <p:sp>
          <p:nvSpPr>
            <p:cNvPr name="Freeform 4" id="4"/>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5" id="5"/>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6" id="6"/>
          <p:cNvSpPr/>
          <p:nvPr/>
        </p:nvSpPr>
        <p:spPr>
          <a:xfrm flipH="false" flipV="false" rot="-606683">
            <a:off x="3062467" y="5926235"/>
            <a:ext cx="8488122" cy="2777931"/>
          </a:xfrm>
          <a:custGeom>
            <a:avLst/>
            <a:gdLst/>
            <a:ahLst/>
            <a:cxnLst/>
            <a:rect r="r" b="b" t="t" l="l"/>
            <a:pathLst>
              <a:path h="2777931" w="8488122">
                <a:moveTo>
                  <a:pt x="0" y="0"/>
                </a:moveTo>
                <a:lnTo>
                  <a:pt x="8488122" y="0"/>
                </a:lnTo>
                <a:lnTo>
                  <a:pt x="8488122" y="2777930"/>
                </a:lnTo>
                <a:lnTo>
                  <a:pt x="0" y="2777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3048779">
            <a:off x="-657941" y="6478192"/>
            <a:ext cx="3043230" cy="1521615"/>
            <a:chOff x="0" y="0"/>
            <a:chExt cx="660400" cy="330200"/>
          </a:xfrm>
        </p:grpSpPr>
        <p:sp>
          <p:nvSpPr>
            <p:cNvPr name="Freeform 8" id="8"/>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9" id="9"/>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10" id="10"/>
          <p:cNvGrpSpPr/>
          <p:nvPr/>
        </p:nvGrpSpPr>
        <p:grpSpPr>
          <a:xfrm rot="0">
            <a:off x="-1048502" y="180736"/>
            <a:ext cx="7306528" cy="975350"/>
            <a:chOff x="0" y="0"/>
            <a:chExt cx="2114157" cy="282219"/>
          </a:xfrm>
        </p:grpSpPr>
        <p:sp>
          <p:nvSpPr>
            <p:cNvPr name="Freeform 11" id="11"/>
            <p:cNvSpPr/>
            <p:nvPr/>
          </p:nvSpPr>
          <p:spPr>
            <a:xfrm flipH="false" flipV="false" rot="0">
              <a:off x="0" y="0"/>
              <a:ext cx="2114157" cy="282219"/>
            </a:xfrm>
            <a:custGeom>
              <a:avLst/>
              <a:gdLst/>
              <a:ahLst/>
              <a:cxnLst/>
              <a:rect r="r" b="b" t="t" l="l"/>
              <a:pathLst>
                <a:path h="282219" w="2114157">
                  <a:moveTo>
                    <a:pt x="0" y="0"/>
                  </a:moveTo>
                  <a:lnTo>
                    <a:pt x="2114157" y="0"/>
                  </a:lnTo>
                  <a:lnTo>
                    <a:pt x="2114157" y="282219"/>
                  </a:lnTo>
                  <a:lnTo>
                    <a:pt x="0" y="282219"/>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12" id="12"/>
            <p:cNvSpPr txBox="true"/>
            <p:nvPr/>
          </p:nvSpPr>
          <p:spPr>
            <a:xfrm>
              <a:off x="0" y="-57150"/>
              <a:ext cx="2114157" cy="339369"/>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13" id="13"/>
          <p:cNvSpPr/>
          <p:nvPr/>
        </p:nvSpPr>
        <p:spPr>
          <a:xfrm flipH="false" flipV="false" rot="0">
            <a:off x="6461811" y="3735707"/>
            <a:ext cx="3291789" cy="1913574"/>
          </a:xfrm>
          <a:custGeom>
            <a:avLst/>
            <a:gdLst/>
            <a:ahLst/>
            <a:cxnLst/>
            <a:rect r="r" b="b" t="t" l="l"/>
            <a:pathLst>
              <a:path h="1913574" w="3291789">
                <a:moveTo>
                  <a:pt x="0" y="0"/>
                </a:moveTo>
                <a:lnTo>
                  <a:pt x="3291789" y="0"/>
                </a:lnTo>
                <a:lnTo>
                  <a:pt x="3291789" y="1913574"/>
                </a:lnTo>
                <a:lnTo>
                  <a:pt x="0" y="1913574"/>
                </a:lnTo>
                <a:lnTo>
                  <a:pt x="0" y="0"/>
                </a:lnTo>
                <a:close/>
              </a:path>
            </a:pathLst>
          </a:custGeom>
          <a:blipFill>
            <a:blip r:embed="rId4"/>
            <a:stretch>
              <a:fillRect l="0" t="-26535" r="0" b="-20759"/>
            </a:stretch>
          </a:blipFill>
        </p:spPr>
      </p:sp>
      <p:sp>
        <p:nvSpPr>
          <p:cNvPr name="Freeform 14" id="14"/>
          <p:cNvSpPr/>
          <p:nvPr/>
        </p:nvSpPr>
        <p:spPr>
          <a:xfrm flipH="false" flipV="false" rot="0">
            <a:off x="5559568" y="1407001"/>
            <a:ext cx="4008945" cy="2223931"/>
          </a:xfrm>
          <a:custGeom>
            <a:avLst/>
            <a:gdLst/>
            <a:ahLst/>
            <a:cxnLst/>
            <a:rect r="r" b="b" t="t" l="l"/>
            <a:pathLst>
              <a:path h="2223931" w="4008945">
                <a:moveTo>
                  <a:pt x="0" y="0"/>
                </a:moveTo>
                <a:lnTo>
                  <a:pt x="4008945" y="0"/>
                </a:lnTo>
                <a:lnTo>
                  <a:pt x="4008945" y="2223931"/>
                </a:lnTo>
                <a:lnTo>
                  <a:pt x="0" y="2223931"/>
                </a:lnTo>
                <a:lnTo>
                  <a:pt x="0" y="0"/>
                </a:lnTo>
                <a:close/>
              </a:path>
            </a:pathLst>
          </a:custGeom>
          <a:blipFill>
            <a:blip r:embed="rId5"/>
            <a:stretch>
              <a:fillRect l="0" t="0" r="0" b="-104"/>
            </a:stretch>
          </a:blipFill>
        </p:spPr>
      </p:sp>
      <p:sp>
        <p:nvSpPr>
          <p:cNvPr name="Freeform 15" id="15"/>
          <p:cNvSpPr/>
          <p:nvPr/>
        </p:nvSpPr>
        <p:spPr>
          <a:xfrm flipH="false" flipV="false" rot="0">
            <a:off x="8030273" y="5701215"/>
            <a:ext cx="1694353" cy="1676580"/>
          </a:xfrm>
          <a:custGeom>
            <a:avLst/>
            <a:gdLst/>
            <a:ahLst/>
            <a:cxnLst/>
            <a:rect r="r" b="b" t="t" l="l"/>
            <a:pathLst>
              <a:path h="1676580" w="1694353">
                <a:moveTo>
                  <a:pt x="0" y="0"/>
                </a:moveTo>
                <a:lnTo>
                  <a:pt x="1694353" y="0"/>
                </a:lnTo>
                <a:lnTo>
                  <a:pt x="1694353" y="1676581"/>
                </a:lnTo>
                <a:lnTo>
                  <a:pt x="0" y="1676581"/>
                </a:lnTo>
                <a:lnTo>
                  <a:pt x="0" y="0"/>
                </a:lnTo>
                <a:close/>
              </a:path>
            </a:pathLst>
          </a:custGeom>
          <a:blipFill>
            <a:blip r:embed="rId6"/>
            <a:stretch>
              <a:fillRect l="0" t="0" r="0" b="0"/>
            </a:stretch>
          </a:blipFill>
        </p:spPr>
      </p:sp>
      <p:sp>
        <p:nvSpPr>
          <p:cNvPr name="TextBox 16" id="16"/>
          <p:cNvSpPr txBox="true"/>
          <p:nvPr/>
        </p:nvSpPr>
        <p:spPr>
          <a:xfrm rot="0">
            <a:off x="289775" y="431119"/>
            <a:ext cx="5437636" cy="512684"/>
          </a:xfrm>
          <a:prstGeom prst="rect">
            <a:avLst/>
          </a:prstGeom>
        </p:spPr>
        <p:txBody>
          <a:bodyPr anchor="t" rtlCol="false" tIns="0" lIns="0" bIns="0" rIns="0">
            <a:spAutoFit/>
          </a:bodyPr>
          <a:lstStyle/>
          <a:p>
            <a:pPr algn="l">
              <a:lnSpc>
                <a:spcPts val="3980"/>
              </a:lnSpc>
            </a:pPr>
            <a:r>
              <a:rPr lang="en-US" sz="3618" b="true">
                <a:solidFill>
                  <a:srgbClr val="CC78FF"/>
                </a:solidFill>
                <a:latin typeface="Red Hat Display Bold"/>
                <a:ea typeface="Red Hat Display Bold"/>
                <a:cs typeface="Red Hat Display Bold"/>
                <a:sym typeface="Red Hat Display Bold"/>
              </a:rPr>
              <a:t>H</a:t>
            </a:r>
            <a:r>
              <a:rPr lang="en-US" sz="3618" b="true">
                <a:solidFill>
                  <a:srgbClr val="CC78FF"/>
                </a:solidFill>
                <a:latin typeface="Red Hat Display Bold"/>
                <a:ea typeface="Red Hat Display Bold"/>
                <a:cs typeface="Red Hat Display Bold"/>
                <a:sym typeface="Red Hat Display Bold"/>
              </a:rPr>
              <a:t>ealth Status Dashboard</a:t>
            </a:r>
          </a:p>
        </p:txBody>
      </p:sp>
      <p:sp>
        <p:nvSpPr>
          <p:cNvPr name="TextBox 17" id="17"/>
          <p:cNvSpPr txBox="true"/>
          <p:nvPr/>
        </p:nvSpPr>
        <p:spPr>
          <a:xfrm rot="0">
            <a:off x="66743" y="2069018"/>
            <a:ext cx="2348061" cy="570865"/>
          </a:xfrm>
          <a:prstGeom prst="rect">
            <a:avLst/>
          </a:prstGeom>
        </p:spPr>
        <p:txBody>
          <a:bodyPr anchor="t" rtlCol="false" tIns="0" lIns="0" bIns="0" rIns="0">
            <a:spAutoFit/>
          </a:bodyPr>
          <a:lstStyle/>
          <a:p>
            <a:pPr algn="ctr" rtl="true">
              <a:lnSpc>
                <a:spcPts val="4759"/>
              </a:lnSpc>
            </a:pPr>
            <a:r>
              <a:rPr lang="en-US" b="true" sz="3399">
                <a:solidFill>
                  <a:srgbClr val="CC78FF"/>
                </a:solidFill>
                <a:latin typeface="XM Vahid Bold"/>
                <a:ea typeface="XM Vahid Bold"/>
                <a:cs typeface="XM Vahid Bold"/>
                <a:sym typeface="XM Vahid Bold"/>
              </a:rPr>
              <a:t>Key</a:t>
            </a:r>
            <a:r>
              <a:rPr lang="en-US" b="true" sz="3399">
                <a:solidFill>
                  <a:srgbClr val="CC78FF"/>
                </a:solidFill>
                <a:latin typeface="XM Vahid Bold"/>
                <a:ea typeface="XM Vahid Bold"/>
                <a:cs typeface="XM Vahid Bold"/>
                <a:sym typeface="XM Vahid Bold"/>
              </a:rPr>
              <a:t> Insights</a:t>
            </a:r>
          </a:p>
        </p:txBody>
      </p:sp>
      <p:sp>
        <p:nvSpPr>
          <p:cNvPr name="TextBox 18" id="18"/>
          <p:cNvSpPr txBox="true"/>
          <p:nvPr/>
        </p:nvSpPr>
        <p:spPr>
          <a:xfrm rot="0">
            <a:off x="-206148" y="2646680"/>
            <a:ext cx="5439220" cy="4668520"/>
          </a:xfrm>
          <a:prstGeom prst="rect">
            <a:avLst/>
          </a:prstGeom>
        </p:spPr>
        <p:txBody>
          <a:bodyPr anchor="t" rtlCol="false" tIns="0" lIns="0" bIns="0" rIns="0">
            <a:spAutoFit/>
          </a:bodyPr>
          <a:lstStyle/>
          <a:p>
            <a:pPr algn="ctr" rtl="true" marL="474979" indent="-237490" lvl="1">
              <a:lnSpc>
                <a:spcPts val="3079"/>
              </a:lnSpc>
              <a:buFont typeface="Arial"/>
              <a:buChar char="•"/>
            </a:pPr>
            <a:r>
              <a:rPr lang="en-US" sz="2199">
                <a:solidFill>
                  <a:srgbClr val="CC78FF"/>
                </a:solidFill>
                <a:latin typeface="Droid Arabic Kufi"/>
                <a:ea typeface="Droid Arabic Kufi"/>
                <a:cs typeface="Droid Arabic Kufi"/>
                <a:sym typeface="Droid Arabic Kufi"/>
              </a:rPr>
              <a:t>Most</a:t>
            </a:r>
            <a:r>
              <a:rPr lang="en-US" sz="2199">
                <a:solidFill>
                  <a:srgbClr val="CC78FF"/>
                </a:solidFill>
                <a:latin typeface="Droid Arabic Kufi"/>
                <a:ea typeface="Droid Arabic Kufi"/>
                <a:cs typeface="Droid Arabic Kufi"/>
                <a:sym typeface="Droid Arabic Kufi"/>
              </a:rPr>
              <a:t> patients fall into the "None" severity category</a:t>
            </a:r>
            <a:r>
              <a:rPr lang="ar-EG" sz="2199">
                <a:solidFill>
                  <a:srgbClr val="CC78FF"/>
                </a:solidFill>
                <a:latin typeface="Droid Arabic Kufi"/>
                <a:ea typeface="Droid Arabic Kufi"/>
                <a:cs typeface="Droid Arabic Kufi"/>
                <a:sym typeface="Droid Arabic Kufi"/>
                <a:rtl val="true"/>
              </a:rPr>
              <a:t>.</a:t>
            </a:r>
          </a:p>
          <a:p>
            <a:pPr algn="ctr" rtl="true" marL="474979" indent="-237490" lvl="1">
              <a:lnSpc>
                <a:spcPts val="3079"/>
              </a:lnSpc>
              <a:buFont typeface="Arial"/>
              <a:buChar char="•"/>
            </a:pPr>
            <a:r>
              <a:rPr lang="en-US" sz="2199">
                <a:solidFill>
                  <a:srgbClr val="CC78FF"/>
                </a:solidFill>
                <a:latin typeface="Droid Arabic Kufi"/>
                <a:ea typeface="Droid Arabic Kufi"/>
                <a:cs typeface="Droid Arabic Kufi"/>
                <a:sym typeface="Droid Arabic Kufi"/>
              </a:rPr>
              <a:t>Medication usage remains close to 50% across all severity levels</a:t>
            </a:r>
            <a:r>
              <a:rPr lang="ar-EG" sz="2199">
                <a:solidFill>
                  <a:srgbClr val="CC78FF"/>
                </a:solidFill>
                <a:latin typeface="Droid Arabic Kufi"/>
                <a:ea typeface="Droid Arabic Kufi"/>
                <a:cs typeface="Droid Arabic Kufi"/>
                <a:sym typeface="Droid Arabic Kufi"/>
                <a:rtl val="true"/>
              </a:rPr>
              <a:t>.</a:t>
            </a:r>
          </a:p>
          <a:p>
            <a:pPr algn="ctr" rtl="true" marL="474979" indent="-237490" lvl="1">
              <a:lnSpc>
                <a:spcPts val="3079"/>
              </a:lnSpc>
              <a:buFont typeface="Arial"/>
              <a:buChar char="•"/>
            </a:pPr>
            <a:r>
              <a:rPr lang="en-US" sz="2199">
                <a:solidFill>
                  <a:srgbClr val="CC78FF"/>
                </a:solidFill>
                <a:latin typeface="Droid Arabic Kufi"/>
                <a:ea typeface="Droid Arabic Kufi"/>
                <a:cs typeface="Droid Arabic Kufi"/>
                <a:sym typeface="Droid Arabic Kufi"/>
              </a:rPr>
              <a:t>Nearly 25,000 patients required mental health consultations</a:t>
            </a:r>
            <a:r>
              <a:rPr lang="ar-EG" sz="2199">
                <a:solidFill>
                  <a:srgbClr val="CC78FF"/>
                </a:solidFill>
                <a:latin typeface="Droid Arabic Kufi"/>
                <a:ea typeface="Droid Arabic Kufi"/>
                <a:cs typeface="Droid Arabic Kufi"/>
                <a:sym typeface="Droid Arabic Kufi"/>
                <a:rtl val="true"/>
              </a:rPr>
              <a:t>.</a:t>
            </a:r>
          </a:p>
          <a:p>
            <a:pPr algn="ctr" rtl="true" marL="474979" indent="-237490" lvl="1">
              <a:lnSpc>
                <a:spcPts val="3079"/>
              </a:lnSpc>
              <a:buFont typeface="Arial"/>
              <a:buChar char="•"/>
            </a:pPr>
            <a:r>
              <a:rPr lang="en-US" sz="2199">
                <a:solidFill>
                  <a:srgbClr val="CC78FF"/>
                </a:solidFill>
                <a:latin typeface="Droid Arabic Kufi"/>
                <a:ea typeface="Droid Arabic Kufi"/>
                <a:cs typeface="Droid Arabic Kufi"/>
                <a:sym typeface="Droid Arabic Kufi"/>
              </a:rPr>
              <a:t>Approximately half of the participants reported poor mental health conditions</a:t>
            </a:r>
            <a:r>
              <a:rPr lang="ar-EG" sz="2199">
                <a:solidFill>
                  <a:srgbClr val="CC78FF"/>
                </a:solidFill>
                <a:latin typeface="Droid Arabic Kufi"/>
                <a:ea typeface="Droid Arabic Kufi"/>
                <a:cs typeface="Droid Arabic Kufi"/>
                <a:sym typeface="Droid Arabic Kufi"/>
                <a:rtl val="true"/>
              </a:rPr>
              <a:t>.</a:t>
            </a:r>
          </a:p>
          <a:p>
            <a:pPr algn="ctr" rtl="true" marL="474979" indent="-237490" lvl="1">
              <a:lnSpc>
                <a:spcPts val="3079"/>
              </a:lnSpc>
              <a:buFont typeface="Arial"/>
              <a:buChar char="•"/>
            </a:pPr>
            <a:r>
              <a:rPr lang="en-US" sz="2199">
                <a:solidFill>
                  <a:srgbClr val="CC78FF"/>
                </a:solidFill>
                <a:latin typeface="Droid Arabic Kufi"/>
                <a:ea typeface="Droid Arabic Kufi"/>
                <a:cs typeface="Droid Arabic Kufi"/>
                <a:sym typeface="Droid Arabic Kufi"/>
              </a:rPr>
              <a:t>Smoking habits are represented across all severity categories</a:t>
            </a:r>
          </a:p>
          <a:p>
            <a:pPr algn="ctr" rtl="true">
              <a:lnSpc>
                <a:spcPts val="307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127393">
            <a:off x="-7030604" y="-469850"/>
            <a:ext cx="10707604" cy="3504307"/>
          </a:xfrm>
          <a:custGeom>
            <a:avLst/>
            <a:gdLst/>
            <a:ahLst/>
            <a:cxnLst/>
            <a:rect r="r" b="b" t="t" l="l"/>
            <a:pathLst>
              <a:path h="3504307" w="10707604">
                <a:moveTo>
                  <a:pt x="0" y="0"/>
                </a:moveTo>
                <a:lnTo>
                  <a:pt x="10707604" y="0"/>
                </a:lnTo>
                <a:lnTo>
                  <a:pt x="10707604" y="3504307"/>
                </a:lnTo>
                <a:lnTo>
                  <a:pt x="0" y="350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514879">
            <a:off x="6011778" y="-533434"/>
            <a:ext cx="8488122" cy="2777931"/>
          </a:xfrm>
          <a:custGeom>
            <a:avLst/>
            <a:gdLst/>
            <a:ahLst/>
            <a:cxnLst/>
            <a:rect r="r" b="b" t="t" l="l"/>
            <a:pathLst>
              <a:path h="2777931" w="8488122">
                <a:moveTo>
                  <a:pt x="0" y="0"/>
                </a:moveTo>
                <a:lnTo>
                  <a:pt x="8488122" y="0"/>
                </a:lnTo>
                <a:lnTo>
                  <a:pt x="8488122" y="2777931"/>
                </a:lnTo>
                <a:lnTo>
                  <a:pt x="0" y="27779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5400000">
            <a:off x="-755190" y="6552972"/>
            <a:ext cx="2112779" cy="1056389"/>
            <a:chOff x="0" y="0"/>
            <a:chExt cx="660400" cy="330200"/>
          </a:xfrm>
        </p:grpSpPr>
        <p:sp>
          <p:nvSpPr>
            <p:cNvPr name="Freeform 5" id="5"/>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6" id="6"/>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7" id="7"/>
          <p:cNvGrpSpPr/>
          <p:nvPr/>
        </p:nvGrpSpPr>
        <p:grpSpPr>
          <a:xfrm rot="-5400000">
            <a:off x="8343928" y="6586836"/>
            <a:ext cx="2248232" cy="1124116"/>
            <a:chOff x="0" y="0"/>
            <a:chExt cx="660400" cy="330200"/>
          </a:xfrm>
        </p:grpSpPr>
        <p:sp>
          <p:nvSpPr>
            <p:cNvPr name="Freeform 8" id="8"/>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321E60">
                    <a:alpha val="100000"/>
                  </a:srgbClr>
                </a:gs>
                <a:gs pos="100000">
                  <a:srgbClr val="0B0A17">
                    <a:alpha val="100000"/>
                  </a:srgbClr>
                </a:gs>
              </a:gsLst>
              <a:path path="circle">
                <a:fillToRect l="0" r="100000" t="0" b="100000"/>
              </a:path>
              <a:tileRect r="0" l="-100000" b="0" t="-100000"/>
            </a:gradFill>
          </p:spPr>
        </p:sp>
        <p:sp>
          <p:nvSpPr>
            <p:cNvPr name="TextBox 9" id="9"/>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10" id="10"/>
          <p:cNvGrpSpPr/>
          <p:nvPr/>
        </p:nvGrpSpPr>
        <p:grpSpPr>
          <a:xfrm rot="0">
            <a:off x="455847" y="2344887"/>
            <a:ext cx="9121055" cy="3420567"/>
            <a:chOff x="0" y="0"/>
            <a:chExt cx="6362546" cy="2386074"/>
          </a:xfrm>
        </p:grpSpPr>
        <p:sp>
          <p:nvSpPr>
            <p:cNvPr name="Freeform 11" id="11"/>
            <p:cNvSpPr/>
            <p:nvPr/>
          </p:nvSpPr>
          <p:spPr>
            <a:xfrm flipH="false" flipV="false" rot="0">
              <a:off x="0" y="0"/>
              <a:ext cx="6362546" cy="2386075"/>
            </a:xfrm>
            <a:custGeom>
              <a:avLst/>
              <a:gdLst/>
              <a:ahLst/>
              <a:cxnLst/>
              <a:rect r="r" b="b" t="t" l="l"/>
              <a:pathLst>
                <a:path h="2386075" w="6362546">
                  <a:moveTo>
                    <a:pt x="11936" y="0"/>
                  </a:moveTo>
                  <a:lnTo>
                    <a:pt x="6350610" y="0"/>
                  </a:lnTo>
                  <a:cubicBezTo>
                    <a:pt x="6357202" y="0"/>
                    <a:pt x="6362546" y="5344"/>
                    <a:pt x="6362546" y="11936"/>
                  </a:cubicBezTo>
                  <a:lnTo>
                    <a:pt x="6362546" y="2374138"/>
                  </a:lnTo>
                  <a:cubicBezTo>
                    <a:pt x="6362546" y="2380730"/>
                    <a:pt x="6357202" y="2386075"/>
                    <a:pt x="6350610" y="2386075"/>
                  </a:cubicBezTo>
                  <a:lnTo>
                    <a:pt x="11936" y="2386075"/>
                  </a:lnTo>
                  <a:cubicBezTo>
                    <a:pt x="5344" y="2386075"/>
                    <a:pt x="0" y="2380730"/>
                    <a:pt x="0" y="2374138"/>
                  </a:cubicBezTo>
                  <a:lnTo>
                    <a:pt x="0" y="11936"/>
                  </a:lnTo>
                  <a:cubicBezTo>
                    <a:pt x="0" y="5344"/>
                    <a:pt x="5344" y="0"/>
                    <a:pt x="11936" y="0"/>
                  </a:cubicBez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a:ln w="9525" cap="sq">
              <a:gradFill>
                <a:gsLst>
                  <a:gs pos="0">
                    <a:srgbClr val="0B0A17">
                      <a:alpha val="100000"/>
                    </a:srgbClr>
                  </a:gs>
                  <a:gs pos="100000">
                    <a:srgbClr val="321E60">
                      <a:alpha val="100000"/>
                    </a:srgbClr>
                  </a:gs>
                </a:gsLst>
                <a:path path="circle">
                  <a:fillToRect l="0" r="100000" t="0" b="100000"/>
                </a:path>
                <a:tileRect r="0" l="-100000" b="0" t="-100000"/>
              </a:gradFill>
              <a:prstDash val="solid"/>
              <a:miter/>
            </a:ln>
          </p:spPr>
        </p:sp>
        <p:sp>
          <p:nvSpPr>
            <p:cNvPr name="TextBox 12" id="12"/>
            <p:cNvSpPr txBox="true"/>
            <p:nvPr/>
          </p:nvSpPr>
          <p:spPr>
            <a:xfrm>
              <a:off x="0" y="-57150"/>
              <a:ext cx="6362546" cy="2443224"/>
            </a:xfrm>
            <a:prstGeom prst="rect">
              <a:avLst/>
            </a:prstGeom>
          </p:spPr>
          <p:txBody>
            <a:bodyPr anchor="ctr" rtlCol="false" tIns="18004" lIns="18004" bIns="18004" rIns="18004"/>
            <a:lstStyle/>
            <a:p>
              <a:pPr algn="l" marL="0" indent="0" lvl="1">
                <a:lnSpc>
                  <a:spcPts val="2325"/>
                </a:lnSpc>
                <a:spcBef>
                  <a:spcPct val="0"/>
                </a:spcBef>
              </a:pPr>
            </a:p>
          </p:txBody>
        </p:sp>
      </p:grpSp>
      <p:sp>
        <p:nvSpPr>
          <p:cNvPr name="TextBox 13" id="13"/>
          <p:cNvSpPr txBox="true"/>
          <p:nvPr/>
        </p:nvSpPr>
        <p:spPr>
          <a:xfrm rot="0">
            <a:off x="626422" y="1320404"/>
            <a:ext cx="4929888" cy="512684"/>
          </a:xfrm>
          <a:prstGeom prst="rect">
            <a:avLst/>
          </a:prstGeom>
        </p:spPr>
        <p:txBody>
          <a:bodyPr anchor="t" rtlCol="false" tIns="0" lIns="0" bIns="0" rIns="0">
            <a:spAutoFit/>
          </a:bodyPr>
          <a:lstStyle/>
          <a:p>
            <a:pPr algn="l">
              <a:lnSpc>
                <a:spcPts val="3980"/>
              </a:lnSpc>
            </a:pPr>
            <a:r>
              <a:rPr lang="en-US" sz="3618" b="true">
                <a:solidFill>
                  <a:srgbClr val="CC78FF"/>
                </a:solidFill>
                <a:latin typeface="Red Hat Display Bold"/>
                <a:ea typeface="Red Hat Display Bold"/>
                <a:cs typeface="Red Hat Display Bold"/>
                <a:sym typeface="Red Hat Display Bold"/>
              </a:rPr>
              <a:t>C</a:t>
            </a:r>
            <a:r>
              <a:rPr lang="en-US" sz="3618" b="true">
                <a:solidFill>
                  <a:srgbClr val="CC78FF"/>
                </a:solidFill>
                <a:latin typeface="Red Hat Display Bold"/>
                <a:ea typeface="Red Hat Display Bold"/>
                <a:cs typeface="Red Hat Display Bold"/>
                <a:sym typeface="Red Hat Display Bold"/>
              </a:rPr>
              <a:t>onclusion</a:t>
            </a:r>
          </a:p>
        </p:txBody>
      </p:sp>
      <p:sp>
        <p:nvSpPr>
          <p:cNvPr name="TextBox 14" id="14"/>
          <p:cNvSpPr txBox="true"/>
          <p:nvPr/>
        </p:nvSpPr>
        <p:spPr>
          <a:xfrm rot="0">
            <a:off x="455847" y="2595211"/>
            <a:ext cx="9016469" cy="3170244"/>
          </a:xfrm>
          <a:prstGeom prst="rect">
            <a:avLst/>
          </a:prstGeom>
        </p:spPr>
        <p:txBody>
          <a:bodyPr anchor="t" rtlCol="false" tIns="0" lIns="0" bIns="0" rIns="0">
            <a:spAutoFit/>
          </a:bodyPr>
          <a:lstStyle/>
          <a:p>
            <a:pPr algn="ctr" rtl="true">
              <a:lnSpc>
                <a:spcPts val="2282"/>
              </a:lnSpc>
            </a:pPr>
            <a:r>
              <a:rPr lang="en-US" sz="1630">
                <a:solidFill>
                  <a:srgbClr val="CC78FF"/>
                </a:solidFill>
                <a:latin typeface="Droid Arabic Kufi"/>
                <a:ea typeface="Droid Arabic Kufi"/>
                <a:cs typeface="Droid Arabic Kufi"/>
                <a:sym typeface="Droid Arabic Kufi"/>
              </a:rPr>
              <a:t>Through analyzing the Mental Health dataset, we found that mental health is influenced by multiple demographic, lifestyle, and health-related factors. The analysis showed that middle-aged individuals (40–59 years) experience the highest stress levels, while sleep duration remains relatively consistent across different age groups and genders. Lifestyle habits such as smoking, diet quality, and social media usage appear to be associated with stress</a:t>
            </a:r>
            <a:r>
              <a:rPr lang="en-US" sz="1630">
                <a:solidFill>
                  <a:srgbClr val="CC78FF"/>
                </a:solidFill>
                <a:latin typeface="Droid Arabic Kufi"/>
                <a:ea typeface="Droid Arabic Kufi"/>
                <a:cs typeface="Droid Arabic Kufi"/>
                <a:sym typeface="Droid Arabic Kufi"/>
              </a:rPr>
              <a:t> and mental well-being. Although most participants were classified as having no severe mental health condition, consultation and medication usage remained significant, highlighting the importance of early detection and continuous mental health support. Overall, the dashboard provides clear insights that can help healthcare professionals and decision-makers better understand mental health patterns and support data-driven decisions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31442">
                <a:alpha val="100000"/>
              </a:srgbClr>
            </a:gs>
            <a:gs pos="100000">
              <a:srgbClr val="0B0A17">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2338171" y="2227481"/>
            <a:ext cx="7565757" cy="860425"/>
          </a:xfrm>
          <a:prstGeom prst="rect">
            <a:avLst/>
          </a:prstGeom>
        </p:spPr>
        <p:txBody>
          <a:bodyPr anchor="t" rtlCol="false" tIns="0" lIns="0" bIns="0" rIns="0">
            <a:spAutoFit/>
          </a:bodyPr>
          <a:lstStyle/>
          <a:p>
            <a:pPr algn="l">
              <a:lnSpc>
                <a:spcPts val="6500"/>
              </a:lnSpc>
            </a:pPr>
            <a:r>
              <a:rPr lang="en-US" b="true" sz="6500">
                <a:solidFill>
                  <a:srgbClr val="CC78FF"/>
                </a:solidFill>
                <a:latin typeface="Red Hat Display Bold"/>
                <a:ea typeface="Red Hat Display Bold"/>
                <a:cs typeface="Red Hat Display Bold"/>
                <a:sym typeface="Red Hat Display Bold"/>
              </a:rPr>
              <a:t>THANK YOU!</a:t>
            </a:r>
          </a:p>
        </p:txBody>
      </p:sp>
      <p:grpSp>
        <p:nvGrpSpPr>
          <p:cNvPr name="Group 3" id="3"/>
          <p:cNvGrpSpPr/>
          <p:nvPr/>
        </p:nvGrpSpPr>
        <p:grpSpPr>
          <a:xfrm rot="-10800000">
            <a:off x="7783438" y="6215190"/>
            <a:ext cx="3434774" cy="1717387"/>
            <a:chOff x="0" y="0"/>
            <a:chExt cx="660400" cy="330200"/>
          </a:xfrm>
        </p:grpSpPr>
        <p:sp>
          <p:nvSpPr>
            <p:cNvPr name="Freeform 4" id="4"/>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5" id="5"/>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grpSp>
        <p:nvGrpSpPr>
          <p:cNvPr name="Group 6" id="6"/>
          <p:cNvGrpSpPr/>
          <p:nvPr/>
        </p:nvGrpSpPr>
        <p:grpSpPr>
          <a:xfrm rot="0">
            <a:off x="-2135072" y="-1236818"/>
            <a:ext cx="4155845" cy="2077922"/>
            <a:chOff x="0" y="0"/>
            <a:chExt cx="660400" cy="330200"/>
          </a:xfrm>
        </p:grpSpPr>
        <p:sp>
          <p:nvSpPr>
            <p:cNvPr name="Freeform 7" id="7"/>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gradFill rotWithShape="true">
              <a:gsLst>
                <a:gs pos="0">
                  <a:srgbClr val="0B0A17">
                    <a:alpha val="100000"/>
                  </a:srgbClr>
                </a:gs>
                <a:gs pos="100000">
                  <a:srgbClr val="321E60">
                    <a:alpha val="100000"/>
                  </a:srgbClr>
                </a:gs>
              </a:gsLst>
              <a:path path="circle">
                <a:fillToRect l="0" r="100000" t="0" b="100000"/>
              </a:path>
              <a:tileRect r="0" l="-100000" b="0" t="-100000"/>
            </a:gradFill>
          </p:spPr>
        </p:sp>
        <p:sp>
          <p:nvSpPr>
            <p:cNvPr name="TextBox 8" id="8"/>
            <p:cNvSpPr txBox="true"/>
            <p:nvPr/>
          </p:nvSpPr>
          <p:spPr>
            <a:xfrm>
              <a:off x="127000" y="-12700"/>
              <a:ext cx="406400" cy="203200"/>
            </a:xfrm>
            <a:prstGeom prst="rect">
              <a:avLst/>
            </a:prstGeom>
          </p:spPr>
          <p:txBody>
            <a:bodyPr anchor="ctr" rtlCol="false" tIns="50800" lIns="50800" bIns="50800" rIns="50800"/>
            <a:lstStyle/>
            <a:p>
              <a:pPr algn="l" marL="0" indent="0" lvl="1">
                <a:lnSpc>
                  <a:spcPts val="2325"/>
                </a:lnSpc>
                <a:spcBef>
                  <a:spcPct val="0"/>
                </a:spcBef>
              </a:pPr>
            </a:p>
          </p:txBody>
        </p:sp>
      </p:grpSp>
      <p:sp>
        <p:nvSpPr>
          <p:cNvPr name="Freeform 9" id="9"/>
          <p:cNvSpPr/>
          <p:nvPr/>
        </p:nvSpPr>
        <p:spPr>
          <a:xfrm flipH="false" flipV="false" rot="1476178">
            <a:off x="-3255242" y="5952269"/>
            <a:ext cx="6227316" cy="2038031"/>
          </a:xfrm>
          <a:custGeom>
            <a:avLst/>
            <a:gdLst/>
            <a:ahLst/>
            <a:cxnLst/>
            <a:rect r="r" b="b" t="t" l="l"/>
            <a:pathLst>
              <a:path h="2038031" w="6227316">
                <a:moveTo>
                  <a:pt x="0" y="0"/>
                </a:moveTo>
                <a:lnTo>
                  <a:pt x="6227315" y="0"/>
                </a:lnTo>
                <a:lnTo>
                  <a:pt x="6227315" y="2038030"/>
                </a:lnTo>
                <a:lnTo>
                  <a:pt x="0" y="2038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476178">
            <a:off x="5908422" y="-1138166"/>
            <a:ext cx="6227316" cy="2038031"/>
          </a:xfrm>
          <a:custGeom>
            <a:avLst/>
            <a:gdLst/>
            <a:ahLst/>
            <a:cxnLst/>
            <a:rect r="r" b="b" t="t" l="l"/>
            <a:pathLst>
              <a:path h="2038031" w="6227316">
                <a:moveTo>
                  <a:pt x="0" y="0"/>
                </a:moveTo>
                <a:lnTo>
                  <a:pt x="6227316" y="0"/>
                </a:lnTo>
                <a:lnTo>
                  <a:pt x="6227316" y="2038030"/>
                </a:lnTo>
                <a:lnTo>
                  <a:pt x="0" y="2038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DAHO04TKMkg</dc:identifier>
  <dcterms:modified xsi:type="dcterms:W3CDTF">2011-08-01T06:04:30Z</dcterms:modified>
  <cp:revision>1</cp:revision>
  <dc:title>Black and White Professional Creative Project Manager Portfolio Presentation</dc:title>
</cp:coreProperties>
</file>