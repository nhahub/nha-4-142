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753600" cy="7315200"/>
  <p:notesSz cx="6858000" cy="9144000"/>
  <p:embeddedFontLst>
    <p:embeddedFont>
      <p:font typeface="Red Hat Display Bold" charset="1" panose="02010803040201060303"/>
      <p:regular r:id="rId18"/>
    </p:embeddedFont>
    <p:embeddedFont>
      <p:font typeface="Lato Italics" charset="1" panose="020F0502020204030203"/>
      <p:regular r:id="rId19"/>
    </p:embeddedFont>
    <p:embeddedFont>
      <p:font typeface="Lato" charset="1" panose="020F0502020204030203"/>
      <p:regular r:id="rId20"/>
    </p:embeddedFont>
    <p:embeddedFont>
      <p:font typeface="Lato Bold" charset="1" panose="020F0502020204030203"/>
      <p:regular r:id="rId21"/>
    </p:embeddedFont>
    <p:embeddedFont>
      <p:font typeface="XM Vahid Bold" charset="1" panose="02000803090000020004"/>
      <p:regular r:id="rId22"/>
    </p:embeddedFont>
    <p:embeddedFont>
      <p:font typeface="Droid Arabic Naskh Bold" charset="1" panose="020B0806030804020204"/>
      <p:regular r:id="rId23"/>
    </p:embeddedFont>
    <p:embeddedFont>
      <p:font typeface="Droid Arabic Kufi" charset="1" panose="020B0606030804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3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png" Type="http://schemas.openxmlformats.org/officeDocument/2006/relationships/image"/><Relationship Id="rId12" Target="../media/image4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077926" y="5570230"/>
            <a:ext cx="4155843" cy="2157841"/>
          </a:xfrm>
          <a:custGeom>
            <a:avLst/>
            <a:gdLst/>
            <a:ahLst/>
            <a:cxnLst/>
            <a:rect r="r" b="b" t="t" l="l"/>
            <a:pathLst>
              <a:path h="2157841" w="4155843">
                <a:moveTo>
                  <a:pt x="0" y="0"/>
                </a:moveTo>
                <a:lnTo>
                  <a:pt x="4155843" y="0"/>
                </a:lnTo>
                <a:lnTo>
                  <a:pt x="4155843" y="2157841"/>
                </a:lnTo>
                <a:lnTo>
                  <a:pt x="0" y="2157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19580">
            <a:off x="6040784" y="6495802"/>
            <a:ext cx="6227312" cy="2038036"/>
          </a:xfrm>
          <a:custGeom>
            <a:avLst/>
            <a:gdLst/>
            <a:ahLst/>
            <a:cxnLst/>
            <a:rect r="r" b="b" t="t" l="l"/>
            <a:pathLst>
              <a:path h="2038036" w="6227312">
                <a:moveTo>
                  <a:pt x="0" y="0"/>
                </a:moveTo>
                <a:lnTo>
                  <a:pt x="6227311" y="0"/>
                </a:lnTo>
                <a:lnTo>
                  <a:pt x="6227311" y="2038036"/>
                </a:lnTo>
                <a:lnTo>
                  <a:pt x="0" y="2038036"/>
                </a:lnTo>
                <a:lnTo>
                  <a:pt x="0" y="0"/>
                </a:lnTo>
                <a:close/>
              </a:path>
            </a:pathLst>
          </a:custGeom>
          <a:blipFill>
            <a:blip r:embed="rId4">
              <a:extLst>
                <a:ext uri="{96DAC541-7B7A-43D3-8B79-37D633B846F1}">
                  <asvg:svgBlip xmlns:asvg="http://schemas.microsoft.com/office/drawing/2016/SVG/main" r:embed="rId5"/>
                </a:ext>
              </a:extLst>
            </a:blip>
            <a:stretch>
              <a:fillRect l="0" t="-225" r="0" b="-224"/>
            </a:stretch>
          </a:blipFill>
        </p:spPr>
      </p:sp>
      <p:sp>
        <p:nvSpPr>
          <p:cNvPr name="TextBox 4" id="4" descr="Mental Health &amp; Lifestyle Analysis"/>
          <p:cNvSpPr txBox="true"/>
          <p:nvPr/>
        </p:nvSpPr>
        <p:spPr>
          <a:xfrm rot="0">
            <a:off x="258099" y="520198"/>
            <a:ext cx="7849448" cy="1184491"/>
          </a:xfrm>
          <a:prstGeom prst="rect">
            <a:avLst/>
          </a:prstGeom>
        </p:spPr>
        <p:txBody>
          <a:bodyPr anchor="t" rtlCol="false" tIns="0" lIns="0" bIns="0" rIns="0">
            <a:spAutoFit/>
          </a:bodyPr>
          <a:lstStyle/>
          <a:p>
            <a:pPr algn="l">
              <a:lnSpc>
                <a:spcPts val="4945"/>
              </a:lnSpc>
            </a:pPr>
            <a:r>
              <a:rPr lang="en-US" sz="4945" b="true">
                <a:solidFill>
                  <a:srgbClr val="FEFEFE"/>
                </a:solidFill>
                <a:latin typeface="Red Hat Display Bold"/>
                <a:ea typeface="Red Hat Display Bold"/>
                <a:cs typeface="Red Hat Display Bold"/>
                <a:sym typeface="Red Hat Display Bold"/>
              </a:rPr>
              <a:t>MENTAL HEALTH &amp; LIFESTYLE ANALYSIS</a:t>
            </a:r>
          </a:p>
        </p:txBody>
      </p:sp>
      <p:sp>
        <p:nvSpPr>
          <p:cNvPr name="TextBox 5" id="5"/>
          <p:cNvSpPr txBox="true"/>
          <p:nvPr/>
        </p:nvSpPr>
        <p:spPr>
          <a:xfrm rot="0">
            <a:off x="393087" y="2229879"/>
            <a:ext cx="4898812" cy="361950"/>
          </a:xfrm>
          <a:prstGeom prst="rect">
            <a:avLst/>
          </a:prstGeom>
        </p:spPr>
        <p:txBody>
          <a:bodyPr anchor="t" rtlCol="false" tIns="0" lIns="0" bIns="0" rIns="0">
            <a:spAutoFit/>
          </a:bodyPr>
          <a:lstStyle/>
          <a:p>
            <a:pPr algn="l">
              <a:lnSpc>
                <a:spcPts val="2879"/>
              </a:lnSpc>
            </a:pPr>
            <a:r>
              <a:rPr lang="en-US" sz="2400" i="true">
                <a:solidFill>
                  <a:srgbClr val="CC78FF"/>
                </a:solidFill>
                <a:latin typeface="Lato Italics"/>
                <a:ea typeface="Lato Italics"/>
                <a:cs typeface="Lato Italics"/>
                <a:sym typeface="Lato Italics"/>
              </a:rPr>
              <a:t>Data Analytics Project</a:t>
            </a:r>
          </a:p>
        </p:txBody>
      </p:sp>
      <p:sp>
        <p:nvSpPr>
          <p:cNvPr name="TextBox 6" id="6"/>
          <p:cNvSpPr txBox="true"/>
          <p:nvPr/>
        </p:nvSpPr>
        <p:spPr>
          <a:xfrm rot="0">
            <a:off x="892959" y="3849795"/>
            <a:ext cx="5400846" cy="1935394"/>
          </a:xfrm>
          <a:prstGeom prst="rect">
            <a:avLst/>
          </a:prstGeom>
        </p:spPr>
        <p:txBody>
          <a:bodyPr anchor="t" rtlCol="false" tIns="0" lIns="0" bIns="0" rIns="0">
            <a:spAutoFit/>
          </a:bodyPr>
          <a:lstStyle/>
          <a:p>
            <a:pPr algn="l">
              <a:lnSpc>
                <a:spcPts val="2524"/>
              </a:lnSpc>
            </a:pPr>
            <a:r>
              <a:rPr lang="en-US" sz="1803">
                <a:solidFill>
                  <a:srgbClr val="FEFEFE"/>
                </a:solidFill>
                <a:latin typeface="Lato"/>
                <a:ea typeface="Lato"/>
                <a:cs typeface="Lato"/>
                <a:sym typeface="Lato"/>
              </a:rPr>
              <a:t>Maryam Ahmed Mohamed Ibrahim                                                                                   Mayar Abdelrasoul Mahmoud                                                                                                                               Hana Mohamed Mahmoud Elgawish                                                                                                                 Rawan Mousa Alwani Mohamed                                                                                                                Malak Ahmed Helmy Ibrahim                                                                                                                         Malak Ibrahim abdo</a:t>
            </a:r>
          </a:p>
        </p:txBody>
      </p:sp>
      <p:sp>
        <p:nvSpPr>
          <p:cNvPr name="TextBox 7" id="7"/>
          <p:cNvSpPr txBox="true"/>
          <p:nvPr/>
        </p:nvSpPr>
        <p:spPr>
          <a:xfrm rot="0">
            <a:off x="731520" y="3295650"/>
            <a:ext cx="4898812" cy="361950"/>
          </a:xfrm>
          <a:prstGeom prst="rect">
            <a:avLst/>
          </a:prstGeom>
        </p:spPr>
        <p:txBody>
          <a:bodyPr anchor="t" rtlCol="false" tIns="0" lIns="0" bIns="0" rIns="0">
            <a:spAutoFit/>
          </a:bodyPr>
          <a:lstStyle/>
          <a:p>
            <a:pPr algn="l">
              <a:lnSpc>
                <a:spcPts val="2879"/>
              </a:lnSpc>
            </a:pPr>
            <a:r>
              <a:rPr lang="en-US" sz="2400" i="true">
                <a:solidFill>
                  <a:srgbClr val="CC78FF"/>
                </a:solidFill>
                <a:latin typeface="Lato Italics"/>
                <a:ea typeface="Lato Italics"/>
                <a:cs typeface="Lato Italics"/>
                <a:sym typeface="Lato Italics"/>
              </a:rPr>
              <a:t>Prepared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400">
            <a:off x="-6599215" y="-595703"/>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3" id="3"/>
          <p:cNvSpPr/>
          <p:nvPr/>
        </p:nvSpPr>
        <p:spPr>
          <a:xfrm flipH="false" flipV="false" rot="0">
            <a:off x="0" y="403212"/>
            <a:ext cx="4061612" cy="1172861"/>
          </a:xfrm>
          <a:custGeom>
            <a:avLst/>
            <a:gdLst/>
            <a:ahLst/>
            <a:cxnLst/>
            <a:rect r="r" b="b" t="t" l="l"/>
            <a:pathLst>
              <a:path h="1172861" w="4061612">
                <a:moveTo>
                  <a:pt x="0" y="0"/>
                </a:moveTo>
                <a:lnTo>
                  <a:pt x="4061612" y="0"/>
                </a:lnTo>
                <a:lnTo>
                  <a:pt x="4061612" y="1172861"/>
                </a:lnTo>
                <a:lnTo>
                  <a:pt x="0" y="117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3388" y="6087570"/>
            <a:ext cx="1274845" cy="2455259"/>
          </a:xfrm>
          <a:custGeom>
            <a:avLst/>
            <a:gdLst/>
            <a:ahLst/>
            <a:cxnLst/>
            <a:rect r="r" b="b" t="t" l="l"/>
            <a:pathLst>
              <a:path h="2455259" w="1274845">
                <a:moveTo>
                  <a:pt x="0" y="0"/>
                </a:moveTo>
                <a:lnTo>
                  <a:pt x="1274845" y="0"/>
                </a:lnTo>
                <a:lnTo>
                  <a:pt x="1274845" y="2455260"/>
                </a:lnTo>
                <a:lnTo>
                  <a:pt x="0" y="24552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9431820">
            <a:off x="5610311" y="5614292"/>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6" id="6"/>
          <p:cNvSpPr/>
          <p:nvPr/>
        </p:nvSpPr>
        <p:spPr>
          <a:xfrm flipH="false" flipV="false" rot="0">
            <a:off x="8693353" y="-1298800"/>
            <a:ext cx="1274845" cy="2455259"/>
          </a:xfrm>
          <a:custGeom>
            <a:avLst/>
            <a:gdLst/>
            <a:ahLst/>
            <a:cxnLst/>
            <a:rect r="r" b="b" t="t" l="l"/>
            <a:pathLst>
              <a:path h="2455259" w="1274845">
                <a:moveTo>
                  <a:pt x="0" y="0"/>
                </a:moveTo>
                <a:lnTo>
                  <a:pt x="1274845" y="0"/>
                </a:lnTo>
                <a:lnTo>
                  <a:pt x="1274845" y="2455259"/>
                </a:lnTo>
                <a:lnTo>
                  <a:pt x="0" y="24552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7" id="7"/>
          <p:cNvGraphicFramePr>
            <a:graphicFrameLocks noGrp="true"/>
          </p:cNvGraphicFramePr>
          <p:nvPr/>
        </p:nvGraphicFramePr>
        <p:xfrm>
          <a:off x="480426" y="1934320"/>
          <a:ext cx="5676900" cy="4508500"/>
        </p:xfrm>
        <a:graphic>
          <a:graphicData uri="http://schemas.openxmlformats.org/drawingml/2006/table">
            <a:tbl>
              <a:tblPr/>
              <a:tblGrid>
                <a:gridCol w="5562675"/>
                <a:gridCol w="114225"/>
              </a:tblGrid>
              <a:tr h="857831">
                <a:tc>
                  <a:txBody>
                    <a:bodyPr anchor="t" rtlCol="false"/>
                    <a:lstStyle/>
                    <a:p>
                      <a:pPr algn="l">
                        <a:lnSpc>
                          <a:spcPts val="2520"/>
                        </a:lnSpc>
                        <a:defRPr/>
                      </a:pPr>
                      <a:r>
                        <a:rPr lang="en-US" sz="2100">
                          <a:solidFill>
                            <a:srgbClr val="FEFEFE"/>
                          </a:solidFill>
                          <a:latin typeface="Lato"/>
                          <a:ea typeface="Lato"/>
                          <a:cs typeface="Lato"/>
                          <a:sym typeface="Lato"/>
                        </a:rPr>
                        <a:t> ●  Analyze mental health and lifestyle data.</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853961">
                <a:tc>
                  <a:txBody>
                    <a:bodyPr anchor="t" rtlCol="false"/>
                    <a:lstStyle/>
                    <a:p>
                      <a:pPr algn="l">
                        <a:lnSpc>
                          <a:spcPts val="2520"/>
                        </a:lnSpc>
                        <a:defRPr/>
                      </a:pPr>
                      <a:r>
                        <a:rPr lang="en-US" sz="2100">
                          <a:solidFill>
                            <a:srgbClr val="FEFEFE"/>
                          </a:solidFill>
                          <a:latin typeface="Lato"/>
                          <a:ea typeface="Lato"/>
                          <a:cs typeface="Lato"/>
                          <a:sym typeface="Lato"/>
                        </a:rPr>
                        <a:t>●  Design and build a Data Warehouse using Star Schema</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579818">
                <a:tc>
                  <a:txBody>
                    <a:bodyPr anchor="t" rtlCol="false"/>
                    <a:lstStyle/>
                    <a:p>
                      <a:pPr algn="l">
                        <a:lnSpc>
                          <a:spcPts val="2520"/>
                        </a:lnSpc>
                        <a:defRPr/>
                      </a:pPr>
                      <a:r>
                        <a:rPr lang="en-US" sz="2100">
                          <a:solidFill>
                            <a:srgbClr val="FEFEFE"/>
                          </a:solidFill>
                          <a:latin typeface="Lato"/>
                          <a:ea typeface="Lato"/>
                          <a:cs typeface="Lato"/>
                          <a:sym typeface="Lato"/>
                        </a:rPr>
                        <a:t>●  Perform the ETL process using SSIS</a:t>
                      </a:r>
                      <a:endParaRPr lang="en-US" sz="1100"/>
                    </a:p>
                    <a:p>
                      <a:pPr algn="l">
                        <a:lnSpc>
                          <a:spcPts val="2520"/>
                        </a:lnSpc>
                      </a:pPr>
                      <a:r>
                        <a:rPr lang="en-US" sz="2100">
                          <a:solidFill>
                            <a:srgbClr val="FEFEFE"/>
                          </a:solidFill>
                          <a:latin typeface="Lato"/>
                          <a:ea typeface="Lato"/>
                          <a:cs typeface="Lato"/>
                          <a:sym typeface="Lato"/>
                        </a:rPr>
                        <a:t>  </a:t>
                      </a:r>
                    </a:p>
                    <a:p>
                      <a:pPr algn="l">
                        <a:lnSpc>
                          <a:spcPts val="2520"/>
                        </a:lnSpc>
                      </a:pPr>
                      <a:r>
                        <a:rPr lang="en-US" sz="2100">
                          <a:solidFill>
                            <a:srgbClr val="FEFEFE"/>
                          </a:solidFill>
                          <a:latin typeface="Lato"/>
                          <a:ea typeface="Lato"/>
                          <a:cs typeface="Lato"/>
                          <a:sym typeface="Lato"/>
                        </a:rPr>
                        <a:t>●  Identify patterns and trends related to mental health and lifestyle</a:t>
                      </a: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216890">
                <a:tc>
                  <a:txBody>
                    <a:bodyPr anchor="t" rtlCol="false"/>
                    <a:lstStyle/>
                    <a:p>
                      <a:pPr algn="l">
                        <a:lnSpc>
                          <a:spcPts val="2520"/>
                        </a:lnSpc>
                        <a:defRPr/>
                      </a:pPr>
                      <a:r>
                        <a:rPr lang="en-US" sz="2100">
                          <a:solidFill>
                            <a:srgbClr val="FEFEFE"/>
                          </a:solidFill>
                          <a:latin typeface="Lato"/>
                          <a:ea typeface="Lato"/>
                          <a:cs typeface="Lato"/>
                          <a:sym typeface="Lato"/>
                        </a:rPr>
                        <a:t>●  Support data-driven decision-making through meaningful insights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sp>
        <p:nvSpPr>
          <p:cNvPr name="TextBox 8" id="8"/>
          <p:cNvSpPr txBox="true"/>
          <p:nvPr/>
        </p:nvSpPr>
        <p:spPr>
          <a:xfrm rot="0">
            <a:off x="643242" y="889206"/>
            <a:ext cx="3337617" cy="402946"/>
          </a:xfrm>
          <a:prstGeom prst="rect">
            <a:avLst/>
          </a:prstGeom>
        </p:spPr>
        <p:txBody>
          <a:bodyPr anchor="t" rtlCol="false" tIns="0" lIns="0" bIns="0" rIns="0">
            <a:spAutoFit/>
          </a:bodyPr>
          <a:lstStyle/>
          <a:p>
            <a:pPr algn="l">
              <a:lnSpc>
                <a:spcPts val="3461"/>
              </a:lnSpc>
            </a:pPr>
            <a:r>
              <a:rPr lang="en-US" sz="3147" b="true">
                <a:solidFill>
                  <a:srgbClr val="CC78FF"/>
                </a:solidFill>
                <a:latin typeface="Red Hat Display Bold"/>
                <a:ea typeface="Red Hat Display Bold"/>
                <a:cs typeface="Red Hat Display Bold"/>
                <a:sym typeface="Red Hat Display Bold"/>
              </a:rPr>
              <a:t>Project Objective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400">
            <a:off x="-6599215" y="-595703"/>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3" id="3"/>
          <p:cNvSpPr/>
          <p:nvPr/>
        </p:nvSpPr>
        <p:spPr>
          <a:xfrm flipH="false" flipV="false" rot="0">
            <a:off x="2996232" y="-16412"/>
            <a:ext cx="3761137" cy="1172861"/>
          </a:xfrm>
          <a:custGeom>
            <a:avLst/>
            <a:gdLst/>
            <a:ahLst/>
            <a:cxnLst/>
            <a:rect r="r" b="b" t="t" l="l"/>
            <a:pathLst>
              <a:path h="1172861" w="3761137">
                <a:moveTo>
                  <a:pt x="0" y="0"/>
                </a:moveTo>
                <a:lnTo>
                  <a:pt x="3761136" y="0"/>
                </a:lnTo>
                <a:lnTo>
                  <a:pt x="3761136" y="1172861"/>
                </a:lnTo>
                <a:lnTo>
                  <a:pt x="0" y="117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3388" y="6259163"/>
            <a:ext cx="1274845" cy="2455259"/>
          </a:xfrm>
          <a:custGeom>
            <a:avLst/>
            <a:gdLst/>
            <a:ahLst/>
            <a:cxnLst/>
            <a:rect r="r" b="b" t="t" l="l"/>
            <a:pathLst>
              <a:path h="2455259" w="1274845">
                <a:moveTo>
                  <a:pt x="0" y="0"/>
                </a:moveTo>
                <a:lnTo>
                  <a:pt x="1274845" y="0"/>
                </a:lnTo>
                <a:lnTo>
                  <a:pt x="1274845" y="2455259"/>
                </a:lnTo>
                <a:lnTo>
                  <a:pt x="0" y="24552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8514900">
            <a:off x="6001807" y="-412756"/>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6" id="6"/>
          <p:cNvSpPr/>
          <p:nvPr/>
        </p:nvSpPr>
        <p:spPr>
          <a:xfrm flipH="false" flipV="false" rot="0">
            <a:off x="8693353" y="6259163"/>
            <a:ext cx="1274845" cy="2455259"/>
          </a:xfrm>
          <a:custGeom>
            <a:avLst/>
            <a:gdLst/>
            <a:ahLst/>
            <a:cxnLst/>
            <a:rect r="r" b="b" t="t" l="l"/>
            <a:pathLst>
              <a:path h="2455259" w="1274845">
                <a:moveTo>
                  <a:pt x="0" y="0"/>
                </a:moveTo>
                <a:lnTo>
                  <a:pt x="1274845" y="0"/>
                </a:lnTo>
                <a:lnTo>
                  <a:pt x="1274845" y="2455259"/>
                </a:lnTo>
                <a:lnTo>
                  <a:pt x="0" y="24552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7" id="7"/>
          <p:cNvGraphicFramePr>
            <a:graphicFrameLocks noGrp="true"/>
          </p:cNvGraphicFramePr>
          <p:nvPr/>
        </p:nvGraphicFramePr>
        <p:xfrm>
          <a:off x="514628" y="1318018"/>
          <a:ext cx="8712200" cy="5778500"/>
        </p:xfrm>
        <a:graphic>
          <a:graphicData uri="http://schemas.openxmlformats.org/drawingml/2006/table">
            <a:tbl>
              <a:tblPr/>
              <a:tblGrid>
                <a:gridCol w="2675346"/>
                <a:gridCol w="6036854"/>
              </a:tblGrid>
              <a:tr h="1679466">
                <a:tc>
                  <a:txBody>
                    <a:bodyPr anchor="t" rtlCol="false"/>
                    <a:lstStyle/>
                    <a:p>
                      <a:pPr algn="l">
                        <a:lnSpc>
                          <a:spcPts val="2520"/>
                        </a:lnSpc>
                        <a:defRPr/>
                      </a:pPr>
                      <a:r>
                        <a:rPr lang="en-US" sz="2100">
                          <a:solidFill>
                            <a:srgbClr val="FEFEFE"/>
                          </a:solidFill>
                          <a:latin typeface="Lato"/>
                          <a:ea typeface="Lato"/>
                          <a:cs typeface="Lato"/>
                          <a:sym typeface="Lato"/>
                        </a:rPr>
                        <a:t>Healthcare Professionals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monitor mental health indicators, analyze stress levels, sleep patterns, and lifestyle habits, helping them better understand the factors associated with mental well-being</a:t>
                      </a:r>
                      <a:endParaRPr lang="en-US" sz="1100"/>
                    </a:p>
                    <a:p>
                      <a:pPr algn="l">
                        <a:lnSpc>
                          <a:spcPts val="2520"/>
                        </a:lnSpc>
                      </a:pP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679466">
                <a:tc>
                  <a:txBody>
                    <a:bodyPr anchor="t" rtlCol="false"/>
                    <a:lstStyle/>
                    <a:p>
                      <a:pPr algn="l">
                        <a:lnSpc>
                          <a:spcPts val="2520"/>
                        </a:lnSpc>
                        <a:defRPr/>
                      </a:pPr>
                      <a:r>
                        <a:rPr lang="en-US" sz="2100">
                          <a:solidFill>
                            <a:srgbClr val="FEFEFE"/>
                          </a:solidFill>
                          <a:latin typeface="Lato"/>
                          <a:ea typeface="Lato"/>
                          <a:cs typeface="Lato"/>
                          <a:sym typeface="Lato"/>
                        </a:rPr>
                        <a:t>Researchers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explore relationships between demographic characteristics, lifestyle habits, and mental health conditions, supporting statistical analysis and future research</a:t>
                      </a:r>
                      <a:endParaRPr lang="en-US" sz="1100"/>
                    </a:p>
                    <a:p>
                      <a:pPr algn="l">
                        <a:lnSpc>
                          <a:spcPts val="2520"/>
                        </a:lnSpc>
                      </a:pP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366345">
                <a:tc>
                  <a:txBody>
                    <a:bodyPr anchor="t" rtlCol="false"/>
                    <a:lstStyle/>
                    <a:p>
                      <a:pPr algn="l">
                        <a:lnSpc>
                          <a:spcPts val="2520"/>
                        </a:lnSpc>
                        <a:defRPr/>
                      </a:pPr>
                      <a:r>
                        <a:rPr lang="en-US" sz="2100">
                          <a:solidFill>
                            <a:srgbClr val="FEFEFE"/>
                          </a:solidFill>
                          <a:latin typeface="Lato"/>
                          <a:ea typeface="Lato"/>
                          <a:cs typeface="Lato"/>
                          <a:sym typeface="Lato"/>
                        </a:rPr>
                        <a:t>HR Departments &amp; Organizations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gain insights into work-related factors such as working hours, stress levels, and employee well-being, helping organizations create healthier work environments.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053224">
                <a:tc>
                  <a:txBody>
                    <a:bodyPr anchor="t" rtlCol="false"/>
                    <a:lstStyle/>
                    <a:p>
                      <a:pPr algn="l">
                        <a:lnSpc>
                          <a:spcPts val="2520"/>
                        </a:lnSpc>
                        <a:defRPr/>
                      </a:pPr>
                      <a:r>
                        <a:rPr lang="en-US" sz="2100">
                          <a:solidFill>
                            <a:srgbClr val="FEFEFE"/>
                          </a:solidFill>
                          <a:latin typeface="Lato"/>
                          <a:ea typeface="Lato"/>
                          <a:cs typeface="Lato"/>
                          <a:sym typeface="Lato"/>
                        </a:rPr>
                        <a:t>Public Health Organizations &amp; Decision Makers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understand population-level trends, identify potential health concerns, and support awareness campaigns and public health planning.</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sp>
        <p:nvSpPr>
          <p:cNvPr name="TextBox 8" id="8"/>
          <p:cNvSpPr txBox="true"/>
          <p:nvPr/>
        </p:nvSpPr>
        <p:spPr>
          <a:xfrm rot="0">
            <a:off x="3193704" y="473421"/>
            <a:ext cx="3366192" cy="447865"/>
          </a:xfrm>
          <a:prstGeom prst="rect">
            <a:avLst/>
          </a:prstGeom>
        </p:spPr>
        <p:txBody>
          <a:bodyPr anchor="t" rtlCol="false" tIns="0" lIns="0" bIns="0" rIns="0">
            <a:spAutoFit/>
          </a:bodyPr>
          <a:lstStyle/>
          <a:p>
            <a:pPr algn="ctr">
              <a:lnSpc>
                <a:spcPts val="3648"/>
              </a:lnSpc>
            </a:pPr>
            <a:r>
              <a:rPr lang="en-US" sz="3317" b="true">
                <a:solidFill>
                  <a:srgbClr val="CC78FF"/>
                </a:solidFill>
                <a:latin typeface="Red Hat Display Bold"/>
                <a:ea typeface="Red Hat Display Bold"/>
                <a:cs typeface="Red Hat Display Bold"/>
                <a:sym typeface="Red Hat Display Bold"/>
              </a:rPr>
              <a:t>Target Audience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963745" y="1009755"/>
            <a:ext cx="3530860" cy="326488"/>
          </a:xfrm>
          <a:prstGeom prst="rect">
            <a:avLst/>
          </a:prstGeom>
        </p:spPr>
        <p:txBody>
          <a:bodyPr anchor="t" rtlCol="false" tIns="0" lIns="0" bIns="0" rIns="0">
            <a:spAutoFit/>
          </a:bodyPr>
          <a:lstStyle/>
          <a:p>
            <a:pPr algn="l">
              <a:lnSpc>
                <a:spcPts val="2529"/>
              </a:lnSpc>
            </a:pPr>
            <a:r>
              <a:rPr lang="en-US" sz="2299" b="true">
                <a:solidFill>
                  <a:srgbClr val="FEFEFE"/>
                </a:solidFill>
                <a:latin typeface="Lato Bold"/>
                <a:ea typeface="Lato Bold"/>
                <a:cs typeface="Lato Bold"/>
                <a:sym typeface="Lato Bold"/>
              </a:rPr>
              <a:t>Dataset Summary</a:t>
            </a:r>
          </a:p>
        </p:txBody>
      </p:sp>
      <p:sp>
        <p:nvSpPr>
          <p:cNvPr name="Freeform 3" id="3"/>
          <p:cNvSpPr/>
          <p:nvPr/>
        </p:nvSpPr>
        <p:spPr>
          <a:xfrm flipH="false" flipV="false" rot="0">
            <a:off x="-1338386" y="6134357"/>
            <a:ext cx="2638663" cy="1370076"/>
          </a:xfrm>
          <a:custGeom>
            <a:avLst/>
            <a:gdLst/>
            <a:ahLst/>
            <a:cxnLst/>
            <a:rect r="r" b="b" t="t" l="l"/>
            <a:pathLst>
              <a:path h="1370076" w="2638663">
                <a:moveTo>
                  <a:pt x="0" y="0"/>
                </a:moveTo>
                <a:lnTo>
                  <a:pt x="2638663" y="0"/>
                </a:lnTo>
                <a:lnTo>
                  <a:pt x="2638663" y="1370076"/>
                </a:lnTo>
                <a:lnTo>
                  <a:pt x="0" y="1370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983531" y="187042"/>
            <a:ext cx="2002917" cy="3857473"/>
          </a:xfrm>
          <a:custGeom>
            <a:avLst/>
            <a:gdLst/>
            <a:ahLst/>
            <a:cxnLst/>
            <a:rect r="r" b="b" t="t" l="l"/>
            <a:pathLst>
              <a:path h="3857473" w="2002917">
                <a:moveTo>
                  <a:pt x="0" y="0"/>
                </a:moveTo>
                <a:lnTo>
                  <a:pt x="2002917" y="0"/>
                </a:lnTo>
                <a:lnTo>
                  <a:pt x="2002917" y="3857473"/>
                </a:lnTo>
                <a:lnTo>
                  <a:pt x="0" y="3857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399838" y="-1599924"/>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6">
              <a:extLst>
                <a:ext uri="{96DAC541-7B7A-43D3-8B79-37D633B846F1}">
                  <asvg:svgBlip xmlns:asvg="http://schemas.microsoft.com/office/drawing/2016/SVG/main" r:embed="rId7"/>
                </a:ext>
              </a:extLst>
            </a:blip>
            <a:stretch>
              <a:fillRect l="0" t="-246" r="0" b="-247"/>
            </a:stretch>
          </a:blipFill>
        </p:spPr>
      </p:sp>
      <p:sp>
        <p:nvSpPr>
          <p:cNvPr name="Freeform 6" id="6"/>
          <p:cNvSpPr/>
          <p:nvPr/>
        </p:nvSpPr>
        <p:spPr>
          <a:xfrm flipH="false" flipV="false" rot="-325980">
            <a:off x="732015" y="6703219"/>
            <a:ext cx="10707605" cy="3504305"/>
          </a:xfrm>
          <a:custGeom>
            <a:avLst/>
            <a:gdLst/>
            <a:ahLst/>
            <a:cxnLst/>
            <a:rect r="r" b="b" t="t" l="l"/>
            <a:pathLst>
              <a:path h="3504305" w="10707605">
                <a:moveTo>
                  <a:pt x="0" y="0"/>
                </a:moveTo>
                <a:lnTo>
                  <a:pt x="10707605" y="0"/>
                </a:lnTo>
                <a:lnTo>
                  <a:pt x="10707605" y="3504304"/>
                </a:lnTo>
                <a:lnTo>
                  <a:pt x="0" y="3504304"/>
                </a:lnTo>
                <a:lnTo>
                  <a:pt x="0" y="0"/>
                </a:lnTo>
                <a:close/>
              </a:path>
            </a:pathLst>
          </a:custGeom>
          <a:blipFill>
            <a:blip r:embed="rId6">
              <a:extLst>
                <a:ext uri="{96DAC541-7B7A-43D3-8B79-37D633B846F1}">
                  <asvg:svgBlip xmlns:asvg="http://schemas.microsoft.com/office/drawing/2016/SVG/main" r:embed="rId7"/>
                </a:ext>
              </a:extLst>
            </a:blip>
            <a:stretch>
              <a:fillRect l="0" t="-246" r="0" b="-247"/>
            </a:stretch>
          </a:blipFill>
        </p:spPr>
      </p:sp>
      <p:sp>
        <p:nvSpPr>
          <p:cNvPr name="Freeform 7" id="7"/>
          <p:cNvSpPr/>
          <p:nvPr/>
        </p:nvSpPr>
        <p:spPr>
          <a:xfrm flipH="false" flipV="false" rot="0">
            <a:off x="5086255" y="5316531"/>
            <a:ext cx="173907" cy="160630"/>
          </a:xfrm>
          <a:custGeom>
            <a:avLst/>
            <a:gdLst/>
            <a:ahLst/>
            <a:cxnLst/>
            <a:rect r="r" b="b" t="t" l="l"/>
            <a:pathLst>
              <a:path h="160630" w="173907">
                <a:moveTo>
                  <a:pt x="0" y="0"/>
                </a:moveTo>
                <a:lnTo>
                  <a:pt x="173907" y="0"/>
                </a:lnTo>
                <a:lnTo>
                  <a:pt x="173907" y="160630"/>
                </a:lnTo>
                <a:lnTo>
                  <a:pt x="0" y="160630"/>
                </a:lnTo>
                <a:lnTo>
                  <a:pt x="0" y="0"/>
                </a:lnTo>
                <a:close/>
              </a:path>
            </a:pathLst>
          </a:custGeom>
          <a:blipFill>
            <a:blip r:embed="rId8">
              <a:extLst>
                <a:ext uri="{96DAC541-7B7A-43D3-8B79-37D633B846F1}">
                  <asvg:svgBlip xmlns:asvg="http://schemas.microsoft.com/office/drawing/2016/SVG/main" r:embed="rId9"/>
                </a:ext>
              </a:extLst>
            </a:blip>
            <a:stretch>
              <a:fillRect l="-1615" t="0" r="-1610" b="0"/>
            </a:stretch>
          </a:blipFill>
        </p:spPr>
      </p:sp>
      <p:sp>
        <p:nvSpPr>
          <p:cNvPr name="Freeform 8" id="8"/>
          <p:cNvSpPr/>
          <p:nvPr/>
        </p:nvSpPr>
        <p:spPr>
          <a:xfrm flipH="false" flipV="false" rot="0">
            <a:off x="5086255" y="5002863"/>
            <a:ext cx="156420" cy="144466"/>
          </a:xfrm>
          <a:custGeom>
            <a:avLst/>
            <a:gdLst/>
            <a:ahLst/>
            <a:cxnLst/>
            <a:rect r="r" b="b" t="t" l="l"/>
            <a:pathLst>
              <a:path h="144466" w="156420">
                <a:moveTo>
                  <a:pt x="0" y="0"/>
                </a:moveTo>
                <a:lnTo>
                  <a:pt x="156419" y="0"/>
                </a:lnTo>
                <a:lnTo>
                  <a:pt x="156419" y="144466"/>
                </a:lnTo>
                <a:lnTo>
                  <a:pt x="0" y="144466"/>
                </a:lnTo>
                <a:lnTo>
                  <a:pt x="0" y="0"/>
                </a:lnTo>
                <a:close/>
              </a:path>
            </a:pathLst>
          </a:custGeom>
          <a:blipFill>
            <a:blip r:embed="rId8">
              <a:extLst>
                <a:ext uri="{96DAC541-7B7A-43D3-8B79-37D633B846F1}">
                  <asvg:svgBlip xmlns:asvg="http://schemas.microsoft.com/office/drawing/2016/SVG/main" r:embed="rId9"/>
                </a:ext>
              </a:extLst>
            </a:blip>
            <a:stretch>
              <a:fillRect l="0" t="-949" r="0" b="-956"/>
            </a:stretch>
          </a:blipFill>
        </p:spPr>
      </p:sp>
      <p:sp>
        <p:nvSpPr>
          <p:cNvPr name="Freeform 9" id="9"/>
          <p:cNvSpPr/>
          <p:nvPr/>
        </p:nvSpPr>
        <p:spPr>
          <a:xfrm flipH="false" flipV="false" rot="0">
            <a:off x="5086255" y="5595441"/>
            <a:ext cx="173907" cy="160630"/>
          </a:xfrm>
          <a:custGeom>
            <a:avLst/>
            <a:gdLst/>
            <a:ahLst/>
            <a:cxnLst/>
            <a:rect r="r" b="b" t="t" l="l"/>
            <a:pathLst>
              <a:path h="160630" w="173907">
                <a:moveTo>
                  <a:pt x="0" y="0"/>
                </a:moveTo>
                <a:lnTo>
                  <a:pt x="173907" y="0"/>
                </a:lnTo>
                <a:lnTo>
                  <a:pt x="173907" y="160630"/>
                </a:lnTo>
                <a:lnTo>
                  <a:pt x="0" y="160630"/>
                </a:lnTo>
                <a:lnTo>
                  <a:pt x="0" y="0"/>
                </a:lnTo>
                <a:close/>
              </a:path>
            </a:pathLst>
          </a:custGeom>
          <a:blipFill>
            <a:blip r:embed="rId8">
              <a:extLst>
                <a:ext uri="{96DAC541-7B7A-43D3-8B79-37D633B846F1}">
                  <asvg:svgBlip xmlns:asvg="http://schemas.microsoft.com/office/drawing/2016/SVG/main" r:embed="rId9"/>
                </a:ext>
              </a:extLst>
            </a:blip>
            <a:stretch>
              <a:fillRect l="-1615" t="0" r="-1610" b="0"/>
            </a:stretch>
          </a:blipFill>
        </p:spPr>
      </p:sp>
      <p:sp>
        <p:nvSpPr>
          <p:cNvPr name="TextBox 10" id="10"/>
          <p:cNvSpPr txBox="true"/>
          <p:nvPr/>
        </p:nvSpPr>
        <p:spPr>
          <a:xfrm rot="0">
            <a:off x="369351" y="1735550"/>
            <a:ext cx="3745125" cy="332108"/>
          </a:xfrm>
          <a:prstGeom prst="rect">
            <a:avLst/>
          </a:prstGeom>
        </p:spPr>
        <p:txBody>
          <a:bodyPr anchor="t" rtlCol="false" tIns="0" lIns="0" bIns="0" rIns="0">
            <a:spAutoFit/>
          </a:bodyPr>
          <a:lstStyle/>
          <a:p>
            <a:pPr algn="l">
              <a:lnSpc>
                <a:spcPts val="2708"/>
              </a:lnSpc>
            </a:pPr>
            <a:r>
              <a:rPr lang="en-US" sz="2462" b="true">
                <a:solidFill>
                  <a:srgbClr val="FEFEFE"/>
                </a:solidFill>
                <a:latin typeface="Lato Bold"/>
                <a:ea typeface="Lato Bold"/>
                <a:cs typeface="Lato Bold"/>
                <a:sym typeface="Lato Bold"/>
              </a:rPr>
              <a:t>Dataset Information</a:t>
            </a:r>
          </a:p>
        </p:txBody>
      </p:sp>
      <p:sp>
        <p:nvSpPr>
          <p:cNvPr name="TextBox 11" id="11"/>
          <p:cNvSpPr txBox="true"/>
          <p:nvPr/>
        </p:nvSpPr>
        <p:spPr>
          <a:xfrm rot="0">
            <a:off x="137627" y="2578732"/>
            <a:ext cx="6888166" cy="650243"/>
          </a:xfrm>
          <a:prstGeom prst="rect">
            <a:avLst/>
          </a:prstGeom>
        </p:spPr>
        <p:txBody>
          <a:bodyPr anchor="t" rtlCol="false" tIns="0" lIns="0" bIns="0" rIns="0">
            <a:spAutoFit/>
          </a:bodyPr>
          <a:lstStyle/>
          <a:p>
            <a:pPr algn="l">
              <a:lnSpc>
                <a:spcPts val="1704"/>
              </a:lnSpc>
            </a:pPr>
            <a:r>
              <a:rPr lang="en-US" sz="1548" i="true">
                <a:solidFill>
                  <a:srgbClr val="FEFEFE"/>
                </a:solidFill>
                <a:latin typeface="Lato Italics"/>
                <a:ea typeface="Lato Italics"/>
                <a:cs typeface="Lato Italics"/>
                <a:sym typeface="Lato Italics"/>
              </a:rPr>
              <a:t>Our project is based on the Mental Health &amp; Lifestyle Dataset, which contains information about individuals' demographic characteristics, lifestyle habits, and mental health indicators.</a:t>
            </a:r>
          </a:p>
        </p:txBody>
      </p:sp>
      <p:sp>
        <p:nvSpPr>
          <p:cNvPr name="TextBox 12" id="12"/>
          <p:cNvSpPr txBox="true"/>
          <p:nvPr/>
        </p:nvSpPr>
        <p:spPr>
          <a:xfrm rot="0">
            <a:off x="6085818" y="1479118"/>
            <a:ext cx="4498096" cy="1198651"/>
          </a:xfrm>
          <a:prstGeom prst="rect">
            <a:avLst/>
          </a:prstGeom>
        </p:spPr>
        <p:txBody>
          <a:bodyPr anchor="t" rtlCol="false" tIns="0" lIns="0" bIns="0" rIns="0">
            <a:spAutoFit/>
          </a:bodyPr>
          <a:lstStyle/>
          <a:p>
            <a:pPr algn="l" marL="486036" indent="-162012" lvl="2">
              <a:lnSpc>
                <a:spcPts val="2338"/>
              </a:lnSpc>
              <a:buFont typeface="Arial"/>
              <a:buChar char="⚬"/>
            </a:pPr>
            <a:r>
              <a:rPr lang="en-US" sz="2126" i="true">
                <a:solidFill>
                  <a:srgbClr val="FEFEFE"/>
                </a:solidFill>
                <a:latin typeface="Lato Italics"/>
                <a:ea typeface="Lato Italics"/>
                <a:cs typeface="Lato Italics"/>
                <a:sym typeface="Lato Italics"/>
              </a:rPr>
              <a:t>Source: Kaggle</a:t>
            </a:r>
          </a:p>
          <a:p>
            <a:pPr algn="l" marL="486036" indent="-162012" lvl="2">
              <a:lnSpc>
                <a:spcPts val="2338"/>
              </a:lnSpc>
              <a:buFont typeface="Arial"/>
              <a:buChar char="⚬"/>
            </a:pPr>
            <a:r>
              <a:rPr lang="en-US" sz="2126" i="true">
                <a:solidFill>
                  <a:srgbClr val="FEFEFE"/>
                </a:solidFill>
                <a:latin typeface="Lato Italics"/>
                <a:ea typeface="Lato Italics"/>
                <a:cs typeface="Lato Italics"/>
                <a:sym typeface="Lato Italics"/>
              </a:rPr>
              <a:t>Number of Records: 50,000</a:t>
            </a:r>
          </a:p>
          <a:p>
            <a:pPr algn="l" marL="486036" indent="-162012" lvl="2">
              <a:lnSpc>
                <a:spcPts val="2338"/>
              </a:lnSpc>
              <a:buFont typeface="Arial"/>
              <a:buChar char="⚬"/>
            </a:pPr>
            <a:r>
              <a:rPr lang="en-US" sz="2126" i="true">
                <a:solidFill>
                  <a:srgbClr val="FEFEFE"/>
                </a:solidFill>
                <a:latin typeface="Lato Italics"/>
                <a:ea typeface="Lato Italics"/>
                <a:cs typeface="Lato Italics"/>
                <a:sym typeface="Lato Italics"/>
              </a:rPr>
              <a:t>Number of Features: 17</a:t>
            </a:r>
          </a:p>
          <a:p>
            <a:pPr algn="l" marL="486036" indent="-162012" lvl="2">
              <a:lnSpc>
                <a:spcPts val="2338"/>
              </a:lnSpc>
            </a:pPr>
          </a:p>
        </p:txBody>
      </p:sp>
      <p:sp>
        <p:nvSpPr>
          <p:cNvPr name="TextBox 13" id="13"/>
          <p:cNvSpPr txBox="true"/>
          <p:nvPr/>
        </p:nvSpPr>
        <p:spPr>
          <a:xfrm rot="0">
            <a:off x="5165379" y="4732953"/>
            <a:ext cx="6038821" cy="1346835"/>
          </a:xfrm>
          <a:prstGeom prst="rect">
            <a:avLst/>
          </a:prstGeom>
        </p:spPr>
        <p:txBody>
          <a:bodyPr anchor="t" rtlCol="false" tIns="0" lIns="0" bIns="0" rIns="0">
            <a:spAutoFit/>
          </a:bodyPr>
          <a:lstStyle/>
          <a:p>
            <a:pPr algn="l" marL="553933" indent="-184644" lvl="2">
              <a:lnSpc>
                <a:spcPts val="2664"/>
              </a:lnSpc>
              <a:buFont typeface="Arial"/>
              <a:buChar char="⚬"/>
            </a:pPr>
            <a:r>
              <a:rPr lang="en-US" sz="2422">
                <a:solidFill>
                  <a:srgbClr val="FEFEFE"/>
                </a:solidFill>
                <a:latin typeface="Lato"/>
                <a:ea typeface="Lato"/>
                <a:cs typeface="Lato"/>
                <a:sym typeface="Lato"/>
              </a:rPr>
              <a:t>Demographic Information</a:t>
            </a:r>
          </a:p>
          <a:p>
            <a:pPr algn="l" marL="553933" indent="-184644" lvl="2">
              <a:lnSpc>
                <a:spcPts val="2664"/>
              </a:lnSpc>
              <a:buFont typeface="Arial"/>
              <a:buChar char="⚬"/>
            </a:pPr>
            <a:r>
              <a:rPr lang="en-US" sz="2422">
                <a:solidFill>
                  <a:srgbClr val="FEFEFE"/>
                </a:solidFill>
                <a:latin typeface="Lato"/>
                <a:ea typeface="Lato"/>
                <a:cs typeface="Lato"/>
                <a:sym typeface="Lato"/>
              </a:rPr>
              <a:t>Lifestyle Habits</a:t>
            </a:r>
          </a:p>
          <a:p>
            <a:pPr algn="l" marL="553933" indent="-184644" lvl="2">
              <a:lnSpc>
                <a:spcPts val="2664"/>
              </a:lnSpc>
              <a:buFont typeface="Arial"/>
              <a:buChar char="⚬"/>
            </a:pPr>
            <a:r>
              <a:rPr lang="en-US" sz="2422">
                <a:solidFill>
                  <a:srgbClr val="FEFEFE"/>
                </a:solidFill>
                <a:latin typeface="Lato"/>
                <a:ea typeface="Lato"/>
                <a:cs typeface="Lato"/>
                <a:sym typeface="Lato"/>
              </a:rPr>
              <a:t>Mental Health Indicators</a:t>
            </a:r>
          </a:p>
          <a:p>
            <a:pPr algn="l" marL="553933" indent="-184644" lvl="2">
              <a:lnSpc>
                <a:spcPts val="2664"/>
              </a:lnSpc>
            </a:pPr>
          </a:p>
        </p:txBody>
      </p:sp>
      <p:sp>
        <p:nvSpPr>
          <p:cNvPr name="TextBox 14" id="14"/>
          <p:cNvSpPr txBox="true"/>
          <p:nvPr/>
        </p:nvSpPr>
        <p:spPr>
          <a:xfrm rot="0">
            <a:off x="50673" y="3864940"/>
            <a:ext cx="5035582" cy="3417864"/>
          </a:xfrm>
          <a:prstGeom prst="rect">
            <a:avLst/>
          </a:prstGeom>
        </p:spPr>
        <p:txBody>
          <a:bodyPr anchor="t" rtlCol="false" tIns="0" lIns="0" bIns="0" rIns="0">
            <a:spAutoFit/>
          </a:bodyPr>
          <a:lstStyle/>
          <a:p>
            <a:pPr algn="l" marL="287492" indent="-95831" lvl="2">
              <a:lnSpc>
                <a:spcPts val="1383"/>
              </a:lnSpc>
              <a:buFont typeface="Arial"/>
              <a:buChar char="⚬"/>
            </a:pPr>
            <a:r>
              <a:rPr lang="en-US" sz="1257">
                <a:solidFill>
                  <a:srgbClr val="FEFEFE"/>
                </a:solidFill>
                <a:latin typeface="Lato"/>
                <a:ea typeface="Lato"/>
                <a:cs typeface="Lato"/>
                <a:sym typeface="Lato"/>
              </a:rPr>
              <a:t>👤 Demographic Information</a:t>
            </a:r>
          </a:p>
          <a:p>
            <a:pPr algn="l" marL="287576" indent="-95859" lvl="2">
              <a:lnSpc>
                <a:spcPts val="1383"/>
              </a:lnSpc>
              <a:buFont typeface="Arial"/>
              <a:buChar char="⚬"/>
            </a:pPr>
            <a:r>
              <a:rPr lang="en-US" sz="1257">
                <a:solidFill>
                  <a:srgbClr val="FEFEFE"/>
                </a:solidFill>
                <a:latin typeface="Lato"/>
                <a:ea typeface="Lato"/>
                <a:cs typeface="Lato"/>
                <a:sym typeface="Lato"/>
              </a:rPr>
              <a:t>Age</a:t>
            </a:r>
          </a:p>
          <a:p>
            <a:pPr algn="l" marL="287576" indent="-95859" lvl="2">
              <a:lnSpc>
                <a:spcPts val="1383"/>
              </a:lnSpc>
              <a:buFont typeface="Arial"/>
              <a:buChar char="⚬"/>
            </a:pPr>
            <a:r>
              <a:rPr lang="en-US" sz="1257">
                <a:solidFill>
                  <a:srgbClr val="FEFEFE"/>
                </a:solidFill>
                <a:latin typeface="Lato"/>
                <a:ea typeface="Lato"/>
                <a:cs typeface="Lato"/>
                <a:sym typeface="Lato"/>
              </a:rPr>
              <a:t>Gender</a:t>
            </a:r>
          </a:p>
          <a:p>
            <a:pPr algn="l" marL="287576" indent="-95859" lvl="2">
              <a:lnSpc>
                <a:spcPts val="1383"/>
              </a:lnSpc>
              <a:buFont typeface="Arial"/>
              <a:buChar char="⚬"/>
            </a:pPr>
            <a:r>
              <a:rPr lang="en-US" sz="1257">
                <a:solidFill>
                  <a:srgbClr val="FEFEFE"/>
                </a:solidFill>
                <a:latin typeface="Lato"/>
                <a:ea typeface="Lato"/>
                <a:cs typeface="Lato"/>
                <a:sym typeface="Lato"/>
              </a:rPr>
              <a:t>Occupation</a:t>
            </a:r>
          </a:p>
          <a:p>
            <a:pPr algn="l" marL="287576" indent="-95859" lvl="2">
              <a:lnSpc>
                <a:spcPts val="1383"/>
              </a:lnSpc>
              <a:buFont typeface="Arial"/>
              <a:buChar char="⚬"/>
            </a:pPr>
            <a:r>
              <a:rPr lang="en-US" sz="1257">
                <a:solidFill>
                  <a:srgbClr val="FEFEFE"/>
                </a:solidFill>
                <a:latin typeface="Lato"/>
                <a:ea typeface="Lato"/>
                <a:cs typeface="Lato"/>
                <a:sym typeface="Lato"/>
              </a:rPr>
              <a:t>Country</a:t>
            </a:r>
          </a:p>
          <a:p>
            <a:pPr algn="l" marL="287576" indent="-95859" lvl="2">
              <a:lnSpc>
                <a:spcPts val="1383"/>
              </a:lnSpc>
              <a:buFont typeface="Arial"/>
              <a:buChar char="⚬"/>
            </a:pPr>
            <a:r>
              <a:rPr lang="en-US" sz="1257">
                <a:solidFill>
                  <a:srgbClr val="FEFEFE"/>
                </a:solidFill>
                <a:latin typeface="Lato"/>
                <a:ea typeface="Lato"/>
                <a:cs typeface="Lato"/>
                <a:sym typeface="Lato"/>
              </a:rPr>
              <a:t>🩺 Mental Health Indicators</a:t>
            </a:r>
          </a:p>
          <a:p>
            <a:pPr algn="l" marL="287576" indent="-95859" lvl="2">
              <a:lnSpc>
                <a:spcPts val="1383"/>
              </a:lnSpc>
              <a:buFont typeface="Arial"/>
              <a:buChar char="⚬"/>
            </a:pPr>
            <a:r>
              <a:rPr lang="en-US" sz="1257">
                <a:solidFill>
                  <a:srgbClr val="FEFEFE"/>
                </a:solidFill>
                <a:latin typeface="Lato"/>
                <a:ea typeface="Lato"/>
                <a:cs typeface="Lato"/>
                <a:sym typeface="Lato"/>
              </a:rPr>
              <a:t>Mental Health Condition</a:t>
            </a:r>
          </a:p>
          <a:p>
            <a:pPr algn="l" marL="287492" indent="-95831" lvl="2">
              <a:lnSpc>
                <a:spcPts val="1383"/>
              </a:lnSpc>
              <a:buFont typeface="Arial"/>
              <a:buChar char="⚬"/>
            </a:pPr>
            <a:r>
              <a:rPr lang="en-US" sz="1257">
                <a:solidFill>
                  <a:srgbClr val="FEFEFE"/>
                </a:solidFill>
                <a:latin typeface="Lato"/>
                <a:ea typeface="Lato"/>
                <a:cs typeface="Lato"/>
                <a:sym typeface="Lato"/>
              </a:rPr>
              <a:t>Severity</a:t>
            </a:r>
          </a:p>
          <a:p>
            <a:pPr algn="l" marL="287576" indent="-95859" lvl="2">
              <a:lnSpc>
                <a:spcPts val="1383"/>
              </a:lnSpc>
              <a:buFont typeface="Arial"/>
              <a:buChar char="⚬"/>
            </a:pPr>
            <a:r>
              <a:rPr lang="en-US" sz="1257">
                <a:solidFill>
                  <a:srgbClr val="FEFEFE"/>
                </a:solidFill>
                <a:latin typeface="Lato"/>
                <a:ea typeface="Lato"/>
                <a:cs typeface="Lato"/>
                <a:sym typeface="Lato"/>
              </a:rPr>
              <a:t>Consultation History</a:t>
            </a:r>
          </a:p>
          <a:p>
            <a:pPr algn="l" marL="287492" indent="-95831" lvl="2">
              <a:lnSpc>
                <a:spcPts val="1383"/>
              </a:lnSpc>
              <a:buFont typeface="Arial"/>
              <a:buChar char="⚬"/>
            </a:pPr>
            <a:r>
              <a:rPr lang="en-US" sz="1257">
                <a:solidFill>
                  <a:srgbClr val="FEFEFE"/>
                </a:solidFill>
                <a:latin typeface="Lato"/>
                <a:ea typeface="Lato"/>
                <a:cs typeface="Lato"/>
                <a:sym typeface="Lato"/>
              </a:rPr>
              <a:t>Stress Level</a:t>
            </a:r>
          </a:p>
          <a:p>
            <a:pPr algn="l" marL="287492" indent="-95831" lvl="2">
              <a:lnSpc>
                <a:spcPts val="1383"/>
              </a:lnSpc>
              <a:buFont typeface="Arial"/>
              <a:buChar char="⚬"/>
            </a:pPr>
            <a:r>
              <a:rPr lang="en-US" sz="1257">
                <a:solidFill>
                  <a:srgbClr val="FEFEFE"/>
                </a:solidFill>
                <a:latin typeface="Lato"/>
                <a:ea typeface="Lato"/>
                <a:cs typeface="Lato"/>
                <a:sym typeface="Lato"/>
              </a:rPr>
              <a:t>Medication Usage</a:t>
            </a:r>
          </a:p>
          <a:p>
            <a:pPr algn="l" marL="287492" indent="-95831" lvl="2">
              <a:lnSpc>
                <a:spcPts val="1383"/>
              </a:lnSpc>
              <a:buFont typeface="Arial"/>
              <a:buChar char="⚬"/>
            </a:pPr>
            <a:r>
              <a:rPr lang="en-US" sz="1257">
                <a:solidFill>
                  <a:srgbClr val="FEFEFE"/>
                </a:solidFill>
                <a:latin typeface="Lato"/>
                <a:ea typeface="Lato"/>
                <a:cs typeface="Lato"/>
                <a:sym typeface="Lato"/>
              </a:rPr>
              <a:t>🌱 Lifestyle Habits</a:t>
            </a:r>
          </a:p>
          <a:p>
            <a:pPr algn="l" marL="287492" indent="-95831" lvl="2">
              <a:lnSpc>
                <a:spcPts val="1383"/>
              </a:lnSpc>
              <a:buFont typeface="Arial"/>
              <a:buChar char="⚬"/>
            </a:pPr>
            <a:r>
              <a:rPr lang="en-US" sz="1257">
                <a:solidFill>
                  <a:srgbClr val="FEFEFE"/>
                </a:solidFill>
                <a:latin typeface="Lato"/>
                <a:ea typeface="Lato"/>
                <a:cs typeface="Lato"/>
                <a:sym typeface="Lato"/>
              </a:rPr>
              <a:t>Sleep Hours</a:t>
            </a:r>
          </a:p>
          <a:p>
            <a:pPr algn="l" marL="287492" indent="-95831" lvl="2">
              <a:lnSpc>
                <a:spcPts val="1383"/>
              </a:lnSpc>
              <a:buFont typeface="Arial"/>
              <a:buChar char="⚬"/>
            </a:pPr>
            <a:r>
              <a:rPr lang="en-US" sz="1257">
                <a:solidFill>
                  <a:srgbClr val="FEFEFE"/>
                </a:solidFill>
                <a:latin typeface="Lato"/>
                <a:ea typeface="Lato"/>
                <a:cs typeface="Lato"/>
                <a:sym typeface="Lato"/>
              </a:rPr>
              <a:t>Work Hours</a:t>
            </a:r>
          </a:p>
          <a:p>
            <a:pPr algn="l" marL="287492" indent="-95831" lvl="2">
              <a:lnSpc>
                <a:spcPts val="1383"/>
              </a:lnSpc>
              <a:buFont typeface="Arial"/>
              <a:buChar char="⚬"/>
            </a:pPr>
            <a:r>
              <a:rPr lang="en-US" sz="1257">
                <a:solidFill>
                  <a:srgbClr val="FEFEFE"/>
                </a:solidFill>
                <a:latin typeface="Lato"/>
                <a:ea typeface="Lato"/>
                <a:cs typeface="Lato"/>
                <a:sym typeface="Lato"/>
              </a:rPr>
              <a:t>Physical Activity</a:t>
            </a:r>
          </a:p>
          <a:p>
            <a:pPr algn="l" marL="287492" indent="-95831" lvl="2">
              <a:lnSpc>
                <a:spcPts val="1383"/>
              </a:lnSpc>
              <a:buFont typeface="Arial"/>
              <a:buChar char="⚬"/>
            </a:pPr>
            <a:r>
              <a:rPr lang="en-US" sz="1257">
                <a:solidFill>
                  <a:srgbClr val="FEFEFE"/>
                </a:solidFill>
                <a:latin typeface="Lato"/>
                <a:ea typeface="Lato"/>
                <a:cs typeface="Lato"/>
                <a:sym typeface="Lato"/>
              </a:rPr>
              <a:t>Social Media Usage</a:t>
            </a:r>
          </a:p>
          <a:p>
            <a:pPr algn="l" marL="287492" indent="-95831" lvl="2">
              <a:lnSpc>
                <a:spcPts val="1383"/>
              </a:lnSpc>
              <a:buFont typeface="Arial"/>
              <a:buChar char="⚬"/>
            </a:pPr>
            <a:r>
              <a:rPr lang="en-US" sz="1257">
                <a:solidFill>
                  <a:srgbClr val="FEFEFE"/>
                </a:solidFill>
                <a:latin typeface="Lato"/>
                <a:ea typeface="Lato"/>
                <a:cs typeface="Lato"/>
                <a:sym typeface="Lato"/>
              </a:rPr>
              <a:t>Diet Quality</a:t>
            </a:r>
          </a:p>
          <a:p>
            <a:pPr algn="l" marL="287492" indent="-95831" lvl="2">
              <a:lnSpc>
                <a:spcPts val="1383"/>
              </a:lnSpc>
              <a:buFont typeface="Arial"/>
              <a:buChar char="⚬"/>
            </a:pPr>
            <a:r>
              <a:rPr lang="en-US" sz="1257">
                <a:solidFill>
                  <a:srgbClr val="FEFEFE"/>
                </a:solidFill>
                <a:latin typeface="Lato"/>
                <a:ea typeface="Lato"/>
                <a:cs typeface="Lato"/>
                <a:sym typeface="Lato"/>
              </a:rPr>
              <a:t>Smoking Habit</a:t>
            </a:r>
          </a:p>
          <a:p>
            <a:pPr algn="l" marL="287576" indent="-95859" lvl="2">
              <a:lnSpc>
                <a:spcPts val="1383"/>
              </a:lnSpc>
              <a:buFont typeface="Arial"/>
              <a:buChar char="⚬"/>
            </a:pPr>
            <a:r>
              <a:rPr lang="en-US" sz="1257">
                <a:solidFill>
                  <a:srgbClr val="FEFEFE"/>
                </a:solidFill>
                <a:latin typeface="Lato"/>
                <a:ea typeface="Lato"/>
                <a:cs typeface="Lato"/>
                <a:sym typeface="Lato"/>
              </a:rPr>
              <a:t>Alcohol Consumption</a:t>
            </a:r>
          </a:p>
          <a:p>
            <a:pPr algn="l" marL="287576" indent="-95859" lvl="2">
              <a:lnSpc>
                <a:spcPts val="1383"/>
              </a:lnSpc>
            </a:pPr>
          </a:p>
        </p:txBody>
      </p:sp>
      <p:sp>
        <p:nvSpPr>
          <p:cNvPr name="TextBox 15" id="15"/>
          <p:cNvSpPr txBox="true"/>
          <p:nvPr/>
        </p:nvSpPr>
        <p:spPr>
          <a:xfrm rot="0">
            <a:off x="255480" y="559394"/>
            <a:ext cx="5473132" cy="474583"/>
          </a:xfrm>
          <a:prstGeom prst="rect">
            <a:avLst/>
          </a:prstGeom>
        </p:spPr>
        <p:txBody>
          <a:bodyPr anchor="t" rtlCol="false" tIns="0" lIns="0" bIns="0" rIns="0">
            <a:spAutoFit/>
          </a:bodyPr>
          <a:lstStyle/>
          <a:p>
            <a:pPr algn="l">
              <a:lnSpc>
                <a:spcPts val="3980"/>
              </a:lnSpc>
            </a:pPr>
            <a:r>
              <a:rPr lang="en-US" sz="3617" b="true">
                <a:solidFill>
                  <a:srgbClr val="CC78FF"/>
                </a:solidFill>
                <a:latin typeface="Red Hat Display Bold"/>
                <a:ea typeface="Red Hat Display Bold"/>
                <a:cs typeface="Red Hat Display Bold"/>
                <a:sym typeface="Red Hat Display Bold"/>
              </a:rPr>
              <a:t>Dataset Overview</a:t>
            </a:r>
          </a:p>
        </p:txBody>
      </p:sp>
      <p:sp>
        <p:nvSpPr>
          <p:cNvPr name="TextBox 16" id="16"/>
          <p:cNvSpPr txBox="true"/>
          <p:nvPr/>
        </p:nvSpPr>
        <p:spPr>
          <a:xfrm rot="0">
            <a:off x="5283175" y="3874465"/>
            <a:ext cx="4211431" cy="378200"/>
          </a:xfrm>
          <a:prstGeom prst="rect">
            <a:avLst/>
          </a:prstGeom>
        </p:spPr>
        <p:txBody>
          <a:bodyPr anchor="t" rtlCol="false" tIns="0" lIns="0" bIns="0" rIns="0">
            <a:spAutoFit/>
          </a:bodyPr>
          <a:lstStyle/>
          <a:p>
            <a:pPr algn="l">
              <a:lnSpc>
                <a:spcPts val="3047"/>
              </a:lnSpc>
            </a:pPr>
            <a:r>
              <a:rPr lang="en-US" sz="2769" b="true">
                <a:solidFill>
                  <a:srgbClr val="FEFEFE"/>
                </a:solidFill>
                <a:latin typeface="Lato Bold"/>
                <a:ea typeface="Lato Bold"/>
                <a:cs typeface="Lato Bold"/>
                <a:sym typeface="Lato Bold"/>
              </a:rPr>
              <a:t>Dataset Categories</a:t>
            </a:r>
          </a:p>
        </p:txBody>
      </p:sp>
      <p:sp>
        <p:nvSpPr>
          <p:cNvPr name="TextBox 17" id="17"/>
          <p:cNvSpPr txBox="true"/>
          <p:nvPr/>
        </p:nvSpPr>
        <p:spPr>
          <a:xfrm rot="0">
            <a:off x="137631" y="3434248"/>
            <a:ext cx="4208564" cy="318887"/>
          </a:xfrm>
          <a:prstGeom prst="rect">
            <a:avLst/>
          </a:prstGeom>
        </p:spPr>
        <p:txBody>
          <a:bodyPr anchor="t" rtlCol="false" tIns="0" lIns="0" bIns="0" rIns="0">
            <a:spAutoFit/>
          </a:bodyPr>
          <a:lstStyle/>
          <a:p>
            <a:pPr algn="l">
              <a:lnSpc>
                <a:spcPts val="2612"/>
              </a:lnSpc>
            </a:pPr>
            <a:r>
              <a:rPr lang="en-US" sz="2375" b="true">
                <a:solidFill>
                  <a:srgbClr val="FEFEFE"/>
                </a:solidFill>
                <a:latin typeface="Lato Bold"/>
                <a:ea typeface="Lato Bold"/>
                <a:cs typeface="Lato Bold"/>
                <a:sym typeface="Lato Bold"/>
              </a:rPr>
              <a:t>Main Attributes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8514900">
            <a:off x="6011780" y="-533438"/>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3" id="3"/>
          <p:cNvSpPr/>
          <p:nvPr/>
        </p:nvSpPr>
        <p:spPr>
          <a:xfrm flipH="false" flipV="false" rot="-1127400">
            <a:off x="-6599215" y="-595703"/>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4" id="4"/>
          <p:cNvSpPr/>
          <p:nvPr/>
        </p:nvSpPr>
        <p:spPr>
          <a:xfrm flipH="false" flipV="false" rot="0">
            <a:off x="-226990" y="6024782"/>
            <a:ext cx="1097023" cy="2112778"/>
          </a:xfrm>
          <a:custGeom>
            <a:avLst/>
            <a:gdLst/>
            <a:ahLst/>
            <a:cxnLst/>
            <a:rect r="r" b="b" t="t" l="l"/>
            <a:pathLst>
              <a:path h="2112778" w="1097023">
                <a:moveTo>
                  <a:pt x="0" y="0"/>
                </a:moveTo>
                <a:lnTo>
                  <a:pt x="1097023" y="0"/>
                </a:lnTo>
                <a:lnTo>
                  <a:pt x="1097023" y="2112778"/>
                </a:lnTo>
                <a:lnTo>
                  <a:pt x="0" y="211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854438" y="3887716"/>
            <a:ext cx="2002917" cy="3857473"/>
          </a:xfrm>
          <a:custGeom>
            <a:avLst/>
            <a:gdLst/>
            <a:ahLst/>
            <a:cxnLst/>
            <a:rect r="r" b="b" t="t" l="l"/>
            <a:pathLst>
              <a:path h="3857473" w="2002917">
                <a:moveTo>
                  <a:pt x="0" y="0"/>
                </a:moveTo>
                <a:lnTo>
                  <a:pt x="2002917" y="0"/>
                </a:lnTo>
                <a:lnTo>
                  <a:pt x="2002917" y="3857472"/>
                </a:lnTo>
                <a:lnTo>
                  <a:pt x="0" y="3857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85924" y="2005931"/>
            <a:ext cx="3908739" cy="361617"/>
          </a:xfrm>
          <a:prstGeom prst="rect">
            <a:avLst/>
          </a:prstGeom>
        </p:spPr>
        <p:txBody>
          <a:bodyPr anchor="t" rtlCol="false" tIns="0" lIns="0" bIns="0" rIns="0">
            <a:spAutoFit/>
          </a:bodyPr>
          <a:lstStyle/>
          <a:p>
            <a:pPr algn="ctr" rtl="true">
              <a:lnSpc>
                <a:spcPts val="3085"/>
              </a:lnSpc>
            </a:pPr>
            <a:r>
              <a:rPr lang="en-US" b="true" sz="2204">
                <a:solidFill>
                  <a:srgbClr val="FFFFFF"/>
                </a:solidFill>
                <a:latin typeface="XM Vahid Bold"/>
                <a:ea typeface="XM Vahid Bold"/>
                <a:cs typeface="XM Vahid Bold"/>
                <a:sym typeface="XM Vahid Bold"/>
              </a:rPr>
              <a:t>Data</a:t>
            </a:r>
            <a:r>
              <a:rPr lang="en-US" b="true" sz="2204">
                <a:solidFill>
                  <a:srgbClr val="FFFFFF"/>
                </a:solidFill>
                <a:latin typeface="XM Vahid Bold"/>
                <a:ea typeface="XM Vahid Bold"/>
                <a:cs typeface="XM Vahid Bold"/>
                <a:sym typeface="XM Vahid Bold"/>
              </a:rPr>
              <a:t> Engineering Process</a:t>
            </a:r>
          </a:p>
        </p:txBody>
      </p:sp>
      <p:sp>
        <p:nvSpPr>
          <p:cNvPr name="TextBox 7" id="7"/>
          <p:cNvSpPr txBox="true"/>
          <p:nvPr/>
        </p:nvSpPr>
        <p:spPr>
          <a:xfrm rot="0">
            <a:off x="2540013" y="193629"/>
            <a:ext cx="4512796" cy="661897"/>
          </a:xfrm>
          <a:prstGeom prst="rect">
            <a:avLst/>
          </a:prstGeom>
        </p:spPr>
        <p:txBody>
          <a:bodyPr anchor="t" rtlCol="false" tIns="0" lIns="0" bIns="0" rIns="0">
            <a:spAutoFit/>
          </a:bodyPr>
          <a:lstStyle/>
          <a:p>
            <a:pPr algn="ctr" rtl="true">
              <a:lnSpc>
                <a:spcPts val="5467"/>
              </a:lnSpc>
            </a:pPr>
            <a:r>
              <a:rPr lang="en-US" b="true" sz="3905">
                <a:solidFill>
                  <a:srgbClr val="FFFFFF"/>
                </a:solidFill>
                <a:latin typeface="Droid Arabic Naskh Bold"/>
                <a:ea typeface="Droid Arabic Naskh Bold"/>
                <a:cs typeface="Droid Arabic Naskh Bold"/>
                <a:sym typeface="Droid Arabic Naskh Bold"/>
              </a:rPr>
              <a:t>Data</a:t>
            </a:r>
            <a:r>
              <a:rPr lang="en-US" b="true" sz="3905">
                <a:solidFill>
                  <a:srgbClr val="FFFFFF"/>
                </a:solidFill>
                <a:latin typeface="Droid Arabic Naskh Bold"/>
                <a:ea typeface="Droid Arabic Naskh Bold"/>
                <a:cs typeface="Droid Arabic Naskh Bold"/>
                <a:sym typeface="Droid Arabic Naskh Bold"/>
              </a:rPr>
              <a:t> Engineering</a:t>
            </a:r>
          </a:p>
        </p:txBody>
      </p:sp>
      <p:sp>
        <p:nvSpPr>
          <p:cNvPr name="TextBox 8" id="8"/>
          <p:cNvSpPr txBox="true"/>
          <p:nvPr/>
        </p:nvSpPr>
        <p:spPr>
          <a:xfrm rot="0">
            <a:off x="85924" y="2470755"/>
            <a:ext cx="5306940" cy="1051070"/>
          </a:xfrm>
          <a:prstGeom prst="rect">
            <a:avLst/>
          </a:prstGeom>
        </p:spPr>
        <p:txBody>
          <a:bodyPr anchor="t" rtlCol="false" tIns="0" lIns="0" bIns="0" rIns="0">
            <a:spAutoFit/>
          </a:bodyPr>
          <a:lstStyle/>
          <a:p>
            <a:pPr algn="ctr" rtl="true">
              <a:lnSpc>
                <a:spcPts val="1675"/>
              </a:lnSpc>
            </a:pPr>
            <a:r>
              <a:rPr lang="en-US" sz="1197">
                <a:solidFill>
                  <a:srgbClr val="FFFFFF"/>
                </a:solidFill>
                <a:latin typeface="Droid Arabic Kufi"/>
                <a:ea typeface="Droid Arabic Kufi"/>
                <a:cs typeface="Droid Arabic Kufi"/>
                <a:sym typeface="Droid Arabic Kufi"/>
              </a:rPr>
              <a:t>To</a:t>
            </a:r>
            <a:r>
              <a:rPr lang="en-US" sz="1197">
                <a:solidFill>
                  <a:srgbClr val="FFFFFF"/>
                </a:solidFill>
                <a:latin typeface="Droid Arabic Kufi"/>
                <a:ea typeface="Droid Arabic Kufi"/>
                <a:cs typeface="Droid Arabic Kufi"/>
                <a:sym typeface="Droid Arabic Kufi"/>
              </a:rPr>
              <a:t> prepare the dataset for analysis, we built an ETL pipeline using SQL Server Integration Services (SSIS). The processed data was then loaded into a dimensional data warehouse following the Star Schema model to improve reporting performance and simplify analysis</a:t>
            </a:r>
            <a:r>
              <a:rPr lang="ar-EG" sz="1197">
                <a:solidFill>
                  <a:srgbClr val="FFFFFF"/>
                </a:solidFill>
                <a:latin typeface="Droid Arabic Kufi"/>
                <a:ea typeface="Droid Arabic Kufi"/>
                <a:cs typeface="Droid Arabic Kufi"/>
                <a:sym typeface="Droid Arabic Kufi"/>
                <a:rtl val="true"/>
              </a:rPr>
              <a:t>. </a:t>
            </a:r>
          </a:p>
          <a:p>
            <a:pPr algn="ctr" rtl="true">
              <a:lnSpc>
                <a:spcPts val="1675"/>
              </a:lnSpc>
            </a:pPr>
          </a:p>
        </p:txBody>
      </p:sp>
      <p:sp>
        <p:nvSpPr>
          <p:cNvPr name="TextBox 9" id="9"/>
          <p:cNvSpPr txBox="true"/>
          <p:nvPr/>
        </p:nvSpPr>
        <p:spPr>
          <a:xfrm rot="0">
            <a:off x="321521" y="3840091"/>
            <a:ext cx="2009176" cy="465909"/>
          </a:xfrm>
          <a:prstGeom prst="rect">
            <a:avLst/>
          </a:prstGeom>
        </p:spPr>
        <p:txBody>
          <a:bodyPr anchor="t" rtlCol="false" tIns="0" lIns="0" bIns="0" rIns="0">
            <a:spAutoFit/>
          </a:bodyPr>
          <a:lstStyle/>
          <a:p>
            <a:pPr algn="ctr" rtl="true">
              <a:lnSpc>
                <a:spcPts val="3875"/>
              </a:lnSpc>
            </a:pPr>
            <a:r>
              <a:rPr lang="en-US" b="true" sz="2768">
                <a:solidFill>
                  <a:srgbClr val="FFFFFF"/>
                </a:solidFill>
                <a:latin typeface="XM Vahid Bold"/>
                <a:ea typeface="XM Vahid Bold"/>
                <a:cs typeface="XM Vahid Bold"/>
                <a:sym typeface="XM Vahid Bold"/>
              </a:rPr>
              <a:t>ETL</a:t>
            </a:r>
            <a:r>
              <a:rPr lang="en-US" b="true" sz="2768">
                <a:solidFill>
                  <a:srgbClr val="FFFFFF"/>
                </a:solidFill>
                <a:latin typeface="XM Vahid Bold"/>
                <a:ea typeface="XM Vahid Bold"/>
                <a:cs typeface="XM Vahid Bold"/>
                <a:sym typeface="XM Vahid Bold"/>
              </a:rPr>
              <a:t> Process</a:t>
            </a:r>
          </a:p>
        </p:txBody>
      </p:sp>
      <p:sp>
        <p:nvSpPr>
          <p:cNvPr name="TextBox 10" id="10"/>
          <p:cNvSpPr txBox="true"/>
          <p:nvPr/>
        </p:nvSpPr>
        <p:spPr>
          <a:xfrm rot="0">
            <a:off x="-3006709" y="4423356"/>
            <a:ext cx="8290560" cy="1601426"/>
          </a:xfrm>
          <a:prstGeom prst="rect">
            <a:avLst/>
          </a:prstGeom>
        </p:spPr>
        <p:txBody>
          <a:bodyPr anchor="t" rtlCol="false" tIns="0" lIns="0" bIns="0" rIns="0">
            <a:spAutoFit/>
          </a:bodyPr>
          <a:lstStyle/>
          <a:p>
            <a:pPr algn="ctr">
              <a:lnSpc>
                <a:spcPts val="2554"/>
              </a:lnSpc>
            </a:pPr>
            <a:r>
              <a:rPr lang="en-US" sz="1824">
                <a:solidFill>
                  <a:srgbClr val="FFFFFF"/>
                </a:solidFill>
                <a:latin typeface="Droid Arabic Kufi"/>
                <a:ea typeface="Droid Arabic Kufi"/>
                <a:cs typeface="Droid Arabic Kufi"/>
                <a:sym typeface="Droid Arabic Kufi"/>
              </a:rPr>
              <a:t>           Clean the data              </a:t>
            </a:r>
          </a:p>
          <a:p>
            <a:pPr algn="ctr" rtl="true" marL="393870" indent="-196935" lvl="1">
              <a:lnSpc>
                <a:spcPts val="2554"/>
              </a:lnSpc>
              <a:buFont typeface="Arial"/>
              <a:buChar char="•"/>
            </a:pPr>
            <a:r>
              <a:rPr lang="ar-EG" sz="1824">
                <a:solidFill>
                  <a:srgbClr val="FFFFFF"/>
                </a:solidFill>
                <a:latin typeface="Droid Arabic Kufi"/>
                <a:ea typeface="Droid Arabic Kufi"/>
                <a:cs typeface="Droid Arabic Kufi"/>
                <a:sym typeface="Droid Arabic Kufi"/>
                <a:rtl val="true"/>
              </a:rPr>
              <a:t>               </a:t>
            </a:r>
            <a:r>
              <a:rPr lang="en-US" sz="1824">
                <a:solidFill>
                  <a:srgbClr val="FFFFFF"/>
                </a:solidFill>
                <a:latin typeface="Droid Arabic Kufi"/>
                <a:ea typeface="Droid Arabic Kufi"/>
                <a:cs typeface="Droid Arabic Kufi"/>
                <a:sym typeface="Droid Arabic Kufi"/>
              </a:rPr>
              <a:t>Convert</a:t>
            </a:r>
            <a:r>
              <a:rPr lang="en-US" sz="1824">
                <a:solidFill>
                  <a:srgbClr val="FFFFFF"/>
                </a:solidFill>
                <a:latin typeface="Droid Arabic Kufi"/>
                <a:ea typeface="Droid Arabic Kufi"/>
                <a:cs typeface="Droid Arabic Kufi"/>
                <a:sym typeface="Droid Arabic Kufi"/>
              </a:rPr>
              <a:t> data type</a:t>
            </a:r>
            <a:r>
              <a:rPr lang="ar-EG" sz="1824">
                <a:solidFill>
                  <a:srgbClr val="FFFFFF"/>
                </a:solidFill>
                <a:latin typeface="Droid Arabic Kufi"/>
                <a:ea typeface="Droid Arabic Kufi"/>
                <a:cs typeface="Droid Arabic Kufi"/>
                <a:sym typeface="Droid Arabic Kufi"/>
                <a:rtl val="true"/>
              </a:rPr>
              <a:t>                     </a:t>
            </a:r>
          </a:p>
          <a:p>
            <a:pPr algn="ctr" rtl="true" marL="393870" indent="-196935" lvl="1">
              <a:lnSpc>
                <a:spcPts val="2554"/>
              </a:lnSpc>
              <a:buFont typeface="Arial"/>
              <a:buChar char="•"/>
            </a:pPr>
            <a:r>
              <a:rPr lang="ar-EG" sz="1824">
                <a:solidFill>
                  <a:srgbClr val="FFFFFF"/>
                </a:solidFill>
                <a:latin typeface="Droid Arabic Kufi"/>
                <a:ea typeface="Droid Arabic Kufi"/>
                <a:cs typeface="Droid Arabic Kufi"/>
                <a:sym typeface="Droid Arabic Kufi"/>
                <a:rtl val="true"/>
              </a:rPr>
              <a:t>               </a:t>
            </a:r>
            <a:r>
              <a:rPr lang="en-US" sz="1824">
                <a:solidFill>
                  <a:srgbClr val="FFFFFF"/>
                </a:solidFill>
                <a:latin typeface="Droid Arabic Kufi"/>
                <a:ea typeface="Droid Arabic Kufi"/>
                <a:cs typeface="Droid Arabic Kufi"/>
                <a:sym typeface="Droid Arabic Kufi"/>
              </a:rPr>
              <a:t>Create derived column</a:t>
            </a:r>
            <a:r>
              <a:rPr lang="ar-EG" sz="1824">
                <a:solidFill>
                  <a:srgbClr val="FFFFFF"/>
                </a:solidFill>
                <a:latin typeface="Droid Arabic Kufi"/>
                <a:ea typeface="Droid Arabic Kufi"/>
                <a:cs typeface="Droid Arabic Kufi"/>
                <a:sym typeface="Droid Arabic Kufi"/>
                <a:rtl val="true"/>
              </a:rPr>
              <a:t>                            </a:t>
            </a:r>
          </a:p>
          <a:p>
            <a:pPr algn="ctr" rtl="true" marL="393870" indent="-196935" lvl="1">
              <a:lnSpc>
                <a:spcPts val="2554"/>
              </a:lnSpc>
              <a:buFont typeface="Arial"/>
              <a:buChar char="•"/>
            </a:pPr>
            <a:r>
              <a:rPr lang="en-US" sz="1824">
                <a:solidFill>
                  <a:srgbClr val="FFFFFF"/>
                </a:solidFill>
                <a:latin typeface="Droid Arabic Kufi"/>
                <a:ea typeface="Droid Arabic Kufi"/>
                <a:cs typeface="Droid Arabic Kufi"/>
                <a:sym typeface="Droid Arabic Kufi"/>
              </a:rPr>
              <a:t>Handle Slowly Changing Dimensions (SCD)</a:t>
            </a:r>
            <a:r>
              <a:rPr lang="ar-EG" sz="1824">
                <a:solidFill>
                  <a:srgbClr val="FFFFFF"/>
                </a:solidFill>
                <a:latin typeface="Droid Arabic Kufi"/>
                <a:ea typeface="Droid Arabic Kufi"/>
                <a:cs typeface="Droid Arabic Kufi"/>
                <a:sym typeface="Droid Arabic Kufi"/>
                <a:rtl val="true"/>
              </a:rPr>
              <a:t>                                                                                                     </a:t>
            </a:r>
          </a:p>
          <a:p>
            <a:pPr algn="ctr" rtl="true">
              <a:lnSpc>
                <a:spcPts val="2554"/>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8514900">
            <a:off x="6011780" y="-533438"/>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3" id="3"/>
          <p:cNvSpPr/>
          <p:nvPr/>
        </p:nvSpPr>
        <p:spPr>
          <a:xfrm flipH="false" flipV="false" rot="0">
            <a:off x="-226990" y="6024782"/>
            <a:ext cx="1097023" cy="2112778"/>
          </a:xfrm>
          <a:custGeom>
            <a:avLst/>
            <a:gdLst/>
            <a:ahLst/>
            <a:cxnLst/>
            <a:rect r="r" b="b" t="t" l="l"/>
            <a:pathLst>
              <a:path h="2112778" w="1097023">
                <a:moveTo>
                  <a:pt x="0" y="0"/>
                </a:moveTo>
                <a:lnTo>
                  <a:pt x="1097023" y="0"/>
                </a:lnTo>
                <a:lnTo>
                  <a:pt x="1097023" y="2112778"/>
                </a:lnTo>
                <a:lnTo>
                  <a:pt x="0" y="211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62755" y="6024782"/>
            <a:ext cx="1167355" cy="2248233"/>
          </a:xfrm>
          <a:custGeom>
            <a:avLst/>
            <a:gdLst/>
            <a:ahLst/>
            <a:cxnLst/>
            <a:rect r="r" b="b" t="t" l="l"/>
            <a:pathLst>
              <a:path h="2248233" w="1167355">
                <a:moveTo>
                  <a:pt x="0" y="0"/>
                </a:moveTo>
                <a:lnTo>
                  <a:pt x="1167356" y="0"/>
                </a:lnTo>
                <a:lnTo>
                  <a:pt x="1167356" y="2248233"/>
                </a:lnTo>
                <a:lnTo>
                  <a:pt x="0" y="22482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127400">
            <a:off x="-7030603" y="-469849"/>
            <a:ext cx="10707605" cy="3504305"/>
          </a:xfrm>
          <a:custGeom>
            <a:avLst/>
            <a:gdLst/>
            <a:ahLst/>
            <a:cxnLst/>
            <a:rect r="r" b="b" t="t" l="l"/>
            <a:pathLst>
              <a:path h="3504305" w="10707605">
                <a:moveTo>
                  <a:pt x="0" y="0"/>
                </a:moveTo>
                <a:lnTo>
                  <a:pt x="10707605" y="0"/>
                </a:lnTo>
                <a:lnTo>
                  <a:pt x="10707605" y="3504304"/>
                </a:lnTo>
                <a:lnTo>
                  <a:pt x="0" y="3504304"/>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6" id="6"/>
          <p:cNvSpPr/>
          <p:nvPr/>
        </p:nvSpPr>
        <p:spPr>
          <a:xfrm flipH="false" flipV="false" rot="0">
            <a:off x="494857" y="301369"/>
            <a:ext cx="4061612" cy="1172861"/>
          </a:xfrm>
          <a:custGeom>
            <a:avLst/>
            <a:gdLst/>
            <a:ahLst/>
            <a:cxnLst/>
            <a:rect r="r" b="b" t="t" l="l"/>
            <a:pathLst>
              <a:path h="1172861" w="4061612">
                <a:moveTo>
                  <a:pt x="0" y="0"/>
                </a:moveTo>
                <a:lnTo>
                  <a:pt x="4061613" y="0"/>
                </a:lnTo>
                <a:lnTo>
                  <a:pt x="4061613" y="1172861"/>
                </a:lnTo>
                <a:lnTo>
                  <a:pt x="0" y="11728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058600" y="4319228"/>
            <a:ext cx="3740256" cy="2829670"/>
          </a:xfrm>
          <a:custGeom>
            <a:avLst/>
            <a:gdLst/>
            <a:ahLst/>
            <a:cxnLst/>
            <a:rect r="r" b="b" t="t" l="l"/>
            <a:pathLst>
              <a:path h="2829670" w="3740256">
                <a:moveTo>
                  <a:pt x="0" y="0"/>
                </a:moveTo>
                <a:lnTo>
                  <a:pt x="3740256" y="0"/>
                </a:lnTo>
                <a:lnTo>
                  <a:pt x="3740256" y="2829670"/>
                </a:lnTo>
                <a:lnTo>
                  <a:pt x="0" y="2829670"/>
                </a:lnTo>
                <a:lnTo>
                  <a:pt x="0" y="0"/>
                </a:lnTo>
                <a:close/>
              </a:path>
            </a:pathLst>
          </a:custGeom>
          <a:blipFill>
            <a:blip r:embed="rId10"/>
            <a:stretch>
              <a:fillRect l="0" t="0" r="0" b="0"/>
            </a:stretch>
          </a:blipFill>
        </p:spPr>
      </p:sp>
      <p:sp>
        <p:nvSpPr>
          <p:cNvPr name="TextBox 8" id="8"/>
          <p:cNvSpPr txBox="true"/>
          <p:nvPr/>
        </p:nvSpPr>
        <p:spPr>
          <a:xfrm rot="0">
            <a:off x="976733" y="769620"/>
            <a:ext cx="2863155" cy="440131"/>
          </a:xfrm>
          <a:prstGeom prst="rect">
            <a:avLst/>
          </a:prstGeom>
        </p:spPr>
        <p:txBody>
          <a:bodyPr anchor="t" rtlCol="false" tIns="0" lIns="0" bIns="0" rIns="0">
            <a:spAutoFit/>
          </a:bodyPr>
          <a:lstStyle/>
          <a:p>
            <a:pPr algn="l">
              <a:lnSpc>
                <a:spcPts val="3461"/>
              </a:lnSpc>
            </a:pPr>
            <a:r>
              <a:rPr lang="en-US" sz="3147" b="true">
                <a:solidFill>
                  <a:srgbClr val="CC78FF"/>
                </a:solidFill>
                <a:latin typeface="Red Hat Display Bold"/>
                <a:ea typeface="Red Hat Display Bold"/>
                <a:cs typeface="Red Hat Display Bold"/>
                <a:sym typeface="Red Hat Display Bold"/>
              </a:rPr>
              <a:t> DAX Measures</a:t>
            </a:r>
          </a:p>
        </p:txBody>
      </p:sp>
      <p:sp>
        <p:nvSpPr>
          <p:cNvPr name="TextBox 9" id="9"/>
          <p:cNvSpPr txBox="true"/>
          <p:nvPr/>
        </p:nvSpPr>
        <p:spPr>
          <a:xfrm rot="0">
            <a:off x="0" y="1710651"/>
            <a:ext cx="8243343" cy="660509"/>
          </a:xfrm>
          <a:prstGeom prst="rect">
            <a:avLst/>
          </a:prstGeom>
        </p:spPr>
        <p:txBody>
          <a:bodyPr anchor="t" rtlCol="false" tIns="0" lIns="0" bIns="0" rIns="0">
            <a:spAutoFit/>
          </a:bodyPr>
          <a:lstStyle/>
          <a:p>
            <a:pPr algn="ctr" rtl="true">
              <a:lnSpc>
                <a:spcPts val="2603"/>
              </a:lnSpc>
            </a:pPr>
            <a:r>
              <a:rPr lang="en-US" sz="1859">
                <a:solidFill>
                  <a:srgbClr val="CC78FF"/>
                </a:solidFill>
                <a:latin typeface="Droid Arabic Kufi"/>
                <a:ea typeface="Droid Arabic Kufi"/>
                <a:cs typeface="Droid Arabic Kufi"/>
                <a:sym typeface="Droid Arabic Kufi"/>
              </a:rPr>
              <a:t>To support interactive reporting, several DAX measures were created for KPI cards</a:t>
            </a:r>
            <a:r>
              <a:rPr lang="en-US" sz="1859">
                <a:solidFill>
                  <a:srgbClr val="CC78FF"/>
                </a:solidFill>
                <a:latin typeface="Droid Arabic Kufi"/>
                <a:ea typeface="Droid Arabic Kufi"/>
                <a:cs typeface="Droid Arabic Kufi"/>
                <a:sym typeface="Droid Arabic Kufi"/>
              </a:rPr>
              <a:t> and dashboard calculations</a:t>
            </a:r>
            <a:r>
              <a:rPr lang="ar-EG" sz="1859">
                <a:solidFill>
                  <a:srgbClr val="CC78FF"/>
                </a:solidFill>
                <a:latin typeface="Droid Arabic Kufi"/>
                <a:ea typeface="Droid Arabic Kufi"/>
                <a:cs typeface="Droid Arabic Kufi"/>
                <a:sym typeface="Droid Arabic Kufi"/>
                <a:rtl val="true"/>
              </a:rPr>
              <a:t>.</a:t>
            </a:r>
          </a:p>
        </p:txBody>
      </p:sp>
      <p:sp>
        <p:nvSpPr>
          <p:cNvPr name="TextBox 10" id="10"/>
          <p:cNvSpPr txBox="true"/>
          <p:nvPr/>
        </p:nvSpPr>
        <p:spPr>
          <a:xfrm rot="0">
            <a:off x="91802" y="2784188"/>
            <a:ext cx="2316509" cy="460885"/>
          </a:xfrm>
          <a:prstGeom prst="rect">
            <a:avLst/>
          </a:prstGeom>
        </p:spPr>
        <p:txBody>
          <a:bodyPr anchor="t" rtlCol="false" tIns="0" lIns="0" bIns="0" rIns="0">
            <a:spAutoFit/>
          </a:bodyPr>
          <a:lstStyle/>
          <a:p>
            <a:pPr algn="ctr" rtl="true">
              <a:lnSpc>
                <a:spcPts val="3740"/>
              </a:lnSpc>
            </a:pPr>
            <a:r>
              <a:rPr lang="en-US" b="true" sz="2672">
                <a:solidFill>
                  <a:srgbClr val="CC78FF"/>
                </a:solidFill>
                <a:latin typeface="XM Vahid Bold"/>
                <a:ea typeface="XM Vahid Bold"/>
                <a:cs typeface="XM Vahid Bold"/>
                <a:sym typeface="XM Vahid Bold"/>
              </a:rPr>
              <a:t>Main</a:t>
            </a:r>
            <a:r>
              <a:rPr lang="en-US" b="true" sz="2672">
                <a:solidFill>
                  <a:srgbClr val="CC78FF"/>
                </a:solidFill>
                <a:latin typeface="XM Vahid Bold"/>
                <a:ea typeface="XM Vahid Bold"/>
                <a:cs typeface="XM Vahid Bold"/>
                <a:sym typeface="XM Vahid Bold"/>
              </a:rPr>
              <a:t> Measures</a:t>
            </a:r>
          </a:p>
        </p:txBody>
      </p:sp>
      <p:sp>
        <p:nvSpPr>
          <p:cNvPr name="TextBox 11" id="11"/>
          <p:cNvSpPr txBox="true"/>
          <p:nvPr/>
        </p:nvSpPr>
        <p:spPr>
          <a:xfrm rot="0">
            <a:off x="-1715594" y="3483198"/>
            <a:ext cx="5837266" cy="3141028"/>
          </a:xfrm>
          <a:prstGeom prst="rect">
            <a:avLst/>
          </a:prstGeom>
        </p:spPr>
        <p:txBody>
          <a:bodyPr anchor="t" rtlCol="false" tIns="0" lIns="0" bIns="0" rIns="0">
            <a:spAutoFit/>
          </a:bodyPr>
          <a:lstStyle/>
          <a:p>
            <a:pPr algn="ctr">
              <a:lnSpc>
                <a:spcPts val="3558"/>
              </a:lnSpc>
            </a:pPr>
            <a:r>
              <a:rPr lang="en-US" sz="2541">
                <a:solidFill>
                  <a:srgbClr val="CC78FF"/>
                </a:solidFill>
                <a:latin typeface="Droid Arabic Kufi"/>
                <a:ea typeface="Droid Arabic Kufi"/>
                <a:cs typeface="Droid Arabic Kufi"/>
                <a:sym typeface="Droid Arabic Kufi"/>
              </a:rPr>
              <a:t>Total Patients</a:t>
            </a:r>
          </a:p>
          <a:p>
            <a:pPr algn="ctr" rtl="true" marL="548699" indent="-274349" lvl="1">
              <a:lnSpc>
                <a:spcPts val="3558"/>
              </a:lnSpc>
              <a:buFont typeface="Arial"/>
              <a:buChar char="•"/>
            </a:pPr>
            <a:r>
              <a:rPr lang="en-US" sz="2541">
                <a:solidFill>
                  <a:srgbClr val="CC78FF"/>
                </a:solidFill>
                <a:latin typeface="Droid Arabic Kufi"/>
                <a:ea typeface="Droid Arabic Kufi"/>
                <a:cs typeface="Droid Arabic Kufi"/>
                <a:sym typeface="Droid Arabic Kufi"/>
              </a:rPr>
              <a:t>Average Age</a:t>
            </a:r>
            <a:r>
              <a:rPr lang="ar-EG" sz="2541">
                <a:solidFill>
                  <a:srgbClr val="CC78FF"/>
                </a:solidFill>
                <a:latin typeface="Droid Arabic Kufi"/>
                <a:ea typeface="Droid Arabic Kufi"/>
                <a:cs typeface="Droid Arabic Kufi"/>
                <a:sym typeface="Droid Arabic Kufi"/>
                <a:rtl val="true"/>
              </a:rPr>
              <a:t>    </a:t>
            </a:r>
          </a:p>
          <a:p>
            <a:pPr algn="ctr" rtl="true" marL="548699" indent="-274349" lvl="1">
              <a:lnSpc>
                <a:spcPts val="3558"/>
              </a:lnSpc>
              <a:buFont typeface="Arial"/>
              <a:buChar char="•"/>
            </a:pPr>
            <a:r>
              <a:rPr lang="ar-EG" sz="2541">
                <a:solidFill>
                  <a:srgbClr val="CC78FF"/>
                </a:solidFill>
                <a:latin typeface="Droid Arabic Kufi"/>
                <a:ea typeface="Droid Arabic Kufi"/>
                <a:cs typeface="Droid Arabic Kufi"/>
                <a:sym typeface="Droid Arabic Kufi"/>
                <a:rtl val="true"/>
              </a:rPr>
              <a:t>  </a:t>
            </a:r>
            <a:r>
              <a:rPr lang="en-US" sz="2541">
                <a:solidFill>
                  <a:srgbClr val="CC78FF"/>
                </a:solidFill>
                <a:latin typeface="Droid Arabic Kufi"/>
                <a:ea typeface="Droid Arabic Kufi"/>
                <a:cs typeface="Droid Arabic Kufi"/>
                <a:sym typeface="Droid Arabic Kufi"/>
              </a:rPr>
              <a:t>Average Sleep Hours</a:t>
            </a:r>
            <a:r>
              <a:rPr lang="ar-EG" sz="2541">
                <a:solidFill>
                  <a:srgbClr val="CC78FF"/>
                </a:solidFill>
                <a:latin typeface="Droid Arabic Kufi"/>
                <a:ea typeface="Droid Arabic Kufi"/>
                <a:cs typeface="Droid Arabic Kufi"/>
                <a:sym typeface="Droid Arabic Kufi"/>
                <a:rtl val="true"/>
              </a:rPr>
              <a:t>                 </a:t>
            </a:r>
          </a:p>
          <a:p>
            <a:pPr algn="ctr" rtl="true" marL="548699" indent="-274349" lvl="1">
              <a:lnSpc>
                <a:spcPts val="3558"/>
              </a:lnSpc>
              <a:buFont typeface="Arial"/>
              <a:buChar char="•"/>
            </a:pPr>
            <a:r>
              <a:rPr lang="ar-EG" sz="2541">
                <a:solidFill>
                  <a:srgbClr val="CC78FF"/>
                </a:solidFill>
                <a:latin typeface="Droid Arabic Kufi"/>
                <a:ea typeface="Droid Arabic Kufi"/>
                <a:cs typeface="Droid Arabic Kufi"/>
                <a:sym typeface="Droid Arabic Kufi"/>
                <a:rtl val="true"/>
              </a:rPr>
              <a:t>     </a:t>
            </a:r>
            <a:r>
              <a:rPr lang="en-US" sz="2541">
                <a:solidFill>
                  <a:srgbClr val="CC78FF"/>
                </a:solidFill>
                <a:latin typeface="Droid Arabic Kufi"/>
                <a:ea typeface="Droid Arabic Kufi"/>
                <a:cs typeface="Droid Arabic Kufi"/>
                <a:sym typeface="Droid Arabic Kufi"/>
              </a:rPr>
              <a:t>High Stress</a:t>
            </a:r>
            <a:r>
              <a:rPr lang="ar-EG" sz="2541">
                <a:solidFill>
                  <a:srgbClr val="CC78FF"/>
                </a:solidFill>
                <a:latin typeface="Droid Arabic Kufi"/>
                <a:ea typeface="Droid Arabic Kufi"/>
                <a:cs typeface="Droid Arabic Kufi"/>
                <a:sym typeface="Droid Arabic Kufi"/>
                <a:rtl val="true"/>
              </a:rPr>
              <a:t>      </a:t>
            </a:r>
          </a:p>
          <a:p>
            <a:pPr algn="ctr" rtl="true" marL="548699" indent="-274349" lvl="1">
              <a:lnSpc>
                <a:spcPts val="3558"/>
              </a:lnSpc>
              <a:buFont typeface="Arial"/>
              <a:buChar char="•"/>
            </a:pPr>
            <a:r>
              <a:rPr lang="ar-EG" sz="2541">
                <a:solidFill>
                  <a:srgbClr val="CC78FF"/>
                </a:solidFill>
                <a:latin typeface="Droid Arabic Kufi"/>
                <a:ea typeface="Droid Arabic Kufi"/>
                <a:cs typeface="Droid Arabic Kufi"/>
                <a:sym typeface="Droid Arabic Kufi"/>
                <a:rtl val="true"/>
              </a:rPr>
              <a:t>  </a:t>
            </a:r>
            <a:r>
              <a:rPr lang="en-US" sz="2541">
                <a:solidFill>
                  <a:srgbClr val="CC78FF"/>
                </a:solidFill>
                <a:latin typeface="Droid Arabic Kufi"/>
                <a:ea typeface="Droid Arabic Kufi"/>
                <a:cs typeface="Droid Arabic Kufi"/>
                <a:sym typeface="Droid Arabic Kufi"/>
              </a:rPr>
              <a:t>Medication Usage</a:t>
            </a:r>
            <a:r>
              <a:rPr lang="ar-EG" sz="2541">
                <a:solidFill>
                  <a:srgbClr val="CC78FF"/>
                </a:solidFill>
                <a:latin typeface="Droid Arabic Kufi"/>
                <a:ea typeface="Droid Arabic Kufi"/>
                <a:cs typeface="Droid Arabic Kufi"/>
                <a:sym typeface="Droid Arabic Kufi"/>
                <a:rtl val="true"/>
              </a:rPr>
              <a:t>            </a:t>
            </a:r>
          </a:p>
          <a:p>
            <a:pPr algn="ctr" rtl="true" marL="548699" indent="-274349" lvl="1">
              <a:lnSpc>
                <a:spcPts val="3558"/>
              </a:lnSpc>
              <a:buFont typeface="Arial"/>
              <a:buChar char="•"/>
            </a:pPr>
            <a:r>
              <a:rPr lang="en-US" sz="2541">
                <a:solidFill>
                  <a:srgbClr val="CC78FF"/>
                </a:solidFill>
                <a:latin typeface="Droid Arabic Kufi"/>
                <a:ea typeface="Droid Arabic Kufi"/>
                <a:cs typeface="Droid Arabic Kufi"/>
                <a:sym typeface="Droid Arabic Kufi"/>
              </a:rPr>
              <a:t>Condition Rate</a:t>
            </a:r>
            <a:r>
              <a:rPr lang="ar-EG" sz="2541">
                <a:solidFill>
                  <a:srgbClr val="CC78FF"/>
                </a:solidFill>
                <a:latin typeface="Droid Arabic Kufi"/>
                <a:ea typeface="Droid Arabic Kufi"/>
                <a:cs typeface="Droid Arabic Kufi"/>
                <a:sym typeface="Droid Arabic Kufi"/>
                <a:rtl val="true"/>
              </a:rPr>
              <a:t>      </a:t>
            </a:r>
          </a:p>
          <a:p>
            <a:pPr algn="ctr" rtl="true">
              <a:lnSpc>
                <a:spcPts val="355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7675674" y="6088180"/>
            <a:ext cx="4155843" cy="2157841"/>
          </a:xfrm>
          <a:custGeom>
            <a:avLst/>
            <a:gdLst/>
            <a:ahLst/>
            <a:cxnLst/>
            <a:rect r="r" b="b" t="t" l="l"/>
            <a:pathLst>
              <a:path h="2157841" w="4155843">
                <a:moveTo>
                  <a:pt x="0" y="0"/>
                </a:moveTo>
                <a:lnTo>
                  <a:pt x="4155843" y="0"/>
                </a:lnTo>
                <a:lnTo>
                  <a:pt x="4155843" y="2157841"/>
                </a:lnTo>
                <a:lnTo>
                  <a:pt x="0" y="2157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19506" y="-1398299"/>
            <a:ext cx="4155843" cy="2157841"/>
          </a:xfrm>
          <a:custGeom>
            <a:avLst/>
            <a:gdLst/>
            <a:ahLst/>
            <a:cxnLst/>
            <a:rect r="r" b="b" t="t" l="l"/>
            <a:pathLst>
              <a:path h="2157841" w="4155843">
                <a:moveTo>
                  <a:pt x="0" y="0"/>
                </a:moveTo>
                <a:lnTo>
                  <a:pt x="4155843" y="0"/>
                </a:lnTo>
                <a:lnTo>
                  <a:pt x="4155843" y="2157842"/>
                </a:lnTo>
                <a:lnTo>
                  <a:pt x="0" y="2157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476680">
            <a:off x="-2531593" y="5818975"/>
            <a:ext cx="6227312" cy="2038036"/>
          </a:xfrm>
          <a:custGeom>
            <a:avLst/>
            <a:gdLst/>
            <a:ahLst/>
            <a:cxnLst/>
            <a:rect r="r" b="b" t="t" l="l"/>
            <a:pathLst>
              <a:path h="2038036" w="6227312">
                <a:moveTo>
                  <a:pt x="0" y="0"/>
                </a:moveTo>
                <a:lnTo>
                  <a:pt x="6227312" y="0"/>
                </a:lnTo>
                <a:lnTo>
                  <a:pt x="6227312" y="2038036"/>
                </a:lnTo>
                <a:lnTo>
                  <a:pt x="0" y="2038036"/>
                </a:lnTo>
                <a:lnTo>
                  <a:pt x="0" y="0"/>
                </a:lnTo>
                <a:close/>
              </a:path>
            </a:pathLst>
          </a:custGeom>
          <a:blipFill>
            <a:blip r:embed="rId6">
              <a:extLst>
                <a:ext uri="{96DAC541-7B7A-43D3-8B79-37D633B846F1}">
                  <asvg:svgBlip xmlns:asvg="http://schemas.microsoft.com/office/drawing/2016/SVG/main" r:embed="rId7"/>
                </a:ext>
              </a:extLst>
            </a:blip>
            <a:stretch>
              <a:fillRect l="0" t="-225" r="0" b="-224"/>
            </a:stretch>
          </a:blipFill>
        </p:spPr>
      </p:sp>
      <p:grpSp>
        <p:nvGrpSpPr>
          <p:cNvPr name="Group 5" id="5"/>
          <p:cNvGrpSpPr/>
          <p:nvPr/>
        </p:nvGrpSpPr>
        <p:grpSpPr>
          <a:xfrm rot="0">
            <a:off x="6017314" y="2388279"/>
            <a:ext cx="3781596" cy="2762212"/>
            <a:chOff x="0" y="0"/>
            <a:chExt cx="5042129" cy="3682949"/>
          </a:xfrm>
        </p:grpSpPr>
        <p:sp>
          <p:nvSpPr>
            <p:cNvPr name="Freeform 6" id="6"/>
            <p:cNvSpPr/>
            <p:nvPr/>
          </p:nvSpPr>
          <p:spPr>
            <a:xfrm flipH="false" flipV="false" rot="0">
              <a:off x="0" y="0"/>
              <a:ext cx="5042154" cy="3683000"/>
            </a:xfrm>
            <a:custGeom>
              <a:avLst/>
              <a:gdLst/>
              <a:ahLst/>
              <a:cxnLst/>
              <a:rect r="r" b="b" t="t" l="l"/>
              <a:pathLst>
                <a:path h="3683000" w="5042154">
                  <a:moveTo>
                    <a:pt x="0" y="0"/>
                  </a:moveTo>
                  <a:lnTo>
                    <a:pt x="5042154" y="0"/>
                  </a:lnTo>
                  <a:lnTo>
                    <a:pt x="5042154" y="3683000"/>
                  </a:lnTo>
                  <a:lnTo>
                    <a:pt x="0" y="3683000"/>
                  </a:lnTo>
                  <a:lnTo>
                    <a:pt x="0" y="0"/>
                  </a:lnTo>
                  <a:close/>
                </a:path>
              </a:pathLst>
            </a:custGeom>
            <a:blipFill>
              <a:blip r:embed="rId8"/>
              <a:stretch>
                <a:fillRect l="0" t="0" r="0" b="1"/>
              </a:stretch>
            </a:blipFill>
          </p:spPr>
        </p:sp>
      </p:grpSp>
      <p:grpSp>
        <p:nvGrpSpPr>
          <p:cNvPr name="Group 7" id="7"/>
          <p:cNvGrpSpPr/>
          <p:nvPr/>
        </p:nvGrpSpPr>
        <p:grpSpPr>
          <a:xfrm rot="0">
            <a:off x="5050488" y="5243674"/>
            <a:ext cx="4457081" cy="2049856"/>
            <a:chOff x="0" y="0"/>
            <a:chExt cx="5942774" cy="2733142"/>
          </a:xfrm>
        </p:grpSpPr>
        <p:sp>
          <p:nvSpPr>
            <p:cNvPr name="Freeform 8" id="8"/>
            <p:cNvSpPr/>
            <p:nvPr/>
          </p:nvSpPr>
          <p:spPr>
            <a:xfrm flipH="false" flipV="false" rot="0">
              <a:off x="0" y="0"/>
              <a:ext cx="5942838" cy="2733167"/>
            </a:xfrm>
            <a:custGeom>
              <a:avLst/>
              <a:gdLst/>
              <a:ahLst/>
              <a:cxnLst/>
              <a:rect r="r" b="b" t="t" l="l"/>
              <a:pathLst>
                <a:path h="2733167" w="5942838">
                  <a:moveTo>
                    <a:pt x="0" y="0"/>
                  </a:moveTo>
                  <a:lnTo>
                    <a:pt x="5942838" y="0"/>
                  </a:lnTo>
                  <a:lnTo>
                    <a:pt x="5942838" y="2733167"/>
                  </a:lnTo>
                  <a:lnTo>
                    <a:pt x="0" y="2733167"/>
                  </a:lnTo>
                  <a:lnTo>
                    <a:pt x="0" y="0"/>
                  </a:lnTo>
                  <a:close/>
                </a:path>
              </a:pathLst>
            </a:custGeom>
            <a:blipFill>
              <a:blip r:embed="rId9"/>
              <a:stretch>
                <a:fillRect l="0" t="-64" r="1" b="-63"/>
              </a:stretch>
            </a:blipFill>
          </p:spPr>
        </p:sp>
      </p:grpSp>
      <p:sp>
        <p:nvSpPr>
          <p:cNvPr name="TextBox 9" id="9"/>
          <p:cNvSpPr txBox="true"/>
          <p:nvPr/>
        </p:nvSpPr>
        <p:spPr>
          <a:xfrm rot="0">
            <a:off x="2091271" y="250088"/>
            <a:ext cx="3926043" cy="1200493"/>
          </a:xfrm>
          <a:prstGeom prst="rect">
            <a:avLst/>
          </a:prstGeom>
        </p:spPr>
        <p:txBody>
          <a:bodyPr anchor="t" rtlCol="false" tIns="0" lIns="0" bIns="0" rIns="0">
            <a:spAutoFit/>
          </a:bodyPr>
          <a:lstStyle/>
          <a:p>
            <a:pPr algn="l">
              <a:lnSpc>
                <a:spcPts val="4974"/>
              </a:lnSpc>
            </a:pPr>
            <a:r>
              <a:rPr lang="en-US" sz="4521" b="true">
                <a:solidFill>
                  <a:srgbClr val="CC78FF"/>
                </a:solidFill>
                <a:latin typeface="Red Hat Display Bold"/>
                <a:ea typeface="Red Hat Display Bold"/>
                <a:cs typeface="Red Hat Display Bold"/>
                <a:sym typeface="Red Hat Display Bold"/>
              </a:rPr>
              <a:t>DASHBOARD OVERVIEW</a:t>
            </a:r>
          </a:p>
        </p:txBody>
      </p:sp>
      <p:sp>
        <p:nvSpPr>
          <p:cNvPr name="TextBox 10" id="10"/>
          <p:cNvSpPr txBox="true"/>
          <p:nvPr/>
        </p:nvSpPr>
        <p:spPr>
          <a:xfrm rot="0">
            <a:off x="199625" y="1439542"/>
            <a:ext cx="4677175" cy="2218058"/>
          </a:xfrm>
          <a:prstGeom prst="rect">
            <a:avLst/>
          </a:prstGeom>
        </p:spPr>
        <p:txBody>
          <a:bodyPr anchor="t" rtlCol="false" tIns="0" lIns="0" bIns="0" rIns="0">
            <a:spAutoFit/>
          </a:bodyPr>
          <a:lstStyle/>
          <a:p>
            <a:pPr algn="l">
              <a:lnSpc>
                <a:spcPts val="1936"/>
              </a:lnSpc>
            </a:pPr>
            <a:r>
              <a:rPr lang="en-US" sz="1761">
                <a:solidFill>
                  <a:srgbClr val="FEFEFE"/>
                </a:solidFill>
                <a:latin typeface="Lato"/>
                <a:ea typeface="Lato"/>
                <a:cs typeface="Lato"/>
                <a:sym typeface="Lato"/>
              </a:rPr>
              <a:t>The Overview Dashboard provides a high-level summary of the dataset through key performance indicators (KPIs) and interactive visualizations. It helps users quickly understand the overall distribution of respondents, demographic characteristics, and mental health indicators before exploring the data in more detail.</a:t>
            </a:r>
          </a:p>
          <a:p>
            <a:pPr algn="l">
              <a:lnSpc>
                <a:spcPts val="1936"/>
              </a:lnSpc>
            </a:pPr>
          </a:p>
        </p:txBody>
      </p:sp>
      <p:sp>
        <p:nvSpPr>
          <p:cNvPr name="TextBox 11" id="11"/>
          <p:cNvSpPr txBox="true"/>
          <p:nvPr/>
        </p:nvSpPr>
        <p:spPr>
          <a:xfrm rot="0">
            <a:off x="199625" y="4488180"/>
            <a:ext cx="2872559" cy="2095500"/>
          </a:xfrm>
          <a:prstGeom prst="rect">
            <a:avLst/>
          </a:prstGeom>
        </p:spPr>
        <p:txBody>
          <a:bodyPr anchor="t" rtlCol="false" tIns="0" lIns="0" bIns="0" rIns="0">
            <a:spAutoFit/>
          </a:bodyPr>
          <a:lstStyle/>
          <a:p>
            <a:pPr algn="l" marL="342901" indent="-114300" lvl="2">
              <a:lnSpc>
                <a:spcPts val="1650"/>
              </a:lnSpc>
              <a:buFont typeface="Arial"/>
              <a:buChar char="⚬"/>
            </a:pPr>
            <a:r>
              <a:rPr lang="en-US" sz="1500" i="true">
                <a:solidFill>
                  <a:srgbClr val="FEFEFE"/>
                </a:solidFill>
                <a:latin typeface="Lato Italics"/>
                <a:ea typeface="Lato Italics"/>
                <a:cs typeface="Lato Italics"/>
                <a:sym typeface="Lato Italics"/>
              </a:rPr>
              <a:t>KPI Cards summarizing the most important metrics.</a:t>
            </a:r>
          </a:p>
          <a:p>
            <a:pPr algn="l" marL="342901" indent="-114300" lvl="2">
              <a:lnSpc>
                <a:spcPts val="1650"/>
              </a:lnSpc>
              <a:buFont typeface="Arial"/>
              <a:buChar char="⚬"/>
            </a:pPr>
            <a:r>
              <a:rPr lang="en-US" sz="1500" i="true">
                <a:solidFill>
                  <a:srgbClr val="FEFEFE"/>
                </a:solidFill>
                <a:latin typeface="Lato Italics"/>
                <a:ea typeface="Lato Italics"/>
                <a:cs typeface="Lato Italics"/>
                <a:sym typeface="Lato Italics"/>
              </a:rPr>
              <a:t>Demographic distribution of respondents.</a:t>
            </a:r>
          </a:p>
          <a:p>
            <a:pPr algn="l" marL="342901" indent="-114300" lvl="2">
              <a:lnSpc>
                <a:spcPts val="1650"/>
              </a:lnSpc>
              <a:buFont typeface="Arial"/>
              <a:buChar char="⚬"/>
            </a:pPr>
            <a:r>
              <a:rPr lang="en-US" sz="1500" i="true">
                <a:solidFill>
                  <a:srgbClr val="FEFEFE"/>
                </a:solidFill>
                <a:latin typeface="Lato Italics"/>
                <a:ea typeface="Lato Italics"/>
                <a:cs typeface="Lato Italics"/>
                <a:sym typeface="Lato Italics"/>
              </a:rPr>
              <a:t>Mental health condition overview.</a:t>
            </a:r>
          </a:p>
          <a:p>
            <a:pPr algn="l" marL="342901" indent="-114300" lvl="2">
              <a:lnSpc>
                <a:spcPts val="1650"/>
              </a:lnSpc>
              <a:buFont typeface="Arial"/>
              <a:buChar char="⚬"/>
            </a:pPr>
            <a:r>
              <a:rPr lang="en-US" sz="1500" i="true">
                <a:solidFill>
                  <a:srgbClr val="FEFEFE"/>
                </a:solidFill>
                <a:latin typeface="Lato Italics"/>
                <a:ea typeface="Lato Italics"/>
                <a:cs typeface="Lato Italics"/>
                <a:sym typeface="Lato Italics"/>
              </a:rPr>
              <a:t>Country-wise analysis.</a:t>
            </a:r>
          </a:p>
          <a:p>
            <a:pPr algn="l" marL="342901" indent="-114300" lvl="2">
              <a:lnSpc>
                <a:spcPts val="1650"/>
              </a:lnSpc>
              <a:buFont typeface="Arial"/>
              <a:buChar char="⚬"/>
            </a:pPr>
            <a:r>
              <a:rPr lang="en-US" sz="1500" i="true">
                <a:solidFill>
                  <a:srgbClr val="FEFEFE"/>
                </a:solidFill>
                <a:latin typeface="Lato Italics"/>
                <a:ea typeface="Lato Italics"/>
                <a:cs typeface="Lato Italics"/>
                <a:sym typeface="Lato Italics"/>
              </a:rPr>
              <a:t>Interactive filters for dynamic exploration.</a:t>
            </a:r>
          </a:p>
          <a:p>
            <a:pPr algn="l" marL="342901" indent="-114300" lvl="2">
              <a:lnSpc>
                <a:spcPts val="1650"/>
              </a:lnSpc>
            </a:pPr>
          </a:p>
        </p:txBody>
      </p:sp>
      <p:sp>
        <p:nvSpPr>
          <p:cNvPr name="TextBox 12" id="12"/>
          <p:cNvSpPr txBox="true"/>
          <p:nvPr/>
        </p:nvSpPr>
        <p:spPr>
          <a:xfrm rot="0">
            <a:off x="437197" y="3646913"/>
            <a:ext cx="3308156" cy="628012"/>
          </a:xfrm>
          <a:prstGeom prst="rect">
            <a:avLst/>
          </a:prstGeom>
        </p:spPr>
        <p:txBody>
          <a:bodyPr anchor="t" rtlCol="false" tIns="0" lIns="0" bIns="0" rIns="0">
            <a:spAutoFit/>
          </a:bodyPr>
          <a:lstStyle/>
          <a:p>
            <a:pPr algn="ctr" rtl="true">
              <a:lnSpc>
                <a:spcPts val="4759"/>
              </a:lnSpc>
            </a:pPr>
            <a:r>
              <a:rPr lang="en-US" b="true" sz="3399">
                <a:solidFill>
                  <a:srgbClr val="FFFFFF"/>
                </a:solidFill>
                <a:latin typeface="XM Vahid Bold"/>
                <a:ea typeface="XM Vahid Bold"/>
                <a:cs typeface="XM Vahid Bold"/>
                <a:sym typeface="XM Vahid Bold"/>
              </a:rPr>
              <a:t>Key Components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7999447" y="5536006"/>
            <a:ext cx="3891382" cy="2020519"/>
          </a:xfrm>
          <a:custGeom>
            <a:avLst/>
            <a:gdLst/>
            <a:ahLst/>
            <a:cxnLst/>
            <a:rect r="r" b="b" t="t" l="l"/>
            <a:pathLst>
              <a:path h="2020519" w="3891382">
                <a:moveTo>
                  <a:pt x="0" y="0"/>
                </a:moveTo>
                <a:lnTo>
                  <a:pt x="3891382" y="0"/>
                </a:lnTo>
                <a:lnTo>
                  <a:pt x="3891382" y="2020519"/>
                </a:lnTo>
                <a:lnTo>
                  <a:pt x="0" y="20205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06161" y="-1571349"/>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4">
              <a:extLst>
                <a:ext uri="{96DAC541-7B7A-43D3-8B79-37D633B846F1}">
                  <asvg:svgBlip xmlns:asvg="http://schemas.microsoft.com/office/drawing/2016/SVG/main" r:embed="rId5"/>
                </a:ext>
              </a:extLst>
            </a:blip>
            <a:stretch>
              <a:fillRect l="0" t="-246" r="0" b="-247"/>
            </a:stretch>
          </a:blipFill>
        </p:spPr>
      </p:sp>
      <p:grpSp>
        <p:nvGrpSpPr>
          <p:cNvPr name="Group 4" id="4"/>
          <p:cNvGrpSpPr/>
          <p:nvPr/>
        </p:nvGrpSpPr>
        <p:grpSpPr>
          <a:xfrm rot="0">
            <a:off x="4676365" y="4321531"/>
            <a:ext cx="5495658" cy="2790101"/>
            <a:chOff x="0" y="0"/>
            <a:chExt cx="7327544" cy="3720135"/>
          </a:xfrm>
        </p:grpSpPr>
        <p:sp>
          <p:nvSpPr>
            <p:cNvPr name="Freeform 5" id="5"/>
            <p:cNvSpPr/>
            <p:nvPr/>
          </p:nvSpPr>
          <p:spPr>
            <a:xfrm flipH="false" flipV="false" rot="0">
              <a:off x="0" y="0"/>
              <a:ext cx="7327519" cy="3720084"/>
            </a:xfrm>
            <a:custGeom>
              <a:avLst/>
              <a:gdLst/>
              <a:ahLst/>
              <a:cxnLst/>
              <a:rect r="r" b="b" t="t" l="l"/>
              <a:pathLst>
                <a:path h="3720084" w="7327519">
                  <a:moveTo>
                    <a:pt x="0" y="0"/>
                  </a:moveTo>
                  <a:lnTo>
                    <a:pt x="7327519" y="0"/>
                  </a:lnTo>
                  <a:lnTo>
                    <a:pt x="7327519" y="3720084"/>
                  </a:lnTo>
                  <a:lnTo>
                    <a:pt x="0" y="3720084"/>
                  </a:lnTo>
                  <a:lnTo>
                    <a:pt x="0" y="0"/>
                  </a:lnTo>
                  <a:close/>
                </a:path>
              </a:pathLst>
            </a:custGeom>
            <a:blipFill>
              <a:blip r:embed="rId6"/>
              <a:stretch>
                <a:fillRect l="0" t="0" r="0" b="-1"/>
              </a:stretch>
            </a:blipFill>
          </p:spPr>
        </p:sp>
      </p:grpSp>
      <p:sp>
        <p:nvSpPr>
          <p:cNvPr name="TextBox 6" id="6"/>
          <p:cNvSpPr txBox="true"/>
          <p:nvPr/>
        </p:nvSpPr>
        <p:spPr>
          <a:xfrm rot="0">
            <a:off x="2436409" y="454533"/>
            <a:ext cx="6811785" cy="371475"/>
          </a:xfrm>
          <a:prstGeom prst="rect">
            <a:avLst/>
          </a:prstGeom>
        </p:spPr>
        <p:txBody>
          <a:bodyPr anchor="t" rtlCol="false" tIns="0" lIns="0" bIns="0" rIns="0">
            <a:spAutoFit/>
          </a:bodyPr>
          <a:lstStyle/>
          <a:p>
            <a:pPr algn="l">
              <a:lnSpc>
                <a:spcPts val="3298"/>
              </a:lnSpc>
            </a:pPr>
            <a:r>
              <a:rPr lang="en-US" sz="2999" b="true">
                <a:solidFill>
                  <a:srgbClr val="CC78FF"/>
                </a:solidFill>
                <a:latin typeface="Red Hat Display Bold"/>
                <a:ea typeface="Red Hat Display Bold"/>
                <a:cs typeface="Red Hat Display Bold"/>
                <a:sym typeface="Red Hat Display Bold"/>
              </a:rPr>
              <a:t>Lifestyle Analysis Dashboard</a:t>
            </a:r>
          </a:p>
        </p:txBody>
      </p:sp>
      <p:sp>
        <p:nvSpPr>
          <p:cNvPr name="TextBox 7" id="7"/>
          <p:cNvSpPr txBox="true"/>
          <p:nvPr/>
        </p:nvSpPr>
        <p:spPr>
          <a:xfrm rot="0">
            <a:off x="243764" y="5044373"/>
            <a:ext cx="1517704" cy="566461"/>
          </a:xfrm>
          <a:prstGeom prst="rect">
            <a:avLst/>
          </a:prstGeom>
        </p:spPr>
        <p:txBody>
          <a:bodyPr anchor="t" rtlCol="false" tIns="0" lIns="0" bIns="0" rIns="0">
            <a:spAutoFit/>
          </a:bodyPr>
          <a:lstStyle/>
          <a:p>
            <a:pPr algn="ctr">
              <a:lnSpc>
                <a:spcPts val="4188"/>
              </a:lnSpc>
            </a:pPr>
            <a:r>
              <a:rPr lang="en-US" sz="2992" b="true">
                <a:solidFill>
                  <a:srgbClr val="FFFFFF"/>
                </a:solidFill>
                <a:latin typeface="XM Vahid Bold"/>
                <a:ea typeface="XM Vahid Bold"/>
                <a:cs typeface="XM Vahid Bold"/>
                <a:sym typeface="XM Vahid Bold"/>
              </a:rPr>
              <a:t>Purpose </a:t>
            </a:r>
          </a:p>
        </p:txBody>
      </p:sp>
      <p:sp>
        <p:nvSpPr>
          <p:cNvPr name="TextBox 8" id="8"/>
          <p:cNvSpPr txBox="true"/>
          <p:nvPr/>
        </p:nvSpPr>
        <p:spPr>
          <a:xfrm rot="0">
            <a:off x="88344" y="5640381"/>
            <a:ext cx="4454890" cy="1011584"/>
          </a:xfrm>
          <a:prstGeom prst="rect">
            <a:avLst/>
          </a:prstGeom>
        </p:spPr>
        <p:txBody>
          <a:bodyPr anchor="t" rtlCol="false" tIns="0" lIns="0" bIns="0" rIns="0">
            <a:spAutoFit/>
          </a:bodyPr>
          <a:lstStyle/>
          <a:p>
            <a:pPr algn="ctr" rtl="true">
              <a:lnSpc>
                <a:spcPts val="2581"/>
              </a:lnSpc>
            </a:pPr>
            <a:r>
              <a:rPr lang="en-US" sz="1843">
                <a:solidFill>
                  <a:srgbClr val="FFFFFF"/>
                </a:solidFill>
                <a:latin typeface="Droid Arabic Kufi"/>
                <a:ea typeface="Droid Arabic Kufi"/>
                <a:cs typeface="Droid Arabic Kufi"/>
                <a:sym typeface="Droid Arabic Kufi"/>
              </a:rPr>
              <a:t>This dashboard analyzes lifestyle habits and their relationship with mental health</a:t>
            </a:r>
          </a:p>
        </p:txBody>
      </p:sp>
      <p:sp>
        <p:nvSpPr>
          <p:cNvPr name="TextBox 9" id="9"/>
          <p:cNvSpPr txBox="true"/>
          <p:nvPr/>
        </p:nvSpPr>
        <p:spPr>
          <a:xfrm rot="0">
            <a:off x="88344" y="1106310"/>
            <a:ext cx="2348065" cy="628012"/>
          </a:xfrm>
          <a:prstGeom prst="rect">
            <a:avLst/>
          </a:prstGeom>
        </p:spPr>
        <p:txBody>
          <a:bodyPr anchor="t" rtlCol="false" tIns="0" lIns="0" bIns="0" rIns="0">
            <a:spAutoFit/>
          </a:bodyPr>
          <a:lstStyle/>
          <a:p>
            <a:pPr algn="ctr" rtl="true">
              <a:lnSpc>
                <a:spcPts val="4759"/>
              </a:lnSpc>
            </a:pPr>
            <a:r>
              <a:rPr lang="en-US" b="true" sz="3399">
                <a:solidFill>
                  <a:srgbClr val="FFFFFF"/>
                </a:solidFill>
                <a:latin typeface="XM Vahid Bold"/>
                <a:ea typeface="XM Vahid Bold"/>
                <a:cs typeface="XM Vahid Bold"/>
                <a:sym typeface="XM Vahid Bold"/>
              </a:rPr>
              <a:t>Key Insights</a:t>
            </a:r>
          </a:p>
        </p:txBody>
      </p:sp>
      <p:sp>
        <p:nvSpPr>
          <p:cNvPr name="TextBox 10" id="10"/>
          <p:cNvSpPr txBox="true"/>
          <p:nvPr/>
        </p:nvSpPr>
        <p:spPr>
          <a:xfrm rot="0">
            <a:off x="-2268417" y="1763563"/>
            <a:ext cx="8953176" cy="2329367"/>
          </a:xfrm>
          <a:prstGeom prst="rect">
            <a:avLst/>
          </a:prstGeom>
        </p:spPr>
        <p:txBody>
          <a:bodyPr anchor="t" rtlCol="false" tIns="0" lIns="0" bIns="0" rIns="0">
            <a:spAutoFit/>
          </a:bodyPr>
          <a:lstStyle/>
          <a:p>
            <a:pPr algn="ctr">
              <a:lnSpc>
                <a:spcPts val="2299"/>
              </a:lnSpc>
            </a:pPr>
            <a:r>
              <a:rPr lang="en-US" sz="1642">
                <a:solidFill>
                  <a:srgbClr val="FFFFFF"/>
                </a:solidFill>
                <a:latin typeface="Droid Arabic Kufi"/>
                <a:ea typeface="Droid Arabic Kufi"/>
                <a:cs typeface="Droid Arabic Kufi"/>
                <a:sym typeface="Droid Arabic Kufi"/>
              </a:rPr>
              <a:t>       The average sleep duration is 7.01 hours.</a:t>
            </a:r>
          </a:p>
          <a:p>
            <a:pPr algn="ctr">
              <a:lnSpc>
                <a:spcPts val="2299"/>
              </a:lnSpc>
            </a:pPr>
            <a:r>
              <a:rPr lang="en-US" sz="1642">
                <a:solidFill>
                  <a:srgbClr val="FFFFFF"/>
                </a:solidFill>
                <a:latin typeface="Droid Arabic Kufi"/>
                <a:ea typeface="Droid Arabic Kufi"/>
                <a:cs typeface="Droid Arabic Kufi"/>
                <a:sym typeface="Droid Arabic Kufi"/>
              </a:rPr>
              <a:t>                          33.41% of participants experience high levels of stress.                      The risk of burnout stands at 7.85%</a:t>
            </a:r>
          </a:p>
          <a:p>
            <a:pPr algn="ctr">
              <a:lnSpc>
                <a:spcPts val="2299"/>
              </a:lnSpc>
            </a:pPr>
            <a:r>
              <a:rPr lang="en-US" sz="1642">
                <a:solidFill>
                  <a:srgbClr val="FFFFFF"/>
                </a:solidFill>
                <a:latin typeface="Droid Arabic Kufi"/>
                <a:ea typeface="Droid Arabic Kufi"/>
                <a:cs typeface="Droid Arabic Kufi"/>
                <a:sym typeface="Droid Arabic Kufi"/>
              </a:rPr>
              <a:t>                    Average social media usage is 3.27 hours per day.</a:t>
            </a:r>
          </a:p>
          <a:p>
            <a:pPr algn="ctr">
              <a:lnSpc>
                <a:spcPts val="2299"/>
              </a:lnSpc>
            </a:pPr>
            <a:r>
              <a:rPr lang="en-US" sz="1642">
                <a:solidFill>
                  <a:srgbClr val="FFFFFF"/>
                </a:solidFill>
                <a:latin typeface="Droid Arabic Kufi"/>
                <a:ea typeface="Droid Arabic Kufi"/>
                <a:cs typeface="Droid Arabic Kufi"/>
                <a:sym typeface="Droid Arabic Kufi"/>
              </a:rPr>
              <a:t>                The majority of patients sleep 8 hours or more.</a:t>
            </a:r>
          </a:p>
          <a:p>
            <a:pPr algn="ctr">
              <a:lnSpc>
                <a:spcPts val="2299"/>
              </a:lnSpc>
            </a:pPr>
            <a:r>
              <a:rPr lang="en-US" sz="1642">
                <a:solidFill>
                  <a:srgbClr val="FFFFFF"/>
                </a:solidFill>
                <a:latin typeface="Droid Arabic Kufi"/>
                <a:ea typeface="Droid Arabic Kufi"/>
                <a:cs typeface="Droid Arabic Kufi"/>
                <a:sym typeface="Droid Arabic Kufi"/>
              </a:rPr>
              <a:t>                        Dietary quality is distributed relatively evenly across   </a:t>
            </a:r>
          </a:p>
          <a:p>
            <a:pPr algn="ctr">
              <a:lnSpc>
                <a:spcPts val="2299"/>
              </a:lnSpc>
            </a:pPr>
            <a:r>
              <a:rPr lang="en-US" sz="1642">
                <a:solidFill>
                  <a:srgbClr val="FFFFFF"/>
                </a:solidFill>
                <a:latin typeface="Droid Arabic Kufi"/>
                <a:ea typeface="Droid Arabic Kufi"/>
                <a:cs typeface="Droid Arabic Kufi"/>
                <a:sym typeface="Droid Arabic Kufi"/>
              </a:rPr>
              <a:t>              healthy,average, and unhealthy categories.</a:t>
            </a:r>
          </a:p>
          <a:p>
            <a:pPr algn="ctr" rtl="true">
              <a:lnSpc>
                <a:spcPts val="2299"/>
              </a:lnSpc>
            </a:pPr>
            <a:r>
              <a:rPr lang="en-US" sz="1642">
                <a:solidFill>
                  <a:srgbClr val="FFFFFF"/>
                </a:solidFill>
                <a:latin typeface="Droid Arabic Kufi"/>
                <a:ea typeface="Droid Arabic Kufi"/>
                <a:cs typeface="Droid Arabic Kufi"/>
                <a:sym typeface="Droid Arabic Kufi"/>
              </a:rPr>
              <a:t>Smoking rates are higher among the 40–59 age group</a:t>
            </a:r>
            <a:r>
              <a:rPr lang="ar-EG" sz="1642">
                <a:solidFill>
                  <a:srgbClr val="FFFFFF"/>
                </a:solidFill>
                <a:latin typeface="Droid Arabic Kufi"/>
                <a:ea typeface="Droid Arabic Kufi"/>
                <a:cs typeface="Droid Arabic Kufi"/>
                <a:sym typeface="Droid Arabic Kufi"/>
                <a:rtl val="true"/>
              </a:rPr>
              <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400">
            <a:off x="-5802220" y="-286322"/>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3" id="3"/>
          <p:cNvSpPr/>
          <p:nvPr/>
        </p:nvSpPr>
        <p:spPr>
          <a:xfrm flipH="false" flipV="false" rot="0">
            <a:off x="8270215" y="-772287"/>
            <a:ext cx="2002917" cy="3857473"/>
          </a:xfrm>
          <a:custGeom>
            <a:avLst/>
            <a:gdLst/>
            <a:ahLst/>
            <a:cxnLst/>
            <a:rect r="r" b="b" t="t" l="l"/>
            <a:pathLst>
              <a:path h="3857473" w="2002917">
                <a:moveTo>
                  <a:pt x="0" y="0"/>
                </a:moveTo>
                <a:lnTo>
                  <a:pt x="2002917" y="0"/>
                </a:lnTo>
                <a:lnTo>
                  <a:pt x="2002917" y="3857473"/>
                </a:lnTo>
                <a:lnTo>
                  <a:pt x="0" y="3857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82523" y="1156449"/>
            <a:ext cx="5958650" cy="1952568"/>
            <a:chOff x="0" y="0"/>
            <a:chExt cx="7944866" cy="2603424"/>
          </a:xfrm>
        </p:grpSpPr>
        <p:sp>
          <p:nvSpPr>
            <p:cNvPr name="Freeform 5" id="5"/>
            <p:cNvSpPr/>
            <p:nvPr/>
          </p:nvSpPr>
          <p:spPr>
            <a:xfrm flipH="false" flipV="false" rot="0">
              <a:off x="0" y="0"/>
              <a:ext cx="7944866" cy="2603373"/>
            </a:xfrm>
            <a:custGeom>
              <a:avLst/>
              <a:gdLst/>
              <a:ahLst/>
              <a:cxnLst/>
              <a:rect r="r" b="b" t="t" l="l"/>
              <a:pathLst>
                <a:path h="2603373" w="7944866">
                  <a:moveTo>
                    <a:pt x="0" y="0"/>
                  </a:moveTo>
                  <a:lnTo>
                    <a:pt x="7944866" y="0"/>
                  </a:lnTo>
                  <a:lnTo>
                    <a:pt x="7944866" y="2603373"/>
                  </a:lnTo>
                  <a:lnTo>
                    <a:pt x="0" y="2603373"/>
                  </a:lnTo>
                  <a:close/>
                </a:path>
              </a:pathLst>
            </a:custGeom>
            <a:blipFill>
              <a:blip r:embed="rId6"/>
              <a:stretch>
                <a:fillRect l="-1465" t="0" r="-1466" b="-1"/>
              </a:stretch>
            </a:blipFill>
          </p:spPr>
        </p:sp>
      </p:grpSp>
      <p:sp>
        <p:nvSpPr>
          <p:cNvPr name="Freeform 6" id="6"/>
          <p:cNvSpPr/>
          <p:nvPr/>
        </p:nvSpPr>
        <p:spPr>
          <a:xfrm flipH="false" flipV="false" rot="0">
            <a:off x="-868870" y="5092284"/>
            <a:ext cx="3932291" cy="4208555"/>
          </a:xfrm>
          <a:custGeom>
            <a:avLst/>
            <a:gdLst/>
            <a:ahLst/>
            <a:cxnLst/>
            <a:rect r="r" b="b" t="t" l="l"/>
            <a:pathLst>
              <a:path h="4208555" w="3932291">
                <a:moveTo>
                  <a:pt x="0" y="0"/>
                </a:moveTo>
                <a:lnTo>
                  <a:pt x="3932291" y="0"/>
                </a:lnTo>
                <a:lnTo>
                  <a:pt x="3932291" y="4208555"/>
                </a:lnTo>
                <a:lnTo>
                  <a:pt x="0" y="42085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325980">
            <a:off x="748332" y="6480372"/>
            <a:ext cx="10707605" cy="3504305"/>
          </a:xfrm>
          <a:custGeom>
            <a:avLst/>
            <a:gdLst/>
            <a:ahLst/>
            <a:cxnLst/>
            <a:rect r="r" b="b" t="t" l="l"/>
            <a:pathLst>
              <a:path h="3504305" w="10707605">
                <a:moveTo>
                  <a:pt x="0" y="0"/>
                </a:moveTo>
                <a:lnTo>
                  <a:pt x="10707605" y="0"/>
                </a:lnTo>
                <a:lnTo>
                  <a:pt x="10707605" y="3504304"/>
                </a:lnTo>
                <a:lnTo>
                  <a:pt x="0" y="3504304"/>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8" id="8"/>
          <p:cNvSpPr/>
          <p:nvPr/>
        </p:nvSpPr>
        <p:spPr>
          <a:xfrm flipH="false" flipV="false" rot="0">
            <a:off x="338900" y="4309920"/>
            <a:ext cx="173907" cy="160630"/>
          </a:xfrm>
          <a:custGeom>
            <a:avLst/>
            <a:gdLst/>
            <a:ahLst/>
            <a:cxnLst/>
            <a:rect r="r" b="b" t="t" l="l"/>
            <a:pathLst>
              <a:path h="160630" w="173907">
                <a:moveTo>
                  <a:pt x="0" y="0"/>
                </a:moveTo>
                <a:lnTo>
                  <a:pt x="173907" y="0"/>
                </a:lnTo>
                <a:lnTo>
                  <a:pt x="173907" y="160629"/>
                </a:lnTo>
                <a:lnTo>
                  <a:pt x="0" y="160629"/>
                </a:lnTo>
                <a:lnTo>
                  <a:pt x="0" y="0"/>
                </a:lnTo>
                <a:close/>
              </a:path>
            </a:pathLst>
          </a:custGeom>
          <a:blipFill>
            <a:blip r:embed="rId9">
              <a:extLst>
                <a:ext uri="{96DAC541-7B7A-43D3-8B79-37D633B846F1}">
                  <asvg:svgBlip xmlns:asvg="http://schemas.microsoft.com/office/drawing/2016/SVG/main" r:embed="rId10"/>
                </a:ext>
              </a:extLst>
            </a:blip>
            <a:stretch>
              <a:fillRect l="-1615" t="0" r="-1610" b="0"/>
            </a:stretch>
          </a:blipFill>
        </p:spPr>
      </p:sp>
      <p:sp>
        <p:nvSpPr>
          <p:cNvPr name="Freeform 9" id="9"/>
          <p:cNvSpPr/>
          <p:nvPr/>
        </p:nvSpPr>
        <p:spPr>
          <a:xfrm flipH="false" flipV="false" rot="0">
            <a:off x="5586279" y="4831604"/>
            <a:ext cx="173907" cy="160630"/>
          </a:xfrm>
          <a:custGeom>
            <a:avLst/>
            <a:gdLst/>
            <a:ahLst/>
            <a:cxnLst/>
            <a:rect r="r" b="b" t="t" l="l"/>
            <a:pathLst>
              <a:path h="160630" w="173907">
                <a:moveTo>
                  <a:pt x="0" y="0"/>
                </a:moveTo>
                <a:lnTo>
                  <a:pt x="173908" y="0"/>
                </a:lnTo>
                <a:lnTo>
                  <a:pt x="173908" y="160629"/>
                </a:lnTo>
                <a:lnTo>
                  <a:pt x="0" y="160629"/>
                </a:lnTo>
                <a:lnTo>
                  <a:pt x="0" y="0"/>
                </a:lnTo>
                <a:close/>
              </a:path>
            </a:pathLst>
          </a:custGeom>
          <a:blipFill>
            <a:blip r:embed="rId9">
              <a:extLst>
                <a:ext uri="{96DAC541-7B7A-43D3-8B79-37D633B846F1}">
                  <asvg:svgBlip xmlns:asvg="http://schemas.microsoft.com/office/drawing/2016/SVG/main" r:embed="rId10"/>
                </a:ext>
              </a:extLst>
            </a:blip>
            <a:stretch>
              <a:fillRect l="-1615" t="0" r="-1610" b="0"/>
            </a:stretch>
          </a:blipFill>
        </p:spPr>
      </p:sp>
      <p:sp>
        <p:nvSpPr>
          <p:cNvPr name="Freeform 10" id="10"/>
          <p:cNvSpPr/>
          <p:nvPr/>
        </p:nvSpPr>
        <p:spPr>
          <a:xfrm flipH="false" flipV="false" rot="0">
            <a:off x="5586279" y="5137452"/>
            <a:ext cx="173907" cy="160630"/>
          </a:xfrm>
          <a:custGeom>
            <a:avLst/>
            <a:gdLst/>
            <a:ahLst/>
            <a:cxnLst/>
            <a:rect r="r" b="b" t="t" l="l"/>
            <a:pathLst>
              <a:path h="160630" w="173907">
                <a:moveTo>
                  <a:pt x="0" y="0"/>
                </a:moveTo>
                <a:lnTo>
                  <a:pt x="173908" y="0"/>
                </a:lnTo>
                <a:lnTo>
                  <a:pt x="173908" y="160629"/>
                </a:lnTo>
                <a:lnTo>
                  <a:pt x="0" y="160629"/>
                </a:lnTo>
                <a:lnTo>
                  <a:pt x="0" y="0"/>
                </a:lnTo>
                <a:close/>
              </a:path>
            </a:pathLst>
          </a:custGeom>
          <a:blipFill>
            <a:blip r:embed="rId9">
              <a:extLst>
                <a:ext uri="{96DAC541-7B7A-43D3-8B79-37D633B846F1}">
                  <asvg:svgBlip xmlns:asvg="http://schemas.microsoft.com/office/drawing/2016/SVG/main" r:embed="rId10"/>
                </a:ext>
              </a:extLst>
            </a:blip>
            <a:stretch>
              <a:fillRect l="-1615" t="0" r="-1610" b="0"/>
            </a:stretch>
          </a:blipFill>
        </p:spPr>
      </p:sp>
      <p:sp>
        <p:nvSpPr>
          <p:cNvPr name="Freeform 11" id="11"/>
          <p:cNvSpPr/>
          <p:nvPr/>
        </p:nvSpPr>
        <p:spPr>
          <a:xfrm flipH="false" flipV="false" rot="0">
            <a:off x="5586279" y="5443309"/>
            <a:ext cx="173907" cy="160630"/>
          </a:xfrm>
          <a:custGeom>
            <a:avLst/>
            <a:gdLst/>
            <a:ahLst/>
            <a:cxnLst/>
            <a:rect r="r" b="b" t="t" l="l"/>
            <a:pathLst>
              <a:path h="160630" w="173907">
                <a:moveTo>
                  <a:pt x="0" y="0"/>
                </a:moveTo>
                <a:lnTo>
                  <a:pt x="173908" y="0"/>
                </a:lnTo>
                <a:lnTo>
                  <a:pt x="173908" y="160629"/>
                </a:lnTo>
                <a:lnTo>
                  <a:pt x="0" y="160629"/>
                </a:lnTo>
                <a:lnTo>
                  <a:pt x="0" y="0"/>
                </a:lnTo>
                <a:close/>
              </a:path>
            </a:pathLst>
          </a:custGeom>
          <a:blipFill>
            <a:blip r:embed="rId9">
              <a:extLst>
                <a:ext uri="{96DAC541-7B7A-43D3-8B79-37D633B846F1}">
                  <asvg:svgBlip xmlns:asvg="http://schemas.microsoft.com/office/drawing/2016/SVG/main" r:embed="rId10"/>
                </a:ext>
              </a:extLst>
            </a:blip>
            <a:stretch>
              <a:fillRect l="-1615" t="0" r="-1610" b="0"/>
            </a:stretch>
          </a:blipFill>
        </p:spPr>
      </p:sp>
      <p:sp>
        <p:nvSpPr>
          <p:cNvPr name="Freeform 12" id="12"/>
          <p:cNvSpPr/>
          <p:nvPr/>
        </p:nvSpPr>
        <p:spPr>
          <a:xfrm flipH="false" flipV="false" rot="0">
            <a:off x="5586279" y="5749157"/>
            <a:ext cx="173907" cy="160630"/>
          </a:xfrm>
          <a:custGeom>
            <a:avLst/>
            <a:gdLst/>
            <a:ahLst/>
            <a:cxnLst/>
            <a:rect r="r" b="b" t="t" l="l"/>
            <a:pathLst>
              <a:path h="160630" w="173907">
                <a:moveTo>
                  <a:pt x="0" y="0"/>
                </a:moveTo>
                <a:lnTo>
                  <a:pt x="173908" y="0"/>
                </a:lnTo>
                <a:lnTo>
                  <a:pt x="173908" y="160629"/>
                </a:lnTo>
                <a:lnTo>
                  <a:pt x="0" y="160629"/>
                </a:lnTo>
                <a:lnTo>
                  <a:pt x="0" y="0"/>
                </a:lnTo>
                <a:close/>
              </a:path>
            </a:pathLst>
          </a:custGeom>
          <a:blipFill>
            <a:blip r:embed="rId9">
              <a:extLst>
                <a:ext uri="{96DAC541-7B7A-43D3-8B79-37D633B846F1}">
                  <asvg:svgBlip xmlns:asvg="http://schemas.microsoft.com/office/drawing/2016/SVG/main" r:embed="rId10"/>
                </a:ext>
              </a:extLst>
            </a:blip>
            <a:stretch>
              <a:fillRect l="-1615" t="0" r="-1610" b="0"/>
            </a:stretch>
          </a:blipFill>
        </p:spPr>
      </p:sp>
      <p:grpSp>
        <p:nvGrpSpPr>
          <p:cNvPr name="Group 13" id="13"/>
          <p:cNvGrpSpPr/>
          <p:nvPr/>
        </p:nvGrpSpPr>
        <p:grpSpPr>
          <a:xfrm rot="0">
            <a:off x="-24908" y="1006916"/>
            <a:ext cx="3970172" cy="3111132"/>
            <a:chOff x="0" y="0"/>
            <a:chExt cx="5293563" cy="4148176"/>
          </a:xfrm>
        </p:grpSpPr>
        <p:sp>
          <p:nvSpPr>
            <p:cNvPr name="Freeform 14" id="14"/>
            <p:cNvSpPr/>
            <p:nvPr/>
          </p:nvSpPr>
          <p:spPr>
            <a:xfrm flipH="false" flipV="false" rot="0">
              <a:off x="0" y="0"/>
              <a:ext cx="5293614" cy="4148201"/>
            </a:xfrm>
            <a:custGeom>
              <a:avLst/>
              <a:gdLst/>
              <a:ahLst/>
              <a:cxnLst/>
              <a:rect r="r" b="b" t="t" l="l"/>
              <a:pathLst>
                <a:path h="4148201" w="5293614">
                  <a:moveTo>
                    <a:pt x="0" y="0"/>
                  </a:moveTo>
                  <a:lnTo>
                    <a:pt x="5293614" y="0"/>
                  </a:lnTo>
                  <a:lnTo>
                    <a:pt x="5293614" y="4148201"/>
                  </a:lnTo>
                  <a:lnTo>
                    <a:pt x="0" y="4148201"/>
                  </a:lnTo>
                  <a:lnTo>
                    <a:pt x="0" y="0"/>
                  </a:lnTo>
                  <a:close/>
                </a:path>
              </a:pathLst>
            </a:custGeom>
            <a:blipFill>
              <a:blip r:embed="rId11"/>
              <a:stretch>
                <a:fillRect l="0" t="0" r="0" b="0"/>
              </a:stretch>
            </a:blipFill>
          </p:spPr>
        </p:sp>
      </p:grpSp>
      <p:sp>
        <p:nvSpPr>
          <p:cNvPr name="TextBox 15" id="15"/>
          <p:cNvSpPr txBox="true"/>
          <p:nvPr/>
        </p:nvSpPr>
        <p:spPr>
          <a:xfrm rot="0">
            <a:off x="1444342" y="322774"/>
            <a:ext cx="6864915" cy="474583"/>
          </a:xfrm>
          <a:prstGeom prst="rect">
            <a:avLst/>
          </a:prstGeom>
        </p:spPr>
        <p:txBody>
          <a:bodyPr anchor="t" rtlCol="false" tIns="0" lIns="0" bIns="0" rIns="0">
            <a:spAutoFit/>
          </a:bodyPr>
          <a:lstStyle/>
          <a:p>
            <a:pPr algn="l">
              <a:lnSpc>
                <a:spcPts val="3980"/>
              </a:lnSpc>
            </a:pPr>
            <a:r>
              <a:rPr lang="en-US" sz="3617" b="true">
                <a:solidFill>
                  <a:srgbClr val="CC78FF"/>
                </a:solidFill>
                <a:latin typeface="Red Hat Display Bold"/>
                <a:ea typeface="Red Hat Display Bold"/>
                <a:cs typeface="Red Hat Display Bold"/>
                <a:sym typeface="Red Hat Display Bold"/>
              </a:rPr>
              <a:t>Lifestyle Details Dashboard</a:t>
            </a:r>
          </a:p>
        </p:txBody>
      </p:sp>
      <p:sp>
        <p:nvSpPr>
          <p:cNvPr name="TextBox 16" id="16"/>
          <p:cNvSpPr txBox="true"/>
          <p:nvPr/>
        </p:nvSpPr>
        <p:spPr>
          <a:xfrm rot="0">
            <a:off x="629012" y="4242911"/>
            <a:ext cx="2276446" cy="313687"/>
          </a:xfrm>
          <a:prstGeom prst="rect">
            <a:avLst/>
          </a:prstGeom>
        </p:spPr>
        <p:txBody>
          <a:bodyPr anchor="t" rtlCol="false" tIns="0" lIns="0" bIns="0" rIns="0">
            <a:spAutoFit/>
          </a:bodyPr>
          <a:lstStyle/>
          <a:p>
            <a:pPr algn="l">
              <a:lnSpc>
                <a:spcPts val="2420"/>
              </a:lnSpc>
            </a:pPr>
            <a:r>
              <a:rPr lang="en-US" sz="2200" b="true">
                <a:solidFill>
                  <a:srgbClr val="FEFEFE"/>
                </a:solidFill>
                <a:latin typeface="Lato Bold"/>
                <a:ea typeface="Lato Bold"/>
                <a:cs typeface="Lato Bold"/>
                <a:sym typeface="Lato Bold"/>
              </a:rPr>
              <a:t>Key Insights</a:t>
            </a:r>
          </a:p>
        </p:txBody>
      </p:sp>
      <p:sp>
        <p:nvSpPr>
          <p:cNvPr name="TextBox 17" id="17"/>
          <p:cNvSpPr txBox="true"/>
          <p:nvPr/>
        </p:nvSpPr>
        <p:spPr>
          <a:xfrm rot="0">
            <a:off x="6102134" y="3676650"/>
            <a:ext cx="2586476" cy="313687"/>
          </a:xfrm>
          <a:prstGeom prst="rect">
            <a:avLst/>
          </a:prstGeom>
        </p:spPr>
        <p:txBody>
          <a:bodyPr anchor="t" rtlCol="false" tIns="0" lIns="0" bIns="0" rIns="0">
            <a:spAutoFit/>
          </a:bodyPr>
          <a:lstStyle/>
          <a:p>
            <a:pPr algn="l">
              <a:lnSpc>
                <a:spcPts val="2420"/>
              </a:lnSpc>
            </a:pPr>
            <a:r>
              <a:rPr lang="en-US" sz="2200" b="true">
                <a:solidFill>
                  <a:srgbClr val="FEFEFE"/>
                </a:solidFill>
                <a:latin typeface="Lato Bold"/>
                <a:ea typeface="Lato Bold"/>
                <a:cs typeface="Lato Bold"/>
                <a:sym typeface="Lato Bold"/>
              </a:rPr>
              <a:t>Conclusion</a:t>
            </a:r>
          </a:p>
        </p:txBody>
      </p:sp>
      <p:sp>
        <p:nvSpPr>
          <p:cNvPr name="TextBox 18" id="18"/>
          <p:cNvSpPr txBox="true"/>
          <p:nvPr/>
        </p:nvSpPr>
        <p:spPr>
          <a:xfrm rot="0">
            <a:off x="137674" y="4685871"/>
            <a:ext cx="5535559" cy="2408349"/>
          </a:xfrm>
          <a:prstGeom prst="rect">
            <a:avLst/>
          </a:prstGeom>
        </p:spPr>
        <p:txBody>
          <a:bodyPr anchor="t" rtlCol="false" tIns="0" lIns="0" bIns="0" rIns="0">
            <a:spAutoFit/>
          </a:bodyPr>
          <a:lstStyle/>
          <a:p>
            <a:pPr algn="l" marL="340682" indent="-113561" lvl="2">
              <a:lnSpc>
                <a:spcPts val="2325"/>
              </a:lnSpc>
              <a:buFont typeface="Arial"/>
              <a:buChar char="⚬"/>
            </a:pPr>
            <a:r>
              <a:rPr lang="en-US" sz="1490">
                <a:solidFill>
                  <a:srgbClr val="FEFEFE"/>
                </a:solidFill>
                <a:latin typeface="Lato"/>
                <a:ea typeface="Lato"/>
                <a:cs typeface="Lato"/>
                <a:sym typeface="Lato"/>
              </a:rPr>
              <a:t>Sleep duration is very similar across genders (around 7 hours).</a:t>
            </a:r>
          </a:p>
          <a:p>
            <a:pPr algn="l" marL="340682" indent="-113561" lvl="2">
              <a:lnSpc>
                <a:spcPts val="2325"/>
              </a:lnSpc>
              <a:buFont typeface="Arial"/>
              <a:buChar char="⚬"/>
            </a:pPr>
            <a:r>
              <a:rPr lang="en-US" sz="1490">
                <a:solidFill>
                  <a:srgbClr val="FEFEFE"/>
                </a:solidFill>
                <a:latin typeface="Lato"/>
                <a:ea typeface="Lato"/>
                <a:cs typeface="Lato"/>
                <a:sym typeface="Lato"/>
              </a:rPr>
              <a:t>Females have slightly higher average work hours than males.</a:t>
            </a:r>
          </a:p>
          <a:p>
            <a:pPr algn="l" marL="340682" indent="-113561" lvl="2">
              <a:lnSpc>
                <a:spcPts val="2325"/>
              </a:lnSpc>
              <a:buFont typeface="Arial"/>
              <a:buChar char="⚬"/>
            </a:pPr>
            <a:r>
              <a:rPr lang="en-US" sz="1490">
                <a:solidFill>
                  <a:srgbClr val="FEFEFE"/>
                </a:solidFill>
                <a:latin typeface="Lato"/>
                <a:ea typeface="Lato"/>
                <a:cs typeface="Lato"/>
                <a:sym typeface="Lato"/>
              </a:rPr>
              <a:t>Mental health conditions are distributed fairly evenly across occupations.</a:t>
            </a:r>
          </a:p>
          <a:p>
            <a:pPr algn="l" marL="340682" indent="-113561" lvl="2">
              <a:lnSpc>
                <a:spcPts val="2325"/>
              </a:lnSpc>
              <a:buFont typeface="Arial"/>
              <a:buChar char="⚬"/>
            </a:pPr>
            <a:r>
              <a:rPr lang="en-US" sz="1490">
                <a:solidFill>
                  <a:srgbClr val="FEFEFE"/>
                </a:solidFill>
                <a:latin typeface="Lato"/>
                <a:ea typeface="Lato"/>
                <a:cs typeface="Lato"/>
                <a:sym typeface="Lato"/>
              </a:rPr>
              <a:t>The 40–59 age group records the highest stress levels.</a:t>
            </a:r>
          </a:p>
          <a:p>
            <a:pPr algn="l" marL="340682" indent="-113561" lvl="2">
              <a:lnSpc>
                <a:spcPts val="2325"/>
              </a:lnSpc>
              <a:buFont typeface="Arial"/>
              <a:buChar char="⚬"/>
            </a:pPr>
            <a:r>
              <a:rPr lang="en-US" sz="1490">
                <a:solidFill>
                  <a:srgbClr val="FEFEFE"/>
                </a:solidFill>
                <a:latin typeface="Lato"/>
                <a:ea typeface="Lato"/>
                <a:cs typeface="Lato"/>
                <a:sym typeface="Lato"/>
              </a:rPr>
              <a:t>Sleep duration remains relatively stable across different age groups</a:t>
            </a:r>
          </a:p>
          <a:p>
            <a:pPr algn="l" marL="340682" indent="-113561" lvl="2">
              <a:lnSpc>
                <a:spcPts val="2325"/>
              </a:lnSpc>
            </a:pPr>
          </a:p>
        </p:txBody>
      </p:sp>
      <p:sp>
        <p:nvSpPr>
          <p:cNvPr name="TextBox 19" id="19"/>
          <p:cNvSpPr txBox="true"/>
          <p:nvPr/>
        </p:nvSpPr>
        <p:spPr>
          <a:xfrm rot="0">
            <a:off x="6302378" y="4175789"/>
            <a:ext cx="3267408" cy="2543270"/>
          </a:xfrm>
          <a:prstGeom prst="rect">
            <a:avLst/>
          </a:prstGeom>
        </p:spPr>
        <p:txBody>
          <a:bodyPr anchor="t" rtlCol="false" tIns="0" lIns="0" bIns="0" rIns="0">
            <a:spAutoFit/>
          </a:bodyPr>
          <a:lstStyle/>
          <a:p>
            <a:pPr algn="l">
              <a:lnSpc>
                <a:spcPts val="3263"/>
              </a:lnSpc>
            </a:pPr>
            <a:r>
              <a:rPr lang="en-US" sz="2092">
                <a:solidFill>
                  <a:srgbClr val="FEFEFE"/>
                </a:solidFill>
                <a:latin typeface="Lato"/>
                <a:ea typeface="Lato"/>
                <a:cs typeface="Lato"/>
                <a:sym typeface="Lato"/>
              </a:rPr>
              <a:t>Age appears to have a stronger relationship with stress than gender, while occupation shows only small differences in mental health distribution.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400">
            <a:off x="-6599215" y="-595703"/>
            <a:ext cx="10707605" cy="3504305"/>
          </a:xfrm>
          <a:custGeom>
            <a:avLst/>
            <a:gdLst/>
            <a:ahLst/>
            <a:cxnLst/>
            <a:rect r="r" b="b" t="t" l="l"/>
            <a:pathLst>
              <a:path h="3504305" w="10707605">
                <a:moveTo>
                  <a:pt x="0" y="0"/>
                </a:moveTo>
                <a:lnTo>
                  <a:pt x="10707605" y="0"/>
                </a:lnTo>
                <a:lnTo>
                  <a:pt x="10707605" y="3504305"/>
                </a:lnTo>
                <a:lnTo>
                  <a:pt x="0" y="3504305"/>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3" id="3"/>
          <p:cNvSpPr/>
          <p:nvPr/>
        </p:nvSpPr>
        <p:spPr>
          <a:xfrm flipH="false" flipV="false" rot="0">
            <a:off x="8473545" y="-1685325"/>
            <a:ext cx="1552318" cy="2989650"/>
          </a:xfrm>
          <a:custGeom>
            <a:avLst/>
            <a:gdLst/>
            <a:ahLst/>
            <a:cxnLst/>
            <a:rect r="r" b="b" t="t" l="l"/>
            <a:pathLst>
              <a:path h="2989650" w="1552318">
                <a:moveTo>
                  <a:pt x="0" y="0"/>
                </a:moveTo>
                <a:lnTo>
                  <a:pt x="1552318" y="0"/>
                </a:lnTo>
                <a:lnTo>
                  <a:pt x="1552318" y="2989650"/>
                </a:lnTo>
                <a:lnTo>
                  <a:pt x="0" y="2989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06660">
            <a:off x="3062468" y="5926236"/>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5" id="5"/>
          <p:cNvSpPr/>
          <p:nvPr/>
        </p:nvSpPr>
        <p:spPr>
          <a:xfrm flipH="false" flipV="false" rot="0">
            <a:off x="-687457" y="5578897"/>
            <a:ext cx="3102264" cy="3320205"/>
          </a:xfrm>
          <a:custGeom>
            <a:avLst/>
            <a:gdLst/>
            <a:ahLst/>
            <a:cxnLst/>
            <a:rect r="r" b="b" t="t" l="l"/>
            <a:pathLst>
              <a:path h="3320205" w="3102264">
                <a:moveTo>
                  <a:pt x="0" y="0"/>
                </a:moveTo>
                <a:lnTo>
                  <a:pt x="3102264" y="0"/>
                </a:lnTo>
                <a:lnTo>
                  <a:pt x="3102264" y="3320206"/>
                </a:lnTo>
                <a:lnTo>
                  <a:pt x="0" y="33202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48502" y="-16774"/>
            <a:ext cx="7306532" cy="1172861"/>
          </a:xfrm>
          <a:custGeom>
            <a:avLst/>
            <a:gdLst/>
            <a:ahLst/>
            <a:cxnLst/>
            <a:rect r="r" b="b" t="t" l="l"/>
            <a:pathLst>
              <a:path h="1172861" w="7306532">
                <a:moveTo>
                  <a:pt x="0" y="0"/>
                </a:moveTo>
                <a:lnTo>
                  <a:pt x="7306532" y="0"/>
                </a:lnTo>
                <a:lnTo>
                  <a:pt x="7306532" y="1172861"/>
                </a:lnTo>
                <a:lnTo>
                  <a:pt x="0" y="11728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6461808" y="3735705"/>
            <a:ext cx="3291792" cy="1913573"/>
            <a:chOff x="0" y="0"/>
            <a:chExt cx="4389056" cy="2551430"/>
          </a:xfrm>
        </p:grpSpPr>
        <p:sp>
          <p:nvSpPr>
            <p:cNvPr name="Freeform 8" id="8"/>
            <p:cNvSpPr/>
            <p:nvPr/>
          </p:nvSpPr>
          <p:spPr>
            <a:xfrm flipH="false" flipV="false" rot="0">
              <a:off x="0" y="0"/>
              <a:ext cx="4388993" cy="2551430"/>
            </a:xfrm>
            <a:custGeom>
              <a:avLst/>
              <a:gdLst/>
              <a:ahLst/>
              <a:cxnLst/>
              <a:rect r="r" b="b" t="t" l="l"/>
              <a:pathLst>
                <a:path h="2551430" w="4388993">
                  <a:moveTo>
                    <a:pt x="0" y="0"/>
                  </a:moveTo>
                  <a:lnTo>
                    <a:pt x="4388993" y="0"/>
                  </a:lnTo>
                  <a:lnTo>
                    <a:pt x="4388993" y="2551430"/>
                  </a:lnTo>
                  <a:lnTo>
                    <a:pt x="0" y="2551430"/>
                  </a:lnTo>
                  <a:lnTo>
                    <a:pt x="0" y="0"/>
                  </a:lnTo>
                  <a:close/>
                </a:path>
              </a:pathLst>
            </a:custGeom>
            <a:blipFill>
              <a:blip r:embed="rId10"/>
              <a:stretch>
                <a:fillRect l="0" t="-23647" r="-1" b="-23647"/>
              </a:stretch>
            </a:blipFill>
          </p:spPr>
        </p:sp>
      </p:grpSp>
      <p:grpSp>
        <p:nvGrpSpPr>
          <p:cNvPr name="Group 9" id="9"/>
          <p:cNvGrpSpPr/>
          <p:nvPr/>
        </p:nvGrpSpPr>
        <p:grpSpPr>
          <a:xfrm rot="0">
            <a:off x="5559571" y="1407004"/>
            <a:ext cx="4008949" cy="2223935"/>
            <a:chOff x="0" y="0"/>
            <a:chExt cx="5345265" cy="2965247"/>
          </a:xfrm>
        </p:grpSpPr>
        <p:sp>
          <p:nvSpPr>
            <p:cNvPr name="Freeform 10" id="10"/>
            <p:cNvSpPr/>
            <p:nvPr/>
          </p:nvSpPr>
          <p:spPr>
            <a:xfrm flipH="false" flipV="false" rot="0">
              <a:off x="0" y="0"/>
              <a:ext cx="5345303" cy="2965196"/>
            </a:xfrm>
            <a:custGeom>
              <a:avLst/>
              <a:gdLst/>
              <a:ahLst/>
              <a:cxnLst/>
              <a:rect r="r" b="b" t="t" l="l"/>
              <a:pathLst>
                <a:path h="2965196" w="5345303">
                  <a:moveTo>
                    <a:pt x="0" y="0"/>
                  </a:moveTo>
                  <a:lnTo>
                    <a:pt x="5345303" y="0"/>
                  </a:lnTo>
                  <a:lnTo>
                    <a:pt x="5345303" y="2965196"/>
                  </a:lnTo>
                  <a:lnTo>
                    <a:pt x="0" y="2965196"/>
                  </a:lnTo>
                  <a:lnTo>
                    <a:pt x="0" y="0"/>
                  </a:lnTo>
                  <a:close/>
                </a:path>
              </a:pathLst>
            </a:custGeom>
            <a:blipFill>
              <a:blip r:embed="rId11"/>
              <a:stretch>
                <a:fillRect l="0" t="-52" r="0" b="-53"/>
              </a:stretch>
            </a:blipFill>
          </p:spPr>
        </p:sp>
      </p:grpSp>
      <p:grpSp>
        <p:nvGrpSpPr>
          <p:cNvPr name="Group 11" id="11"/>
          <p:cNvGrpSpPr/>
          <p:nvPr/>
        </p:nvGrpSpPr>
        <p:grpSpPr>
          <a:xfrm rot="0">
            <a:off x="8030270" y="5701217"/>
            <a:ext cx="1694355" cy="1676581"/>
            <a:chOff x="0" y="0"/>
            <a:chExt cx="2259140" cy="2235441"/>
          </a:xfrm>
        </p:grpSpPr>
        <p:sp>
          <p:nvSpPr>
            <p:cNvPr name="Freeform 12" id="12"/>
            <p:cNvSpPr/>
            <p:nvPr/>
          </p:nvSpPr>
          <p:spPr>
            <a:xfrm flipH="false" flipV="false" rot="0">
              <a:off x="0" y="0"/>
              <a:ext cx="2259076" cy="2235454"/>
            </a:xfrm>
            <a:custGeom>
              <a:avLst/>
              <a:gdLst/>
              <a:ahLst/>
              <a:cxnLst/>
              <a:rect r="r" b="b" t="t" l="l"/>
              <a:pathLst>
                <a:path h="2235454" w="2259076">
                  <a:moveTo>
                    <a:pt x="0" y="0"/>
                  </a:moveTo>
                  <a:lnTo>
                    <a:pt x="2259076" y="0"/>
                  </a:lnTo>
                  <a:lnTo>
                    <a:pt x="2259076" y="2235454"/>
                  </a:lnTo>
                  <a:lnTo>
                    <a:pt x="0" y="2235454"/>
                  </a:lnTo>
                  <a:lnTo>
                    <a:pt x="0" y="0"/>
                  </a:lnTo>
                  <a:close/>
                </a:path>
              </a:pathLst>
            </a:custGeom>
            <a:blipFill>
              <a:blip r:embed="rId12"/>
              <a:stretch>
                <a:fillRect l="0" t="-88" r="-2" b="-88"/>
              </a:stretch>
            </a:blipFill>
          </p:spPr>
        </p:sp>
      </p:grpSp>
      <p:sp>
        <p:nvSpPr>
          <p:cNvPr name="TextBox 13" id="13"/>
          <p:cNvSpPr txBox="true"/>
          <p:nvPr/>
        </p:nvSpPr>
        <p:spPr>
          <a:xfrm rot="0">
            <a:off x="289779" y="469221"/>
            <a:ext cx="5437632" cy="474583"/>
          </a:xfrm>
          <a:prstGeom prst="rect">
            <a:avLst/>
          </a:prstGeom>
        </p:spPr>
        <p:txBody>
          <a:bodyPr anchor="t" rtlCol="false" tIns="0" lIns="0" bIns="0" rIns="0">
            <a:spAutoFit/>
          </a:bodyPr>
          <a:lstStyle/>
          <a:p>
            <a:pPr algn="l">
              <a:lnSpc>
                <a:spcPts val="3980"/>
              </a:lnSpc>
            </a:pPr>
            <a:r>
              <a:rPr lang="en-US" sz="3617" b="true">
                <a:solidFill>
                  <a:srgbClr val="CC78FF"/>
                </a:solidFill>
                <a:latin typeface="Red Hat Display Bold"/>
                <a:ea typeface="Red Hat Display Bold"/>
                <a:cs typeface="Red Hat Display Bold"/>
                <a:sym typeface="Red Hat Display Bold"/>
              </a:rPr>
              <a:t>Health Status Dashboard</a:t>
            </a:r>
          </a:p>
        </p:txBody>
      </p:sp>
      <p:sp>
        <p:nvSpPr>
          <p:cNvPr name="TextBox 14" id="14"/>
          <p:cNvSpPr txBox="true"/>
          <p:nvPr/>
        </p:nvSpPr>
        <p:spPr>
          <a:xfrm rot="0">
            <a:off x="66742" y="2011870"/>
            <a:ext cx="2348065" cy="628012"/>
          </a:xfrm>
          <a:prstGeom prst="rect">
            <a:avLst/>
          </a:prstGeom>
        </p:spPr>
        <p:txBody>
          <a:bodyPr anchor="t" rtlCol="false" tIns="0" lIns="0" bIns="0" rIns="0">
            <a:spAutoFit/>
          </a:bodyPr>
          <a:lstStyle/>
          <a:p>
            <a:pPr algn="ctr" rtl="true">
              <a:lnSpc>
                <a:spcPts val="4759"/>
              </a:lnSpc>
            </a:pPr>
            <a:r>
              <a:rPr lang="en-US" b="true" sz="3399">
                <a:solidFill>
                  <a:srgbClr val="CC78FF"/>
                </a:solidFill>
                <a:latin typeface="XM Vahid Bold"/>
                <a:ea typeface="XM Vahid Bold"/>
                <a:cs typeface="XM Vahid Bold"/>
                <a:sym typeface="XM Vahid Bold"/>
              </a:rPr>
              <a:t>Key Insights</a:t>
            </a:r>
          </a:p>
        </p:txBody>
      </p:sp>
      <p:sp>
        <p:nvSpPr>
          <p:cNvPr name="TextBox 15" id="15"/>
          <p:cNvSpPr txBox="true"/>
          <p:nvPr/>
        </p:nvSpPr>
        <p:spPr>
          <a:xfrm rot="0">
            <a:off x="-206150" y="2608583"/>
            <a:ext cx="5439223" cy="4706617"/>
          </a:xfrm>
          <a:prstGeom prst="rect">
            <a:avLst/>
          </a:prstGeom>
        </p:spPr>
        <p:txBody>
          <a:bodyPr anchor="t" rtlCol="false" tIns="0" lIns="0" bIns="0" rIns="0">
            <a:spAutoFit/>
          </a:bodyPr>
          <a:lstStyle/>
          <a:p>
            <a:pPr algn="ctr" rtl="true" marL="502798" indent="-167599" lvl="2">
              <a:lnSpc>
                <a:spcPts val="3078"/>
              </a:lnSpc>
              <a:buFont typeface="Arial"/>
              <a:buChar char="⚬"/>
            </a:pPr>
            <a:r>
              <a:rPr lang="en-US" sz="2199">
                <a:solidFill>
                  <a:srgbClr val="CC78FF"/>
                </a:solidFill>
                <a:latin typeface="Droid Arabic Kufi"/>
                <a:ea typeface="Droid Arabic Kufi"/>
                <a:cs typeface="Droid Arabic Kufi"/>
                <a:sym typeface="Droid Arabic Kufi"/>
              </a:rPr>
              <a:t>Most patients fall into the "None" severity category</a:t>
            </a:r>
            <a:r>
              <a:rPr lang="ar-EG" sz="2199">
                <a:solidFill>
                  <a:srgbClr val="CC78FF"/>
                </a:solidFill>
                <a:latin typeface="Droid Arabic Kufi"/>
                <a:ea typeface="Droid Arabic Kufi"/>
                <a:cs typeface="Droid Arabic Kufi"/>
                <a:sym typeface="Droid Arabic Kufi"/>
                <a:rtl val="true"/>
              </a:rPr>
              <a:t>.</a:t>
            </a:r>
          </a:p>
          <a:p>
            <a:pPr algn="ctr" rtl="true" marL="502798" indent="-167599" lvl="2">
              <a:lnSpc>
                <a:spcPts val="3078"/>
              </a:lnSpc>
              <a:buFont typeface="Arial"/>
              <a:buChar char="⚬"/>
            </a:pPr>
            <a:r>
              <a:rPr lang="en-US" sz="2199">
                <a:solidFill>
                  <a:srgbClr val="CC78FF"/>
                </a:solidFill>
                <a:latin typeface="Droid Arabic Kufi"/>
                <a:ea typeface="Droid Arabic Kufi"/>
                <a:cs typeface="Droid Arabic Kufi"/>
                <a:sym typeface="Droid Arabic Kufi"/>
              </a:rPr>
              <a:t>Medication usage remains close to 50% across all severity levels</a:t>
            </a:r>
            <a:r>
              <a:rPr lang="ar-EG" sz="2199">
                <a:solidFill>
                  <a:srgbClr val="CC78FF"/>
                </a:solidFill>
                <a:latin typeface="Droid Arabic Kufi"/>
                <a:ea typeface="Droid Arabic Kufi"/>
                <a:cs typeface="Droid Arabic Kufi"/>
                <a:sym typeface="Droid Arabic Kufi"/>
                <a:rtl val="true"/>
              </a:rPr>
              <a:t>.</a:t>
            </a:r>
          </a:p>
          <a:p>
            <a:pPr algn="ctr" rtl="true" marL="502798" indent="-167599" lvl="2">
              <a:lnSpc>
                <a:spcPts val="3078"/>
              </a:lnSpc>
              <a:buFont typeface="Arial"/>
              <a:buChar char="⚬"/>
            </a:pPr>
            <a:r>
              <a:rPr lang="en-US" sz="2199">
                <a:solidFill>
                  <a:srgbClr val="CC78FF"/>
                </a:solidFill>
                <a:latin typeface="Droid Arabic Kufi"/>
                <a:ea typeface="Droid Arabic Kufi"/>
                <a:cs typeface="Droid Arabic Kufi"/>
                <a:sym typeface="Droid Arabic Kufi"/>
              </a:rPr>
              <a:t>Nearly 25,000 patients required mental health consultations</a:t>
            </a:r>
            <a:r>
              <a:rPr lang="ar-EG" sz="2199">
                <a:solidFill>
                  <a:srgbClr val="CC78FF"/>
                </a:solidFill>
                <a:latin typeface="Droid Arabic Kufi"/>
                <a:ea typeface="Droid Arabic Kufi"/>
                <a:cs typeface="Droid Arabic Kufi"/>
                <a:sym typeface="Droid Arabic Kufi"/>
                <a:rtl val="true"/>
              </a:rPr>
              <a:t>.</a:t>
            </a:r>
          </a:p>
          <a:p>
            <a:pPr algn="ctr" rtl="true" marL="502798" indent="-167599" lvl="2">
              <a:lnSpc>
                <a:spcPts val="3078"/>
              </a:lnSpc>
              <a:buFont typeface="Arial"/>
              <a:buChar char="⚬"/>
            </a:pPr>
            <a:r>
              <a:rPr lang="en-US" sz="2199">
                <a:solidFill>
                  <a:srgbClr val="CC78FF"/>
                </a:solidFill>
                <a:latin typeface="Droid Arabic Kufi"/>
                <a:ea typeface="Droid Arabic Kufi"/>
                <a:cs typeface="Droid Arabic Kufi"/>
                <a:sym typeface="Droid Arabic Kufi"/>
              </a:rPr>
              <a:t>Approximately half of the participants reported poor mental health conditions</a:t>
            </a:r>
            <a:r>
              <a:rPr lang="ar-EG" sz="2199">
                <a:solidFill>
                  <a:srgbClr val="CC78FF"/>
                </a:solidFill>
                <a:latin typeface="Droid Arabic Kufi"/>
                <a:ea typeface="Droid Arabic Kufi"/>
                <a:cs typeface="Droid Arabic Kufi"/>
                <a:sym typeface="Droid Arabic Kufi"/>
                <a:rtl val="true"/>
              </a:rPr>
              <a:t>.</a:t>
            </a:r>
          </a:p>
          <a:p>
            <a:pPr algn="ctr" rtl="true" marL="502798" indent="-167599" lvl="2">
              <a:lnSpc>
                <a:spcPts val="3078"/>
              </a:lnSpc>
              <a:buFont typeface="Arial"/>
              <a:buChar char="⚬"/>
            </a:pPr>
            <a:r>
              <a:rPr lang="en-US" sz="2199">
                <a:solidFill>
                  <a:srgbClr val="CC78FF"/>
                </a:solidFill>
                <a:latin typeface="Droid Arabic Kufi"/>
                <a:ea typeface="Droid Arabic Kufi"/>
                <a:cs typeface="Droid Arabic Kufi"/>
                <a:sym typeface="Droid Arabic Kufi"/>
              </a:rPr>
              <a:t>Smoking habits are represented across all severity categories</a:t>
            </a:r>
          </a:p>
          <a:p>
            <a:pPr algn="ctr" rtl="true" marL="502798" indent="-167599" lvl="2">
              <a:lnSpc>
                <a:spcPts val="307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400">
            <a:off x="-7030603" y="-469849"/>
            <a:ext cx="10707605" cy="3504305"/>
          </a:xfrm>
          <a:custGeom>
            <a:avLst/>
            <a:gdLst/>
            <a:ahLst/>
            <a:cxnLst/>
            <a:rect r="r" b="b" t="t" l="l"/>
            <a:pathLst>
              <a:path h="3504305" w="10707605">
                <a:moveTo>
                  <a:pt x="0" y="0"/>
                </a:moveTo>
                <a:lnTo>
                  <a:pt x="10707605" y="0"/>
                </a:lnTo>
                <a:lnTo>
                  <a:pt x="10707605" y="3504304"/>
                </a:lnTo>
                <a:lnTo>
                  <a:pt x="0" y="3504304"/>
                </a:lnTo>
                <a:lnTo>
                  <a:pt x="0" y="0"/>
                </a:lnTo>
                <a:close/>
              </a:path>
            </a:pathLst>
          </a:custGeom>
          <a:blipFill>
            <a:blip r:embed="rId2">
              <a:extLst>
                <a:ext uri="{96DAC541-7B7A-43D3-8B79-37D633B846F1}">
                  <asvg:svgBlip xmlns:asvg="http://schemas.microsoft.com/office/drawing/2016/SVG/main" r:embed="rId3"/>
                </a:ext>
              </a:extLst>
            </a:blip>
            <a:stretch>
              <a:fillRect l="0" t="-246" r="0" b="-247"/>
            </a:stretch>
          </a:blipFill>
        </p:spPr>
      </p:sp>
      <p:sp>
        <p:nvSpPr>
          <p:cNvPr name="Freeform 3" id="3"/>
          <p:cNvSpPr/>
          <p:nvPr/>
        </p:nvSpPr>
        <p:spPr>
          <a:xfrm flipH="false" flipV="false" rot="-8514900">
            <a:off x="6011780" y="-533438"/>
            <a:ext cx="8488118" cy="2777928"/>
          </a:xfrm>
          <a:custGeom>
            <a:avLst/>
            <a:gdLst/>
            <a:ahLst/>
            <a:cxnLst/>
            <a:rect r="r" b="b" t="t" l="l"/>
            <a:pathLst>
              <a:path h="2777928" w="8488118">
                <a:moveTo>
                  <a:pt x="0" y="0"/>
                </a:moveTo>
                <a:lnTo>
                  <a:pt x="8488118" y="0"/>
                </a:lnTo>
                <a:lnTo>
                  <a:pt x="8488118" y="2777928"/>
                </a:lnTo>
                <a:lnTo>
                  <a:pt x="0" y="2777928"/>
                </a:lnTo>
                <a:lnTo>
                  <a:pt x="0" y="0"/>
                </a:lnTo>
                <a:close/>
              </a:path>
            </a:pathLst>
          </a:custGeom>
          <a:blipFill>
            <a:blip r:embed="rId2">
              <a:extLst>
                <a:ext uri="{96DAC541-7B7A-43D3-8B79-37D633B846F1}">
                  <asvg:svgBlip xmlns:asvg="http://schemas.microsoft.com/office/drawing/2016/SVG/main" r:embed="rId3"/>
                </a:ext>
              </a:extLst>
            </a:blip>
            <a:stretch>
              <a:fillRect l="0" t="-183" r="0" b="-183"/>
            </a:stretch>
          </a:blipFill>
        </p:spPr>
      </p:sp>
      <p:sp>
        <p:nvSpPr>
          <p:cNvPr name="Freeform 4" id="4"/>
          <p:cNvSpPr/>
          <p:nvPr/>
        </p:nvSpPr>
        <p:spPr>
          <a:xfrm flipH="false" flipV="false" rot="0">
            <a:off x="-226990" y="6024782"/>
            <a:ext cx="1097023" cy="2112778"/>
          </a:xfrm>
          <a:custGeom>
            <a:avLst/>
            <a:gdLst/>
            <a:ahLst/>
            <a:cxnLst/>
            <a:rect r="r" b="b" t="t" l="l"/>
            <a:pathLst>
              <a:path h="2112778" w="1097023">
                <a:moveTo>
                  <a:pt x="0" y="0"/>
                </a:moveTo>
                <a:lnTo>
                  <a:pt x="1097023" y="0"/>
                </a:lnTo>
                <a:lnTo>
                  <a:pt x="1097023" y="2112778"/>
                </a:lnTo>
                <a:lnTo>
                  <a:pt x="0" y="211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862755" y="6024782"/>
            <a:ext cx="1167355" cy="2248233"/>
          </a:xfrm>
          <a:custGeom>
            <a:avLst/>
            <a:gdLst/>
            <a:ahLst/>
            <a:cxnLst/>
            <a:rect r="r" b="b" t="t" l="l"/>
            <a:pathLst>
              <a:path h="2248233" w="1167355">
                <a:moveTo>
                  <a:pt x="0" y="0"/>
                </a:moveTo>
                <a:lnTo>
                  <a:pt x="1167356" y="0"/>
                </a:lnTo>
                <a:lnTo>
                  <a:pt x="1167356" y="2248233"/>
                </a:lnTo>
                <a:lnTo>
                  <a:pt x="0" y="22482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49018" y="2262959"/>
            <a:ext cx="9134713" cy="3509324"/>
          </a:xfrm>
          <a:custGeom>
            <a:avLst/>
            <a:gdLst/>
            <a:ahLst/>
            <a:cxnLst/>
            <a:rect r="r" b="b" t="t" l="l"/>
            <a:pathLst>
              <a:path h="3509324" w="9134713">
                <a:moveTo>
                  <a:pt x="0" y="0"/>
                </a:moveTo>
                <a:lnTo>
                  <a:pt x="9134713" y="0"/>
                </a:lnTo>
                <a:lnTo>
                  <a:pt x="9134713" y="3509324"/>
                </a:lnTo>
                <a:lnTo>
                  <a:pt x="0" y="35093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626421" y="1358503"/>
            <a:ext cx="4929892" cy="474583"/>
          </a:xfrm>
          <a:prstGeom prst="rect">
            <a:avLst/>
          </a:prstGeom>
        </p:spPr>
        <p:txBody>
          <a:bodyPr anchor="t" rtlCol="false" tIns="0" lIns="0" bIns="0" rIns="0">
            <a:spAutoFit/>
          </a:bodyPr>
          <a:lstStyle/>
          <a:p>
            <a:pPr algn="l">
              <a:lnSpc>
                <a:spcPts val="3980"/>
              </a:lnSpc>
            </a:pPr>
            <a:r>
              <a:rPr lang="en-US" sz="3617" b="true">
                <a:solidFill>
                  <a:srgbClr val="CC78FF"/>
                </a:solidFill>
                <a:latin typeface="Red Hat Display Bold"/>
                <a:ea typeface="Red Hat Display Bold"/>
                <a:cs typeface="Red Hat Display Bold"/>
                <a:sym typeface="Red Hat Display Bold"/>
              </a:rPr>
              <a:t>Conclusion</a:t>
            </a:r>
          </a:p>
        </p:txBody>
      </p:sp>
      <p:sp>
        <p:nvSpPr>
          <p:cNvPr name="TextBox 8" id="8"/>
          <p:cNvSpPr txBox="true"/>
          <p:nvPr/>
        </p:nvSpPr>
        <p:spPr>
          <a:xfrm rot="0">
            <a:off x="455847" y="2566635"/>
            <a:ext cx="9016470" cy="3198819"/>
          </a:xfrm>
          <a:prstGeom prst="rect">
            <a:avLst/>
          </a:prstGeom>
        </p:spPr>
        <p:txBody>
          <a:bodyPr anchor="t" rtlCol="false" tIns="0" lIns="0" bIns="0" rIns="0">
            <a:spAutoFit/>
          </a:bodyPr>
          <a:lstStyle/>
          <a:p>
            <a:pPr algn="ctr" rtl="true">
              <a:lnSpc>
                <a:spcPts val="2281"/>
              </a:lnSpc>
            </a:pPr>
            <a:r>
              <a:rPr lang="en-US" sz="1630">
                <a:solidFill>
                  <a:srgbClr val="CC78FF"/>
                </a:solidFill>
                <a:latin typeface="Droid Arabic Kufi"/>
                <a:ea typeface="Droid Arabic Kufi"/>
                <a:cs typeface="Droid Arabic Kufi"/>
                <a:sym typeface="Droid Arabic Kufi"/>
              </a:rPr>
              <a:t>Through analyzing the Mental Health dataset, we found that mental health is influenced by multiple demographic, lifestyle, and health-related factors. The analysis showed that middle-aged individuals (40–59 years) experience the highest stress levels, while sleep duration remains relatively consistent across different age groups and genders. Lifestyle habits such as smoking, diet quality, and social media usage appear to be associated with stress and mental well-being. Although most participants were classified as having no severe mental health condition, consultation and medication usage remained significant, highlighting the importance of early detection and continuous mental health support. Overall, the dashboard provides clear insights that can help healthcare professionals and decision-makers better understand mental health patterns and support data-driven decisions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338168" y="2351303"/>
            <a:ext cx="7565755" cy="736597"/>
          </a:xfrm>
          <a:prstGeom prst="rect">
            <a:avLst/>
          </a:prstGeom>
        </p:spPr>
        <p:txBody>
          <a:bodyPr anchor="t" rtlCol="false" tIns="0" lIns="0" bIns="0" rIns="0">
            <a:spAutoFit/>
          </a:bodyPr>
          <a:lstStyle/>
          <a:p>
            <a:pPr algn="l">
              <a:lnSpc>
                <a:spcPts val="6500"/>
              </a:lnSpc>
            </a:pPr>
            <a:r>
              <a:rPr lang="en-US" sz="6500" b="true">
                <a:solidFill>
                  <a:srgbClr val="CC78FF"/>
                </a:solidFill>
                <a:latin typeface="Red Hat Display Bold"/>
                <a:ea typeface="Red Hat Display Bold"/>
                <a:cs typeface="Red Hat Display Bold"/>
                <a:sym typeface="Red Hat Display Bold"/>
              </a:rPr>
              <a:t>THANK YOU!</a:t>
            </a:r>
          </a:p>
        </p:txBody>
      </p:sp>
      <p:sp>
        <p:nvSpPr>
          <p:cNvPr name="Freeform 3" id="3"/>
          <p:cNvSpPr/>
          <p:nvPr/>
        </p:nvSpPr>
        <p:spPr>
          <a:xfrm flipH="false" flipV="false" rot="0">
            <a:off x="7783439" y="6215186"/>
            <a:ext cx="3434772" cy="1783442"/>
          </a:xfrm>
          <a:custGeom>
            <a:avLst/>
            <a:gdLst/>
            <a:ahLst/>
            <a:cxnLst/>
            <a:rect r="r" b="b" t="t" l="l"/>
            <a:pathLst>
              <a:path h="1783442" w="3434772">
                <a:moveTo>
                  <a:pt x="0" y="0"/>
                </a:moveTo>
                <a:lnTo>
                  <a:pt x="3434773" y="0"/>
                </a:lnTo>
                <a:lnTo>
                  <a:pt x="3434773" y="1783442"/>
                </a:lnTo>
                <a:lnTo>
                  <a:pt x="0" y="178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135076" y="-1316736"/>
            <a:ext cx="4155843" cy="2157841"/>
          </a:xfrm>
          <a:custGeom>
            <a:avLst/>
            <a:gdLst/>
            <a:ahLst/>
            <a:cxnLst/>
            <a:rect r="r" b="b" t="t" l="l"/>
            <a:pathLst>
              <a:path h="2157841" w="4155843">
                <a:moveTo>
                  <a:pt x="0" y="0"/>
                </a:moveTo>
                <a:lnTo>
                  <a:pt x="4155843" y="0"/>
                </a:lnTo>
                <a:lnTo>
                  <a:pt x="4155843" y="2157841"/>
                </a:lnTo>
                <a:lnTo>
                  <a:pt x="0" y="2157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476180">
            <a:off x="-3255245" y="5952268"/>
            <a:ext cx="6227312" cy="2038036"/>
          </a:xfrm>
          <a:custGeom>
            <a:avLst/>
            <a:gdLst/>
            <a:ahLst/>
            <a:cxnLst/>
            <a:rect r="r" b="b" t="t" l="l"/>
            <a:pathLst>
              <a:path h="2038036" w="6227312">
                <a:moveTo>
                  <a:pt x="0" y="0"/>
                </a:moveTo>
                <a:lnTo>
                  <a:pt x="6227312" y="0"/>
                </a:lnTo>
                <a:lnTo>
                  <a:pt x="6227312" y="2038035"/>
                </a:lnTo>
                <a:lnTo>
                  <a:pt x="0" y="2038035"/>
                </a:lnTo>
                <a:lnTo>
                  <a:pt x="0" y="0"/>
                </a:lnTo>
                <a:close/>
              </a:path>
            </a:pathLst>
          </a:custGeom>
          <a:blipFill>
            <a:blip r:embed="rId6">
              <a:extLst>
                <a:ext uri="{96DAC541-7B7A-43D3-8B79-37D633B846F1}">
                  <asvg:svgBlip xmlns:asvg="http://schemas.microsoft.com/office/drawing/2016/SVG/main" r:embed="rId7"/>
                </a:ext>
              </a:extLst>
            </a:blip>
            <a:stretch>
              <a:fillRect l="0" t="-225" r="0" b="-224"/>
            </a:stretch>
          </a:blipFill>
        </p:spPr>
      </p:sp>
      <p:sp>
        <p:nvSpPr>
          <p:cNvPr name="Freeform 6" id="6"/>
          <p:cNvSpPr/>
          <p:nvPr/>
        </p:nvSpPr>
        <p:spPr>
          <a:xfrm flipH="false" flipV="false" rot="1476180">
            <a:off x="5908424" y="-1138161"/>
            <a:ext cx="6227312" cy="2038036"/>
          </a:xfrm>
          <a:custGeom>
            <a:avLst/>
            <a:gdLst/>
            <a:ahLst/>
            <a:cxnLst/>
            <a:rect r="r" b="b" t="t" l="l"/>
            <a:pathLst>
              <a:path h="2038036" w="6227312">
                <a:moveTo>
                  <a:pt x="0" y="0"/>
                </a:moveTo>
                <a:lnTo>
                  <a:pt x="6227312" y="0"/>
                </a:lnTo>
                <a:lnTo>
                  <a:pt x="6227312" y="2038035"/>
                </a:lnTo>
                <a:lnTo>
                  <a:pt x="0" y="2038035"/>
                </a:lnTo>
                <a:lnTo>
                  <a:pt x="0" y="0"/>
                </a:lnTo>
                <a:close/>
              </a:path>
            </a:pathLst>
          </a:custGeom>
          <a:blipFill>
            <a:blip r:embed="rId6">
              <a:extLst>
                <a:ext uri="{96DAC541-7B7A-43D3-8B79-37D633B846F1}">
                  <asvg:svgBlip xmlns:asvg="http://schemas.microsoft.com/office/drawing/2016/SVG/main" r:embed="rId7"/>
                </a:ext>
              </a:extLst>
            </a:blip>
            <a:stretch>
              <a:fillRect l="0" t="-225" r="0" b="-22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DAHO1pRChRo</dc:identifier>
  <dcterms:modified xsi:type="dcterms:W3CDTF">2011-08-01T06:04:30Z</dcterms:modified>
  <cp:revision>1</cp:revision>
  <dc:title>DOC-20260709-WA0000.pptx</dc:title>
</cp:coreProperties>
</file>